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548640"/>
            <a:ext cx="1463040" cy="1463040"/>
          </a:xfrm>
          <a:prstGeom prst="ellipse">
            <a:avLst/>
          </a:prstGeom>
          <a:solidFill>
            <a:srgbClr val="112A4E"/>
          </a:solidFill>
          <a:ln/>
        </p:spPr>
      </p:sp>
      <p:sp>
        <p:nvSpPr>
          <p:cNvPr id="3" name="Shape 1"/>
          <p:cNvSpPr/>
          <p:nvPr/>
        </p:nvSpPr>
        <p:spPr>
          <a:xfrm>
            <a:off x="11064240" y="5120640"/>
            <a:ext cx="2011680" cy="2011680"/>
          </a:xfrm>
          <a:prstGeom prst="ellipse">
            <a:avLst/>
          </a:prstGeom>
          <a:solidFill>
            <a:srgbClr val="112A4E"/>
          </a:solidFill>
          <a:ln/>
        </p:spPr>
      </p:sp>
      <p:sp>
        <p:nvSpPr>
          <p:cNvPr id="4" name="Shape 2"/>
          <p:cNvSpPr/>
          <p:nvPr/>
        </p:nvSpPr>
        <p:spPr>
          <a:xfrm>
            <a:off x="-548640" y="4846320"/>
            <a:ext cx="1645920" cy="1645920"/>
          </a:xfrm>
          <a:prstGeom prst="ellipse">
            <a:avLst/>
          </a:prstGeom>
          <a:solidFill>
            <a:srgbClr val="112A4E"/>
          </a:solidFill>
          <a:ln/>
        </p:spPr>
      </p:sp>
      <p:sp>
        <p:nvSpPr>
          <p:cNvPr id="5" name="Shape 3"/>
          <p:cNvSpPr/>
          <p:nvPr/>
        </p:nvSpPr>
        <p:spPr>
          <a:xfrm>
            <a:off x="548640" y="502920"/>
            <a:ext cx="2286000" cy="384048"/>
          </a:xfrm>
          <a:prstGeom prst="roundRect">
            <a:avLst>
              <a:gd name="adj" fmla="val 50000"/>
            </a:avLst>
          </a:prstGeom>
          <a:solidFill>
            <a:srgbClr val="0E7C7B"/>
          </a:solidFill>
          <a:ln/>
        </p:spPr>
      </p:sp>
      <p:sp>
        <p:nvSpPr>
          <p:cNvPr id="6" name="Text 4"/>
          <p:cNvSpPr txBox="1"/>
          <p:nvPr/>
        </p:nvSpPr>
        <p:spPr>
          <a:xfrm>
            <a:off x="548640" y="502920"/>
            <a:ext cx="2286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ARTIKEL 1</a:t>
            </a:r>
            <a:endParaRPr lang="en-US" sz="1200" dirty="0"/>
          </a:p>
        </p:txBody>
      </p:sp>
      <p:sp>
        <p:nvSpPr>
          <p:cNvPr id="7" name="Text 5"/>
          <p:cNvSpPr txBox="1"/>
          <p:nvPr/>
        </p:nvSpPr>
        <p:spPr>
          <a:xfrm>
            <a:off x="548640" y="1188720"/>
            <a:ext cx="9692640" cy="210312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XAgents: A Unified Framework for Multi-Agent Cooperation via IF-THEN Rules and Multipolar Task Processing Graph</a:t>
            </a:r>
            <a:endParaRPr lang="en-US" sz="3400" dirty="0"/>
          </a:p>
        </p:txBody>
      </p:sp>
      <p:sp>
        <p:nvSpPr>
          <p:cNvPr id="8" name="Shape 6"/>
          <p:cNvSpPr/>
          <p:nvPr/>
        </p:nvSpPr>
        <p:spPr>
          <a:xfrm>
            <a:off x="576072" y="3429000"/>
            <a:ext cx="2011680" cy="0"/>
          </a:xfrm>
          <a:prstGeom prst="line">
            <a:avLst/>
          </a:prstGeom>
          <a:noFill/>
          <a:ln w="31750">
            <a:solidFill>
              <a:srgbClr val="3DDC97"/>
            </a:solidFill>
            <a:prstDash val="solid"/>
          </a:ln>
        </p:spPr>
      </p:sp>
      <p:sp>
        <p:nvSpPr>
          <p:cNvPr id="9" name="Text 7"/>
          <p:cNvSpPr txBox="1"/>
          <p:nvPr/>
        </p:nvSpPr>
        <p:spPr>
          <a:xfrm>
            <a:off x="548640" y="3657600"/>
            <a:ext cx="8686800" cy="2011680"/>
          </a:xfrm>
          <a:prstGeom prst="rect">
            <a:avLst/>
          </a:prstGeom>
          <a:noFill/>
          <a:ln/>
        </p:spPr>
        <p:txBody>
          <a:bodyPr wrap="square" lIns="0" tIns="0" rIns="0" bIns="0" rtlCol="0" anchor="t"/>
          <a:lstStyle/>
          <a:p>
            <a:pPr indent="0" marL="0">
              <a:buNone/>
            </a:pPr>
            <a:r>
              <a:rPr lang="en-US" sz="1300" b="1" dirty="0">
                <a:solidFill>
                  <a:srgbClr val="3DDC97"/>
                </a:solidFill>
                <a:latin typeface="Calibri" pitchFamily="34" charset="0"/>
                <a:ea typeface="Calibri" pitchFamily="34" charset="-122"/>
                <a:cs typeface="Calibri" pitchFamily="34" charset="-120"/>
              </a:rPr>
              <a:t>Nama Jurnal / Conference
</a:t>
            </a:r>
            <a:endParaRPr lang="en-US" sz="1300" dirty="0"/>
          </a:p>
          <a:p>
            <a:pPr indent="0" marL="0">
              <a:buNone/>
            </a:pPr>
            <a:r>
              <a:rPr lang="en-US" sz="1500" dirty="0">
                <a:solidFill>
                  <a:srgbClr val="FFFFFF"/>
                </a:solidFill>
                <a:latin typeface="Calibri" pitchFamily="34" charset="0"/>
                <a:ea typeface="Calibri" pitchFamily="34" charset="-122"/>
                <a:cs typeface="Calibri" pitchFamily="34" charset="-120"/>
              </a:rPr>
              <a:t>AAAI Conference on Artificial Intelligence (AAAI) 2026 — preprint tersedia di arXiv (cs.AI / cs.MA)
</a:t>
            </a:r>
            <a:endParaRPr lang="en-US" sz="1300" dirty="0"/>
          </a:p>
          <a:p>
            <a:pPr indent="0" marL="0">
              <a:buNone/>
            </a:pPr>
            <a:r>
              <a:rPr lang="en-US" sz="1300" b="1" dirty="0">
                <a:solidFill>
                  <a:srgbClr val="3DDC97"/>
                </a:solidFill>
                <a:latin typeface="Calibri" pitchFamily="34" charset="0"/>
                <a:ea typeface="Calibri" pitchFamily="34" charset="-122"/>
                <a:cs typeface="Calibri" pitchFamily="34" charset="-120"/>
              </a:rPr>
              <a:t>Link / DOI Artikel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https://arxiv.org/abs/2509.10054</a:t>
            </a:r>
            <a:endParaRPr lang="en-US" sz="1300" dirty="0"/>
          </a:p>
        </p:txBody>
      </p:sp>
      <p:sp>
        <p:nvSpPr>
          <p:cNvPr id="10" name="Shape 8"/>
          <p:cNvSpPr/>
          <p:nvPr/>
        </p:nvSpPr>
        <p:spPr>
          <a:xfrm>
            <a:off x="548640" y="6172200"/>
            <a:ext cx="2834640" cy="384048"/>
          </a:xfrm>
          <a:prstGeom prst="roundRect">
            <a:avLst>
              <a:gd name="adj" fmla="val 50000"/>
            </a:avLst>
          </a:prstGeom>
          <a:solidFill>
            <a:srgbClr val="FFFFFF">
              <a:alpha val="12000"/>
            </a:srgbClr>
          </a:solidFill>
          <a:ln w="12700">
            <a:solidFill>
              <a:srgbClr val="3DDC97"/>
            </a:solidFill>
            <a:prstDash val="solid"/>
          </a:ln>
        </p:spPr>
      </p:sp>
      <p:sp>
        <p:nvSpPr>
          <p:cNvPr id="11" name="Text 9"/>
          <p:cNvSpPr txBox="1"/>
          <p:nvPr/>
        </p:nvSpPr>
        <p:spPr>
          <a:xfrm>
            <a:off x="548640" y="6172200"/>
            <a:ext cx="2834640" cy="384048"/>
          </a:xfrm>
          <a:prstGeom prst="rect">
            <a:avLst/>
          </a:prstGeom>
          <a:noFill/>
          <a:ln/>
        </p:spPr>
        <p:txBody>
          <a:bodyPr wrap="square" lIns="0" tIns="0" rIns="0" bIns="0" rtlCol="0" anchor="ctr"/>
          <a:lstStyle/>
          <a:p>
            <a:pPr algn="ctr" indent="0" marL="0">
              <a:buNone/>
            </a:pPr>
            <a:r>
              <a:rPr lang="en-US" sz="1100" b="1" dirty="0">
                <a:solidFill>
                  <a:srgbClr val="3DDC97"/>
                </a:solidFill>
                <a:latin typeface="Calibri" pitchFamily="34" charset="0"/>
                <a:ea typeface="Calibri" pitchFamily="34" charset="-122"/>
                <a:cs typeface="Calibri" pitchFamily="34" charset="-120"/>
              </a:rPr>
              <a:t>Subject: Intelligent Agents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E7C7B"/>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143000" y="484632"/>
            <a:ext cx="548640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ARTIKEL 1 — RINGKASAN</a:t>
            </a:r>
            <a:endParaRPr lang="en-US" sz="1200" dirty="0"/>
          </a:p>
        </p:txBody>
      </p:sp>
      <p:sp>
        <p:nvSpPr>
          <p:cNvPr id="5" name="Text 3"/>
          <p:cNvSpPr txBox="1"/>
          <p:nvPr/>
        </p:nvSpPr>
        <p:spPr>
          <a:xfrm>
            <a:off x="1143000" y="731520"/>
            <a:ext cx="10332720" cy="548640"/>
          </a:xfrm>
          <a:prstGeom prst="rect">
            <a:avLst/>
          </a:prstGeom>
          <a:noFill/>
          <a:ln/>
        </p:spPr>
        <p:txBody>
          <a:bodyPr wrap="square" lIns="0" tIns="0" rIns="0" bIns="0" rtlCol="0" anchor="ctr"/>
          <a:lstStyle/>
          <a:p>
            <a:pPr indent="0" marL="0">
              <a:buNone/>
            </a:pPr>
            <a:r>
              <a:rPr lang="en-US" sz="2600" b="1" dirty="0">
                <a:solidFill>
                  <a:srgbClr val="0B1F3A"/>
                </a:solidFill>
                <a:latin typeface="Cambria" pitchFamily="34" charset="0"/>
                <a:ea typeface="Cambria" pitchFamily="34" charset="-122"/>
                <a:cs typeface="Cambria" pitchFamily="34" charset="-120"/>
              </a:rPr>
              <a:t>Tujuan &amp; Ringkasan Metode</a:t>
            </a:r>
            <a:endParaRPr lang="en-US" sz="2600" dirty="0"/>
          </a:p>
        </p:txBody>
      </p:sp>
      <p:sp>
        <p:nvSpPr>
          <p:cNvPr id="6" name="Shape 4"/>
          <p:cNvSpPr/>
          <p:nvPr/>
        </p:nvSpPr>
        <p:spPr>
          <a:xfrm>
            <a:off x="548640" y="1417320"/>
            <a:ext cx="11064240" cy="0"/>
          </a:xfrm>
          <a:prstGeom prst="line">
            <a:avLst/>
          </a:prstGeom>
          <a:noFill/>
          <a:ln w="12700">
            <a:solidFill>
              <a:srgbClr val="DCE3EA"/>
            </a:solidFill>
            <a:prstDash val="solid"/>
          </a:ln>
        </p:spPr>
      </p:sp>
      <p:sp>
        <p:nvSpPr>
          <p:cNvPr id="7" name="Shape 5"/>
          <p:cNvSpPr/>
          <p:nvPr/>
        </p:nvSpPr>
        <p:spPr>
          <a:xfrm>
            <a:off x="548640" y="1691640"/>
            <a:ext cx="5349240" cy="4617720"/>
          </a:xfrm>
          <a:prstGeom prst="roundRect">
            <a:avLst>
              <a:gd name="adj" fmla="val 1980"/>
            </a:avLst>
          </a:prstGeom>
          <a:solidFill>
            <a:srgbClr val="FFFFFF"/>
          </a:solidFill>
          <a:ln w="12700">
            <a:solidFill>
              <a:srgbClr val="E3E9EF"/>
            </a:solidFill>
            <a:prstDash val="solid"/>
          </a:ln>
          <a:effectLst>
            <a:outerShdw sx="100000" sy="100000" kx="0" ky="0" algn="bl" rotWithShape="0" blurRad="101600" dist="38100" dir="5400000">
              <a:srgbClr val="9AA7B4">
                <a:alpha val="25000"/>
              </a:srgbClr>
            </a:outerShdw>
          </a:effectLst>
        </p:spPr>
      </p:sp>
      <p:sp>
        <p:nvSpPr>
          <p:cNvPr id="8" name="Shape 6"/>
          <p:cNvSpPr/>
          <p:nvPr/>
        </p:nvSpPr>
        <p:spPr>
          <a:xfrm>
            <a:off x="804672" y="1947672"/>
            <a:ext cx="502920" cy="91440"/>
          </a:xfrm>
          <a:prstGeom prst="roundRect">
            <a:avLst>
              <a:gd name="adj" fmla="val 50000"/>
            </a:avLst>
          </a:prstGeom>
          <a:solidFill>
            <a:srgbClr val="3DDC97"/>
          </a:solidFill>
          <a:ln/>
        </p:spPr>
      </p:sp>
      <p:sp>
        <p:nvSpPr>
          <p:cNvPr id="9" name="Text 7"/>
          <p:cNvSpPr txBox="1"/>
          <p:nvPr/>
        </p:nvSpPr>
        <p:spPr>
          <a:xfrm>
            <a:off x="804672" y="2103120"/>
            <a:ext cx="4837176"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Tujuan Penelitian</a:t>
            </a:r>
            <a:endParaRPr lang="en-US" sz="1500" dirty="0"/>
          </a:p>
        </p:txBody>
      </p:sp>
      <p:sp>
        <p:nvSpPr>
          <p:cNvPr id="10" name="Text 8"/>
          <p:cNvSpPr txBox="1"/>
          <p:nvPr/>
        </p:nvSpPr>
        <p:spPr>
          <a:xfrm>
            <a:off x="804672" y="2514600"/>
            <a:ext cx="4837176" cy="3566160"/>
          </a:xfrm>
          <a:prstGeom prst="rect">
            <a:avLst/>
          </a:prstGeom>
          <a:noFill/>
          <a:ln/>
        </p:spPr>
        <p:txBody>
          <a:bodyPr wrap="square" lIns="0" tIns="0" rIns="0" bIns="0" rtlCol="0" anchor="t"/>
          <a:lstStyle/>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Mengatasi dua tantangan utama pada Multi-Agent System (MAS) berbasis Large Language Model (LLM): (1) kesulitan perencanaan tugas yang kompleks dan tidak pasti (uncertain task planning), dan (2) halusinasi LLM yang menghasilkan output menyesatkan. Diusulkan framework XAgents yang memadukan struktur graph tugas terinspirasi neuron multipolar dengan mekanisme keputusan berbasis aturan IF-THEN.</a:t>
            </a:r>
            <a:endParaRPr lang="en-US" sz="1250" dirty="0"/>
          </a:p>
        </p:txBody>
      </p:sp>
      <p:sp>
        <p:nvSpPr>
          <p:cNvPr id="11" name="Shape 9"/>
          <p:cNvSpPr/>
          <p:nvPr/>
        </p:nvSpPr>
        <p:spPr>
          <a:xfrm>
            <a:off x="6080760" y="1691640"/>
            <a:ext cx="5440680" cy="4617720"/>
          </a:xfrm>
          <a:prstGeom prst="roundRect">
            <a:avLst>
              <a:gd name="adj" fmla="val 1980"/>
            </a:avLst>
          </a:prstGeom>
          <a:solidFill>
            <a:srgbClr val="FFFFFF"/>
          </a:solidFill>
          <a:ln w="12700">
            <a:solidFill>
              <a:srgbClr val="E3E9EF"/>
            </a:solidFill>
            <a:prstDash val="solid"/>
          </a:ln>
          <a:effectLst>
            <a:outerShdw sx="100000" sy="100000" kx="0" ky="0" algn="bl" rotWithShape="0" blurRad="101600" dist="38100" dir="5400000">
              <a:srgbClr val="9AA7B4">
                <a:alpha val="25000"/>
              </a:srgbClr>
            </a:outerShdw>
          </a:effectLst>
        </p:spPr>
      </p:sp>
      <p:sp>
        <p:nvSpPr>
          <p:cNvPr id="12" name="Shape 10"/>
          <p:cNvSpPr/>
          <p:nvPr/>
        </p:nvSpPr>
        <p:spPr>
          <a:xfrm>
            <a:off x="6336792" y="1947672"/>
            <a:ext cx="502920" cy="91440"/>
          </a:xfrm>
          <a:prstGeom prst="roundRect">
            <a:avLst>
              <a:gd name="adj" fmla="val 50000"/>
            </a:avLst>
          </a:prstGeom>
          <a:solidFill>
            <a:srgbClr val="0E7C7B"/>
          </a:solidFill>
          <a:ln/>
        </p:spPr>
      </p:sp>
      <p:sp>
        <p:nvSpPr>
          <p:cNvPr id="13" name="Text 11"/>
          <p:cNvSpPr txBox="1"/>
          <p:nvPr/>
        </p:nvSpPr>
        <p:spPr>
          <a:xfrm>
            <a:off x="6336792" y="2103120"/>
            <a:ext cx="4928616"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Ringkasan Metode</a:t>
            </a:r>
            <a:endParaRPr lang="en-US" sz="1500" dirty="0"/>
          </a:p>
        </p:txBody>
      </p:sp>
      <p:sp>
        <p:nvSpPr>
          <p:cNvPr id="14" name="Text 12"/>
          <p:cNvSpPr txBox="1"/>
          <p:nvPr/>
        </p:nvSpPr>
        <p:spPr>
          <a:xfrm>
            <a:off x="6336792" y="2514600"/>
            <a:ext cx="4928616" cy="3566160"/>
          </a:xfrm>
          <a:prstGeom prst="rect">
            <a:avLst/>
          </a:prstGeom>
          <a:noFill/>
          <a:ln/>
        </p:spPr>
        <p:txBody>
          <a:bodyPr wrap="square" lIns="0" tIns="0" rIns="0" bIns="0" rtlCol="0" anchor="t"/>
          <a:lstStyle/>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 Multipolar Task Processing Graph (MTPG): graph asiklik terarah terinspirasi struktur SIMO/MISO neuron otak untuk mendekomposisi tugas menjadi subtugas lalu menggabungkan hasilnya.</a:t>
            </a:r>
            <a:endParaRPr lang="en-US" sz="1250" dirty="0"/>
          </a:p>
          <a:p>
            <a:pPr indent="0" marL="0">
              <a:lnSpc>
                <a:spcPct val="115000"/>
              </a:lnSpc>
              <a:buNone/>
            </a:pPr>
            <a:endParaRPr lang="en-US" sz="1250" dirty="0"/>
          </a:p>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 IF-THEN Rule-based Decision Mechanism (ITRDM): setiap subtugas ditangani oleh aturan domain yang dibangkitkan otomatis (Domain Analyst Agent), dieksekusi Domain Expert Agents, digabung Fusion Expert Agent, dan dikontrol aturan global agar selaras dengan tujuan akhir, dengan kemampuan rekonstruksi jalur tugas otomatis.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E7C7B"/>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143000" y="484632"/>
            <a:ext cx="548640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ARTIKEL 1 — RINGKASAN</a:t>
            </a:r>
            <a:endParaRPr lang="en-US" sz="1200" dirty="0"/>
          </a:p>
        </p:txBody>
      </p:sp>
      <p:sp>
        <p:nvSpPr>
          <p:cNvPr id="5" name="Text 3"/>
          <p:cNvSpPr txBox="1"/>
          <p:nvPr/>
        </p:nvSpPr>
        <p:spPr>
          <a:xfrm>
            <a:off x="1143000" y="731520"/>
            <a:ext cx="10332720" cy="548640"/>
          </a:xfrm>
          <a:prstGeom prst="rect">
            <a:avLst/>
          </a:prstGeom>
          <a:noFill/>
          <a:ln/>
        </p:spPr>
        <p:txBody>
          <a:bodyPr wrap="square" lIns="0" tIns="0" rIns="0" bIns="0" rtlCol="0" anchor="ctr"/>
          <a:lstStyle/>
          <a:p>
            <a:pPr indent="0" marL="0">
              <a:buNone/>
            </a:pPr>
            <a:r>
              <a:rPr lang="en-US" sz="2600" b="1" dirty="0">
                <a:solidFill>
                  <a:srgbClr val="0B1F3A"/>
                </a:solidFill>
                <a:latin typeface="Cambria" pitchFamily="34" charset="0"/>
                <a:ea typeface="Cambria" pitchFamily="34" charset="-122"/>
                <a:cs typeface="Cambria" pitchFamily="34" charset="-120"/>
              </a:rPr>
              <a:t>Ringkasan Hasil</a:t>
            </a:r>
            <a:endParaRPr lang="en-US" sz="2600" dirty="0"/>
          </a:p>
        </p:txBody>
      </p:sp>
      <p:sp>
        <p:nvSpPr>
          <p:cNvPr id="6" name="Shape 4"/>
          <p:cNvSpPr/>
          <p:nvPr/>
        </p:nvSpPr>
        <p:spPr>
          <a:xfrm>
            <a:off x="548640" y="1417320"/>
            <a:ext cx="11064240" cy="0"/>
          </a:xfrm>
          <a:prstGeom prst="line">
            <a:avLst/>
          </a:prstGeom>
          <a:noFill/>
          <a:ln w="12700">
            <a:solidFill>
              <a:srgbClr val="DCE3EA"/>
            </a:solidFill>
            <a:prstDash val="solid"/>
          </a:ln>
        </p:spPr>
      </p:sp>
      <p:sp>
        <p:nvSpPr>
          <p:cNvPr id="7" name="Shape 5"/>
          <p:cNvSpPr/>
          <p:nvPr/>
        </p:nvSpPr>
        <p:spPr>
          <a:xfrm>
            <a:off x="548640" y="1783080"/>
            <a:ext cx="11064240" cy="1051560"/>
          </a:xfrm>
          <a:prstGeom prst="roundRect">
            <a:avLst>
              <a:gd name="adj" fmla="val 7826"/>
            </a:avLst>
          </a:prstGeom>
          <a:solidFill>
            <a:srgbClr val="FFFFFF"/>
          </a:solidFill>
          <a:ln w="12700">
            <a:solidFill>
              <a:srgbClr val="E3E9EF"/>
            </a:solidFill>
            <a:prstDash val="solid"/>
          </a:ln>
        </p:spPr>
      </p:sp>
      <p:sp>
        <p:nvSpPr>
          <p:cNvPr id="8" name="Shape 6"/>
          <p:cNvSpPr/>
          <p:nvPr/>
        </p:nvSpPr>
        <p:spPr>
          <a:xfrm>
            <a:off x="777240" y="2144268"/>
            <a:ext cx="329184" cy="329184"/>
          </a:xfrm>
          <a:prstGeom prst="ellipse">
            <a:avLst/>
          </a:prstGeom>
          <a:solidFill>
            <a:srgbClr val="0E7C7B"/>
          </a:solidFill>
          <a:ln/>
        </p:spPr>
      </p:sp>
      <p:sp>
        <p:nvSpPr>
          <p:cNvPr id="9" name="Text 7"/>
          <p:cNvSpPr txBox="1"/>
          <p:nvPr/>
        </p:nvSpPr>
        <p:spPr>
          <a:xfrm>
            <a:off x="777240" y="21442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80160" y="185623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Diuji pada 3 dataset tanya-jawab (TCW berbasis pengetahuan, LGP berbasis logika, CC campuran) menggunakan GPT-4; XAgents konsisten mengungguli seluruh baseline single-agent (Standard, CoT, Self-Refine) maupun multi-agent (SPP, AutoAgents, TDAG, AgentNet).</a:t>
            </a:r>
            <a:endParaRPr lang="en-US" sz="1300" dirty="0"/>
          </a:p>
        </p:txBody>
      </p:sp>
      <p:sp>
        <p:nvSpPr>
          <p:cNvPr id="11" name="Shape 9"/>
          <p:cNvSpPr/>
          <p:nvPr/>
        </p:nvSpPr>
        <p:spPr>
          <a:xfrm>
            <a:off x="548640" y="2971800"/>
            <a:ext cx="11064240" cy="1051560"/>
          </a:xfrm>
          <a:prstGeom prst="roundRect">
            <a:avLst>
              <a:gd name="adj" fmla="val 7826"/>
            </a:avLst>
          </a:prstGeom>
          <a:solidFill>
            <a:srgbClr val="FFFFFF"/>
          </a:solidFill>
          <a:ln w="12700">
            <a:solidFill>
              <a:srgbClr val="E3E9EF"/>
            </a:solidFill>
            <a:prstDash val="solid"/>
          </a:ln>
        </p:spPr>
      </p:sp>
      <p:sp>
        <p:nvSpPr>
          <p:cNvPr id="12" name="Shape 10"/>
          <p:cNvSpPr/>
          <p:nvPr/>
        </p:nvSpPr>
        <p:spPr>
          <a:xfrm>
            <a:off x="777240" y="3332988"/>
            <a:ext cx="329184" cy="329184"/>
          </a:xfrm>
          <a:prstGeom prst="ellipse">
            <a:avLst/>
          </a:prstGeom>
          <a:solidFill>
            <a:srgbClr val="3DDC97"/>
          </a:solidFill>
          <a:ln/>
        </p:spPr>
      </p:sp>
      <p:sp>
        <p:nvSpPr>
          <p:cNvPr id="13" name="Text 11"/>
          <p:cNvSpPr txBox="1"/>
          <p:nvPr/>
        </p:nvSpPr>
        <p:spPr>
          <a:xfrm>
            <a:off x="777240" y="33329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280160" y="304495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Skor tertinggi dicapai pada dataset logika LGP (75.0) dan pengetahuan TCW10 (88.1), menunjukkan keunggulan pada tugas yang menggabungkan pengetahuan dan penalaran logis sekaligus.</a:t>
            </a:r>
            <a:endParaRPr lang="en-US" sz="1300" dirty="0"/>
          </a:p>
        </p:txBody>
      </p:sp>
      <p:sp>
        <p:nvSpPr>
          <p:cNvPr id="15" name="Shape 13"/>
          <p:cNvSpPr/>
          <p:nvPr/>
        </p:nvSpPr>
        <p:spPr>
          <a:xfrm>
            <a:off x="548640" y="4160520"/>
            <a:ext cx="11064240" cy="1051560"/>
          </a:xfrm>
          <a:prstGeom prst="roundRect">
            <a:avLst>
              <a:gd name="adj" fmla="val 7826"/>
            </a:avLst>
          </a:prstGeom>
          <a:solidFill>
            <a:srgbClr val="FFFFFF"/>
          </a:solidFill>
          <a:ln w="12700">
            <a:solidFill>
              <a:srgbClr val="E3E9EF"/>
            </a:solidFill>
            <a:prstDash val="solid"/>
          </a:ln>
        </p:spPr>
      </p:sp>
      <p:sp>
        <p:nvSpPr>
          <p:cNvPr id="16" name="Shape 14"/>
          <p:cNvSpPr/>
          <p:nvPr/>
        </p:nvSpPr>
        <p:spPr>
          <a:xfrm>
            <a:off x="777240" y="4521708"/>
            <a:ext cx="329184" cy="329184"/>
          </a:xfrm>
          <a:prstGeom prst="ellipse">
            <a:avLst/>
          </a:prstGeom>
          <a:solidFill>
            <a:srgbClr val="0E7C7B"/>
          </a:solidFill>
          <a:ln/>
        </p:spPr>
      </p:sp>
      <p:sp>
        <p:nvSpPr>
          <p:cNvPr id="17" name="Text 15"/>
          <p:cNvSpPr txBox="1"/>
          <p:nvPr/>
        </p:nvSpPr>
        <p:spPr>
          <a:xfrm>
            <a:off x="777240" y="45217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80160" y="423367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Studi ablasi membuktikan kedua komponen inti penting: menghapus ITRDM menurunkan performa 11%, menghapus MTPG menurunkan performa 16%.</a:t>
            </a:r>
            <a:endParaRPr lang="en-US" sz="1300" dirty="0"/>
          </a:p>
        </p:txBody>
      </p:sp>
      <p:sp>
        <p:nvSpPr>
          <p:cNvPr id="19" name="Shape 17"/>
          <p:cNvSpPr/>
          <p:nvPr/>
        </p:nvSpPr>
        <p:spPr>
          <a:xfrm>
            <a:off x="548640" y="5349240"/>
            <a:ext cx="11064240" cy="1051560"/>
          </a:xfrm>
          <a:prstGeom prst="roundRect">
            <a:avLst>
              <a:gd name="adj" fmla="val 7826"/>
            </a:avLst>
          </a:prstGeom>
          <a:solidFill>
            <a:srgbClr val="FFFFFF"/>
          </a:solidFill>
          <a:ln w="12700">
            <a:solidFill>
              <a:srgbClr val="E3E9EF"/>
            </a:solidFill>
            <a:prstDash val="solid"/>
          </a:ln>
        </p:spPr>
      </p:sp>
      <p:sp>
        <p:nvSpPr>
          <p:cNvPr id="20" name="Shape 18"/>
          <p:cNvSpPr/>
          <p:nvPr/>
        </p:nvSpPr>
        <p:spPr>
          <a:xfrm>
            <a:off x="777240" y="5710428"/>
            <a:ext cx="329184" cy="329184"/>
          </a:xfrm>
          <a:prstGeom prst="ellipse">
            <a:avLst/>
          </a:prstGeom>
          <a:solidFill>
            <a:srgbClr val="3DDC97"/>
          </a:solidFill>
          <a:ln/>
        </p:spPr>
      </p:sp>
      <p:sp>
        <p:nvSpPr>
          <p:cNvPr id="21" name="Text 19"/>
          <p:cNvSpPr txBox="1"/>
          <p:nvPr/>
        </p:nvSpPr>
        <p:spPr>
          <a:xfrm>
            <a:off x="777240" y="57104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80160" y="542239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Dari sisi efisiensi komputasi, XAgents menghemat penggunaan memori 44.5% dan konsumsi token 28.8% dibanding metode pembanding terbaik (AgentNet).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E7C7B"/>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143000" y="484632"/>
            <a:ext cx="548640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ARTIKEL 1 — ANALISIS</a:t>
            </a:r>
            <a:endParaRPr lang="en-US" sz="1200" dirty="0"/>
          </a:p>
        </p:txBody>
      </p:sp>
      <p:sp>
        <p:nvSpPr>
          <p:cNvPr id="5" name="Text 3"/>
          <p:cNvSpPr txBox="1"/>
          <p:nvPr/>
        </p:nvSpPr>
        <p:spPr>
          <a:xfrm>
            <a:off x="1143000" y="731520"/>
            <a:ext cx="10332720" cy="548640"/>
          </a:xfrm>
          <a:prstGeom prst="rect">
            <a:avLst/>
          </a:prstGeom>
          <a:noFill/>
          <a:ln/>
        </p:spPr>
        <p:txBody>
          <a:bodyPr wrap="square" lIns="0" tIns="0" rIns="0" bIns="0" rtlCol="0" anchor="ctr"/>
          <a:lstStyle/>
          <a:p>
            <a:pPr indent="0" marL="0">
              <a:buNone/>
            </a:pPr>
            <a:r>
              <a:rPr lang="en-US" sz="2600" b="1" dirty="0">
                <a:solidFill>
                  <a:srgbClr val="0B1F3A"/>
                </a:solidFill>
                <a:latin typeface="Cambria" pitchFamily="34" charset="0"/>
                <a:ea typeface="Cambria" pitchFamily="34" charset="-122"/>
                <a:cs typeface="Cambria" pitchFamily="34" charset="-120"/>
              </a:rPr>
              <a:t>Tipe Rekayasa Pengetahuan</a:t>
            </a:r>
            <a:endParaRPr lang="en-US" sz="2600" dirty="0"/>
          </a:p>
        </p:txBody>
      </p:sp>
      <p:sp>
        <p:nvSpPr>
          <p:cNvPr id="6" name="Shape 4"/>
          <p:cNvSpPr/>
          <p:nvPr/>
        </p:nvSpPr>
        <p:spPr>
          <a:xfrm>
            <a:off x="548640" y="1417320"/>
            <a:ext cx="11064240" cy="0"/>
          </a:xfrm>
          <a:prstGeom prst="line">
            <a:avLst/>
          </a:prstGeom>
          <a:noFill/>
          <a:ln w="12700">
            <a:solidFill>
              <a:srgbClr val="DCE3EA"/>
            </a:solidFill>
            <a:prstDash val="solid"/>
          </a:ln>
        </p:spPr>
      </p:sp>
      <p:sp>
        <p:nvSpPr>
          <p:cNvPr id="7" name="Shape 5"/>
          <p:cNvSpPr/>
          <p:nvPr/>
        </p:nvSpPr>
        <p:spPr>
          <a:xfrm>
            <a:off x="548640" y="1737360"/>
            <a:ext cx="4206240" cy="4572000"/>
          </a:xfrm>
          <a:prstGeom prst="roundRect">
            <a:avLst>
              <a:gd name="adj" fmla="val 2609"/>
            </a:avLst>
          </a:prstGeom>
          <a:solidFill>
            <a:srgbClr val="0B1F3A"/>
          </a:solidFill>
          <a:ln/>
        </p:spPr>
      </p:sp>
      <p:sp>
        <p:nvSpPr>
          <p:cNvPr id="8" name="Text 6"/>
          <p:cNvSpPr txBox="1"/>
          <p:nvPr/>
        </p:nvSpPr>
        <p:spPr>
          <a:xfrm>
            <a:off x="822960" y="2057400"/>
            <a:ext cx="3657600" cy="32004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TIPE</a:t>
            </a:r>
            <a:endParaRPr lang="en-US" sz="1300" dirty="0"/>
          </a:p>
        </p:txBody>
      </p:sp>
      <p:sp>
        <p:nvSpPr>
          <p:cNvPr id="9" name="Text 7"/>
          <p:cNvSpPr txBox="1"/>
          <p:nvPr/>
        </p:nvSpPr>
        <p:spPr>
          <a:xfrm>
            <a:off x="822960" y="2423160"/>
            <a:ext cx="3657600" cy="1737360"/>
          </a:xfrm>
          <a:prstGeom prst="rect">
            <a:avLst/>
          </a:prstGeom>
          <a:noFill/>
          <a:ln/>
        </p:spPr>
        <p:txBody>
          <a:bodyPr wrap="square" lIns="0" tIns="0" rIns="0" bIns="0" rtlCol="0" anchor="t"/>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Rule-Based</a:t>
            </a:r>
            <a:endParaRPr lang="en-US" sz="2400" dirty="0"/>
          </a:p>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Knowledge Engineering</a:t>
            </a:r>
            <a:endParaRPr lang="en-US" sz="2400" dirty="0"/>
          </a:p>
        </p:txBody>
      </p:sp>
      <p:sp>
        <p:nvSpPr>
          <p:cNvPr id="10" name="Shape 8"/>
          <p:cNvSpPr/>
          <p:nvPr/>
        </p:nvSpPr>
        <p:spPr>
          <a:xfrm>
            <a:off x="822960" y="4297680"/>
            <a:ext cx="3383280" cy="0"/>
          </a:xfrm>
          <a:prstGeom prst="line">
            <a:avLst/>
          </a:prstGeom>
          <a:noFill/>
          <a:ln w="19050">
            <a:solidFill>
              <a:srgbClr val="0E7C7B"/>
            </a:solidFill>
            <a:prstDash val="solid"/>
          </a:ln>
        </p:spPr>
      </p:sp>
      <p:sp>
        <p:nvSpPr>
          <p:cNvPr id="11" name="Shape 9"/>
          <p:cNvSpPr/>
          <p:nvPr/>
        </p:nvSpPr>
        <p:spPr>
          <a:xfrm>
            <a:off x="822960" y="4526280"/>
            <a:ext cx="128016" cy="128016"/>
          </a:xfrm>
          <a:prstGeom prst="ellipse">
            <a:avLst/>
          </a:prstGeom>
          <a:solidFill>
            <a:srgbClr val="3DDC97"/>
          </a:solidFill>
          <a:ln/>
        </p:spPr>
      </p:sp>
      <p:sp>
        <p:nvSpPr>
          <p:cNvPr id="12" name="Text 10"/>
          <p:cNvSpPr txBox="1"/>
          <p:nvPr/>
        </p:nvSpPr>
        <p:spPr>
          <a:xfrm>
            <a:off x="1097280" y="4434840"/>
            <a:ext cx="3383280" cy="411480"/>
          </a:xfrm>
          <a:prstGeom prst="rect">
            <a:avLst/>
          </a:prstGeom>
          <a:noFill/>
          <a:ln/>
        </p:spPr>
        <p:txBody>
          <a:bodyPr wrap="square" lIns="0" tIns="0" rIns="0" bIns="0" rtlCol="0" anchor="t"/>
          <a:lstStyle/>
          <a:p>
            <a:pPr indent="0" marL="0">
              <a:buNone/>
            </a:pPr>
            <a:r>
              <a:rPr lang="en-US" sz="1150" dirty="0">
                <a:solidFill>
                  <a:srgbClr val="D8E2EC"/>
                </a:solidFill>
                <a:latin typeface="Calibri" pitchFamily="34" charset="0"/>
                <a:ea typeface="Calibri" pitchFamily="34" charset="-122"/>
                <a:cs typeface="Calibri" pitchFamily="34" charset="-120"/>
              </a:rPr>
              <a:t>Pengetahuan berupa aturan IF–THEN eksplisit</a:t>
            </a:r>
            <a:endParaRPr lang="en-US" sz="1150" dirty="0"/>
          </a:p>
        </p:txBody>
      </p:sp>
      <p:sp>
        <p:nvSpPr>
          <p:cNvPr id="13" name="Shape 11"/>
          <p:cNvSpPr/>
          <p:nvPr/>
        </p:nvSpPr>
        <p:spPr>
          <a:xfrm>
            <a:off x="822960" y="4983480"/>
            <a:ext cx="128016" cy="128016"/>
          </a:xfrm>
          <a:prstGeom prst="ellipse">
            <a:avLst/>
          </a:prstGeom>
          <a:solidFill>
            <a:srgbClr val="3DDC97"/>
          </a:solidFill>
          <a:ln/>
        </p:spPr>
      </p:sp>
      <p:sp>
        <p:nvSpPr>
          <p:cNvPr id="14" name="Text 12"/>
          <p:cNvSpPr txBox="1"/>
          <p:nvPr/>
        </p:nvSpPr>
        <p:spPr>
          <a:xfrm>
            <a:off x="1097280" y="4892040"/>
            <a:ext cx="3383280" cy="411480"/>
          </a:xfrm>
          <a:prstGeom prst="rect">
            <a:avLst/>
          </a:prstGeom>
          <a:noFill/>
          <a:ln/>
        </p:spPr>
        <p:txBody>
          <a:bodyPr wrap="square" lIns="0" tIns="0" rIns="0" bIns="0" rtlCol="0" anchor="t"/>
          <a:lstStyle/>
          <a:p>
            <a:pPr indent="0" marL="0">
              <a:buNone/>
            </a:pPr>
            <a:r>
              <a:rPr lang="en-US" sz="1150" dirty="0">
                <a:solidFill>
                  <a:srgbClr val="D8E2EC"/>
                </a:solidFill>
                <a:latin typeface="Calibri" pitchFamily="34" charset="0"/>
                <a:ea typeface="Calibri" pitchFamily="34" charset="-122"/>
                <a:cs typeface="Calibri" pitchFamily="34" charset="-120"/>
              </a:rPr>
              <a:t>Penalaran lewat eksekusi aturan &amp; derajat keanggotaan</a:t>
            </a:r>
            <a:endParaRPr lang="en-US" sz="1150" dirty="0"/>
          </a:p>
        </p:txBody>
      </p:sp>
      <p:sp>
        <p:nvSpPr>
          <p:cNvPr id="15" name="Shape 13"/>
          <p:cNvSpPr/>
          <p:nvPr/>
        </p:nvSpPr>
        <p:spPr>
          <a:xfrm>
            <a:off x="822960" y="5440680"/>
            <a:ext cx="128016" cy="128016"/>
          </a:xfrm>
          <a:prstGeom prst="ellipse">
            <a:avLst/>
          </a:prstGeom>
          <a:solidFill>
            <a:srgbClr val="3DDC97"/>
          </a:solidFill>
          <a:ln/>
        </p:spPr>
      </p:sp>
      <p:sp>
        <p:nvSpPr>
          <p:cNvPr id="16" name="Text 14"/>
          <p:cNvSpPr txBox="1"/>
          <p:nvPr/>
        </p:nvSpPr>
        <p:spPr>
          <a:xfrm>
            <a:off x="1097280" y="5349240"/>
            <a:ext cx="3383280" cy="411480"/>
          </a:xfrm>
          <a:prstGeom prst="rect">
            <a:avLst/>
          </a:prstGeom>
          <a:noFill/>
          <a:ln/>
        </p:spPr>
        <p:txBody>
          <a:bodyPr wrap="square" lIns="0" tIns="0" rIns="0" bIns="0" rtlCol="0" anchor="t"/>
          <a:lstStyle/>
          <a:p>
            <a:pPr indent="0" marL="0">
              <a:buNone/>
            </a:pPr>
            <a:r>
              <a:rPr lang="en-US" sz="1150" dirty="0">
                <a:solidFill>
                  <a:srgbClr val="D8E2EC"/>
                </a:solidFill>
                <a:latin typeface="Calibri" pitchFamily="34" charset="0"/>
                <a:ea typeface="Calibri" pitchFamily="34" charset="-122"/>
                <a:cs typeface="Calibri" pitchFamily="34" charset="-120"/>
              </a:rPr>
              <a:t>Interpretable / dapat dijelaskan (post-hoc SHAP)</a:t>
            </a:r>
            <a:endParaRPr lang="en-US" sz="1150" dirty="0"/>
          </a:p>
        </p:txBody>
      </p:sp>
      <p:sp>
        <p:nvSpPr>
          <p:cNvPr id="17" name="Shape 15"/>
          <p:cNvSpPr/>
          <p:nvPr/>
        </p:nvSpPr>
        <p:spPr>
          <a:xfrm>
            <a:off x="5029200" y="1737360"/>
            <a:ext cx="6492240" cy="4572000"/>
          </a:xfrm>
          <a:prstGeom prst="roundRect">
            <a:avLst>
              <a:gd name="adj" fmla="val 2400"/>
            </a:avLst>
          </a:prstGeom>
          <a:solidFill>
            <a:srgbClr val="FFFFFF"/>
          </a:solidFill>
          <a:ln w="12700">
            <a:solidFill>
              <a:srgbClr val="E3E9EF"/>
            </a:solidFill>
            <a:prstDash val="solid"/>
          </a:ln>
        </p:spPr>
      </p:sp>
      <p:sp>
        <p:nvSpPr>
          <p:cNvPr id="18" name="Shape 16"/>
          <p:cNvSpPr/>
          <p:nvPr/>
        </p:nvSpPr>
        <p:spPr>
          <a:xfrm>
            <a:off x="5285232" y="1993392"/>
            <a:ext cx="502920" cy="91440"/>
          </a:xfrm>
          <a:prstGeom prst="roundRect">
            <a:avLst>
              <a:gd name="adj" fmla="val 50000"/>
            </a:avLst>
          </a:prstGeom>
          <a:solidFill>
            <a:srgbClr val="0E7C7B"/>
          </a:solidFill>
          <a:ln/>
        </p:spPr>
      </p:sp>
      <p:sp>
        <p:nvSpPr>
          <p:cNvPr id="19" name="Text 17"/>
          <p:cNvSpPr txBox="1"/>
          <p:nvPr/>
        </p:nvSpPr>
        <p:spPr>
          <a:xfrm>
            <a:off x="5285232" y="2148840"/>
            <a:ext cx="594360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Alasan Pemilihan Tipe</a:t>
            </a:r>
            <a:endParaRPr lang="en-US" sz="1500" dirty="0"/>
          </a:p>
        </p:txBody>
      </p:sp>
      <p:sp>
        <p:nvSpPr>
          <p:cNvPr id="20" name="Text 18"/>
          <p:cNvSpPr txBox="1"/>
          <p:nvPr/>
        </p:nvSpPr>
        <p:spPr>
          <a:xfrm>
            <a:off x="5285232" y="2606040"/>
            <a:ext cx="5943600" cy="3566160"/>
          </a:xfrm>
          <a:prstGeom prst="rect">
            <a:avLst/>
          </a:prstGeom>
          <a:noFill/>
          <a:ln/>
        </p:spPr>
        <p:txBody>
          <a:bodyPr wrap="square" lIns="0" tIns="0" rIns="0" bIns="0" rtlCol="0" anchor="t"/>
          <a:lstStyle/>
          <a:p>
            <a:pPr indent="0" marL="0">
              <a:lnSpc>
                <a:spcPct val="125000"/>
              </a:lnSpc>
              <a:buNone/>
            </a:pPr>
            <a:r>
              <a:rPr lang="en-US" sz="1300" dirty="0">
                <a:solidFill>
                  <a:srgbClr val="1B1F27"/>
                </a:solidFill>
                <a:latin typeface="Calibri" pitchFamily="34" charset="0"/>
                <a:ea typeface="Calibri" pitchFamily="34" charset="-122"/>
                <a:cs typeface="Calibri" pitchFamily="34" charset="-120"/>
              </a:rPr>
              <a:t>Pengetahuan domain pada XAgents direpresentasikan secara eksplisit dalam bentuk aturan kondisional IF (antecedent) – THEN (consequent) yang dibangkitkan oleh Domain Analyst Agent untuk setiap subtugas. Proses penalaran dan pengambilan keputusan sepenuhnya dijalankan melalui eksekusi aturan tersebut (rule execution) beserta perhitungan derajat keanggotaan (membership degree: High, Medium, Low, dst.) terhadap domain maupun tujuan global — bukan melalui pembelajaran pola dari data mentah. Penulis sendiri secara eksplisit menyebut sistem ini sebagai "IF-THEN rule-based system" dan menekankan sifat interpretable-nya. Karakteristik representasi pengetahuan berbasis aturan kondisional inilah yang menjadi ciri khas rekayasa pengetahuan bertipe Rule-Based, sebagaimana lazim ditemukan pada sistem pakar (expert system) klasik.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548640"/>
            <a:ext cx="1463040" cy="1463040"/>
          </a:xfrm>
          <a:prstGeom prst="ellipse">
            <a:avLst/>
          </a:prstGeom>
          <a:solidFill>
            <a:srgbClr val="112A4E"/>
          </a:solidFill>
          <a:ln/>
        </p:spPr>
      </p:sp>
      <p:sp>
        <p:nvSpPr>
          <p:cNvPr id="3" name="Shape 1"/>
          <p:cNvSpPr/>
          <p:nvPr/>
        </p:nvSpPr>
        <p:spPr>
          <a:xfrm>
            <a:off x="11064240" y="5120640"/>
            <a:ext cx="2011680" cy="2011680"/>
          </a:xfrm>
          <a:prstGeom prst="ellipse">
            <a:avLst/>
          </a:prstGeom>
          <a:solidFill>
            <a:srgbClr val="112A4E"/>
          </a:solidFill>
          <a:ln/>
        </p:spPr>
      </p:sp>
      <p:sp>
        <p:nvSpPr>
          <p:cNvPr id="4" name="Shape 2"/>
          <p:cNvSpPr/>
          <p:nvPr/>
        </p:nvSpPr>
        <p:spPr>
          <a:xfrm>
            <a:off x="-548640" y="4846320"/>
            <a:ext cx="1645920" cy="1645920"/>
          </a:xfrm>
          <a:prstGeom prst="ellipse">
            <a:avLst/>
          </a:prstGeom>
          <a:solidFill>
            <a:srgbClr val="112A4E"/>
          </a:solidFill>
          <a:ln/>
        </p:spPr>
      </p:sp>
      <p:sp>
        <p:nvSpPr>
          <p:cNvPr id="5" name="Shape 3"/>
          <p:cNvSpPr/>
          <p:nvPr/>
        </p:nvSpPr>
        <p:spPr>
          <a:xfrm>
            <a:off x="548640" y="502920"/>
            <a:ext cx="2286000" cy="384048"/>
          </a:xfrm>
          <a:prstGeom prst="roundRect">
            <a:avLst>
              <a:gd name="adj" fmla="val 50000"/>
            </a:avLst>
          </a:prstGeom>
          <a:solidFill>
            <a:srgbClr val="0E7C7B"/>
          </a:solidFill>
          <a:ln/>
        </p:spPr>
      </p:sp>
      <p:sp>
        <p:nvSpPr>
          <p:cNvPr id="6" name="Text 4"/>
          <p:cNvSpPr txBox="1"/>
          <p:nvPr/>
        </p:nvSpPr>
        <p:spPr>
          <a:xfrm>
            <a:off x="548640" y="502920"/>
            <a:ext cx="2286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ARTIKEL 2</a:t>
            </a:r>
            <a:endParaRPr lang="en-US" sz="1200" dirty="0"/>
          </a:p>
        </p:txBody>
      </p:sp>
      <p:sp>
        <p:nvSpPr>
          <p:cNvPr id="7" name="Text 5"/>
          <p:cNvSpPr txBox="1"/>
          <p:nvPr/>
        </p:nvSpPr>
        <p:spPr>
          <a:xfrm>
            <a:off x="548640" y="1188720"/>
            <a:ext cx="9692640" cy="210312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Review of Case-Based Reasoning for LLM Agents: Theoretical Foundations, Architectural Components, and Cognitive Integration</a:t>
            </a:r>
            <a:endParaRPr lang="en-US" sz="3400" dirty="0"/>
          </a:p>
        </p:txBody>
      </p:sp>
      <p:sp>
        <p:nvSpPr>
          <p:cNvPr id="8" name="Shape 6"/>
          <p:cNvSpPr/>
          <p:nvPr/>
        </p:nvSpPr>
        <p:spPr>
          <a:xfrm>
            <a:off x="576072" y="3429000"/>
            <a:ext cx="2011680" cy="0"/>
          </a:xfrm>
          <a:prstGeom prst="line">
            <a:avLst/>
          </a:prstGeom>
          <a:noFill/>
          <a:ln w="31750">
            <a:solidFill>
              <a:srgbClr val="3DDC97"/>
            </a:solidFill>
            <a:prstDash val="solid"/>
          </a:ln>
        </p:spPr>
      </p:sp>
      <p:sp>
        <p:nvSpPr>
          <p:cNvPr id="9" name="Text 7"/>
          <p:cNvSpPr txBox="1"/>
          <p:nvPr/>
        </p:nvSpPr>
        <p:spPr>
          <a:xfrm>
            <a:off x="548640" y="3657600"/>
            <a:ext cx="8686800" cy="2011680"/>
          </a:xfrm>
          <a:prstGeom prst="rect">
            <a:avLst/>
          </a:prstGeom>
          <a:noFill/>
          <a:ln/>
        </p:spPr>
        <p:txBody>
          <a:bodyPr wrap="square" lIns="0" tIns="0" rIns="0" bIns="0" rtlCol="0" anchor="t"/>
          <a:lstStyle/>
          <a:p>
            <a:pPr indent="0" marL="0">
              <a:buNone/>
            </a:pPr>
            <a:r>
              <a:rPr lang="en-US" sz="1300" b="1" dirty="0">
                <a:solidFill>
                  <a:srgbClr val="3DDC97"/>
                </a:solidFill>
                <a:latin typeface="Calibri" pitchFamily="34" charset="0"/>
                <a:ea typeface="Calibri" pitchFamily="34" charset="-122"/>
                <a:cs typeface="Calibri" pitchFamily="34" charset="-120"/>
              </a:rPr>
              <a:t>Nama Jurnal / Conference
</a:t>
            </a:r>
            <a:endParaRPr lang="en-US" sz="1300" dirty="0"/>
          </a:p>
          <a:p>
            <a:pPr indent="0" marL="0">
              <a:buNone/>
            </a:pPr>
            <a:r>
              <a:rPr lang="en-US" sz="1500" dirty="0">
                <a:solidFill>
                  <a:srgbClr val="FFFFFF"/>
                </a:solidFill>
                <a:latin typeface="Calibri" pitchFamily="34" charset="0"/>
                <a:ea typeface="Calibri" pitchFamily="34" charset="-122"/>
                <a:cs typeface="Calibri" pitchFamily="34" charset="-120"/>
              </a:rPr>
              <a:t>arXiv preprint (cs.AI) — Hatalis, Christou &amp; Kondapalli, GoCharlie.ai, 2025
</a:t>
            </a:r>
            <a:endParaRPr lang="en-US" sz="1300" dirty="0"/>
          </a:p>
          <a:p>
            <a:pPr indent="0" marL="0">
              <a:buNone/>
            </a:pPr>
            <a:r>
              <a:rPr lang="en-US" sz="1300" b="1" dirty="0">
                <a:solidFill>
                  <a:srgbClr val="3DDC97"/>
                </a:solidFill>
                <a:latin typeface="Calibri" pitchFamily="34" charset="0"/>
                <a:ea typeface="Calibri" pitchFamily="34" charset="-122"/>
                <a:cs typeface="Calibri" pitchFamily="34" charset="-120"/>
              </a:rPr>
              <a:t>Link / DOI Artikel
</a:t>
            </a:r>
            <a:endParaRPr lang="en-US" sz="1300" dirty="0"/>
          </a:p>
          <a:p>
            <a:pPr indent="0" marL="0">
              <a:buNone/>
            </a:pPr>
            <a:r>
              <a:rPr lang="en-US" sz="1400" dirty="0">
                <a:solidFill>
                  <a:srgbClr val="FFFFFF"/>
                </a:solidFill>
                <a:latin typeface="Calibri" pitchFamily="34" charset="0"/>
                <a:ea typeface="Calibri" pitchFamily="34" charset="-122"/>
                <a:cs typeface="Calibri" pitchFamily="34" charset="-120"/>
              </a:rPr>
              <a:t>https://arxiv.org/abs/2504.06943</a:t>
            </a:r>
            <a:endParaRPr lang="en-US" sz="1300" dirty="0"/>
          </a:p>
        </p:txBody>
      </p:sp>
      <p:sp>
        <p:nvSpPr>
          <p:cNvPr id="10" name="Shape 8"/>
          <p:cNvSpPr/>
          <p:nvPr/>
        </p:nvSpPr>
        <p:spPr>
          <a:xfrm>
            <a:off x="548640" y="6172200"/>
            <a:ext cx="2834640" cy="384048"/>
          </a:xfrm>
          <a:prstGeom prst="roundRect">
            <a:avLst>
              <a:gd name="adj" fmla="val 50000"/>
            </a:avLst>
          </a:prstGeom>
          <a:solidFill>
            <a:srgbClr val="FFFFFF">
              <a:alpha val="12000"/>
            </a:srgbClr>
          </a:solidFill>
          <a:ln w="12700">
            <a:solidFill>
              <a:srgbClr val="3DDC97"/>
            </a:solidFill>
            <a:prstDash val="solid"/>
          </a:ln>
        </p:spPr>
      </p:sp>
      <p:sp>
        <p:nvSpPr>
          <p:cNvPr id="11" name="Text 9"/>
          <p:cNvSpPr txBox="1"/>
          <p:nvPr/>
        </p:nvSpPr>
        <p:spPr>
          <a:xfrm>
            <a:off x="548640" y="6172200"/>
            <a:ext cx="2834640" cy="384048"/>
          </a:xfrm>
          <a:prstGeom prst="rect">
            <a:avLst/>
          </a:prstGeom>
          <a:noFill/>
          <a:ln/>
        </p:spPr>
        <p:txBody>
          <a:bodyPr wrap="square" lIns="0" tIns="0" rIns="0" bIns="0" rtlCol="0" anchor="ctr"/>
          <a:lstStyle/>
          <a:p>
            <a:pPr algn="ctr" indent="0" marL="0">
              <a:buNone/>
            </a:pPr>
            <a:r>
              <a:rPr lang="en-US" sz="1100" b="1" dirty="0">
                <a:solidFill>
                  <a:srgbClr val="3DDC97"/>
                </a:solidFill>
                <a:latin typeface="Calibri" pitchFamily="34" charset="0"/>
                <a:ea typeface="Calibri" pitchFamily="34" charset="-122"/>
                <a:cs typeface="Calibri" pitchFamily="34" charset="-120"/>
              </a:rPr>
              <a:t>Subject: Intelligent Agents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E7C7B"/>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143000" y="484632"/>
            <a:ext cx="548640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ARTIKEL 2 — RINGKASAN</a:t>
            </a:r>
            <a:endParaRPr lang="en-US" sz="1200" dirty="0"/>
          </a:p>
        </p:txBody>
      </p:sp>
      <p:sp>
        <p:nvSpPr>
          <p:cNvPr id="5" name="Text 3"/>
          <p:cNvSpPr txBox="1"/>
          <p:nvPr/>
        </p:nvSpPr>
        <p:spPr>
          <a:xfrm>
            <a:off x="1143000" y="731520"/>
            <a:ext cx="10332720" cy="548640"/>
          </a:xfrm>
          <a:prstGeom prst="rect">
            <a:avLst/>
          </a:prstGeom>
          <a:noFill/>
          <a:ln/>
        </p:spPr>
        <p:txBody>
          <a:bodyPr wrap="square" lIns="0" tIns="0" rIns="0" bIns="0" rtlCol="0" anchor="ctr"/>
          <a:lstStyle/>
          <a:p>
            <a:pPr indent="0" marL="0">
              <a:buNone/>
            </a:pPr>
            <a:r>
              <a:rPr lang="en-US" sz="2600" b="1" dirty="0">
                <a:solidFill>
                  <a:srgbClr val="0B1F3A"/>
                </a:solidFill>
                <a:latin typeface="Cambria" pitchFamily="34" charset="0"/>
                <a:ea typeface="Cambria" pitchFamily="34" charset="-122"/>
                <a:cs typeface="Cambria" pitchFamily="34" charset="-120"/>
              </a:rPr>
              <a:t>Tujuan &amp; Ringkasan Metode</a:t>
            </a:r>
            <a:endParaRPr lang="en-US" sz="2600" dirty="0"/>
          </a:p>
        </p:txBody>
      </p:sp>
      <p:sp>
        <p:nvSpPr>
          <p:cNvPr id="6" name="Shape 4"/>
          <p:cNvSpPr/>
          <p:nvPr/>
        </p:nvSpPr>
        <p:spPr>
          <a:xfrm>
            <a:off x="548640" y="1417320"/>
            <a:ext cx="11064240" cy="0"/>
          </a:xfrm>
          <a:prstGeom prst="line">
            <a:avLst/>
          </a:prstGeom>
          <a:noFill/>
          <a:ln w="12700">
            <a:solidFill>
              <a:srgbClr val="DCE3EA"/>
            </a:solidFill>
            <a:prstDash val="solid"/>
          </a:ln>
        </p:spPr>
      </p:sp>
      <p:sp>
        <p:nvSpPr>
          <p:cNvPr id="7" name="Shape 5"/>
          <p:cNvSpPr/>
          <p:nvPr/>
        </p:nvSpPr>
        <p:spPr>
          <a:xfrm>
            <a:off x="548640" y="1691640"/>
            <a:ext cx="5349240" cy="4617720"/>
          </a:xfrm>
          <a:prstGeom prst="roundRect">
            <a:avLst>
              <a:gd name="adj" fmla="val 1980"/>
            </a:avLst>
          </a:prstGeom>
          <a:solidFill>
            <a:srgbClr val="FFFFFF"/>
          </a:solidFill>
          <a:ln w="12700">
            <a:solidFill>
              <a:srgbClr val="E3E9EF"/>
            </a:solidFill>
            <a:prstDash val="solid"/>
          </a:ln>
          <a:effectLst>
            <a:outerShdw sx="100000" sy="100000" kx="0" ky="0" algn="bl" rotWithShape="0" blurRad="101600" dist="38100" dir="5400000">
              <a:srgbClr val="9AA7B4">
                <a:alpha val="25000"/>
              </a:srgbClr>
            </a:outerShdw>
          </a:effectLst>
        </p:spPr>
      </p:sp>
      <p:sp>
        <p:nvSpPr>
          <p:cNvPr id="8" name="Shape 6"/>
          <p:cNvSpPr/>
          <p:nvPr/>
        </p:nvSpPr>
        <p:spPr>
          <a:xfrm>
            <a:off x="804672" y="1947672"/>
            <a:ext cx="502920" cy="91440"/>
          </a:xfrm>
          <a:prstGeom prst="roundRect">
            <a:avLst>
              <a:gd name="adj" fmla="val 50000"/>
            </a:avLst>
          </a:prstGeom>
          <a:solidFill>
            <a:srgbClr val="3DDC97"/>
          </a:solidFill>
          <a:ln/>
        </p:spPr>
      </p:sp>
      <p:sp>
        <p:nvSpPr>
          <p:cNvPr id="9" name="Text 7"/>
          <p:cNvSpPr txBox="1"/>
          <p:nvPr/>
        </p:nvSpPr>
        <p:spPr>
          <a:xfrm>
            <a:off x="804672" y="2103120"/>
            <a:ext cx="4837176"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Tujuan Penelitian</a:t>
            </a:r>
            <a:endParaRPr lang="en-US" sz="1500" dirty="0"/>
          </a:p>
        </p:txBody>
      </p:sp>
      <p:sp>
        <p:nvSpPr>
          <p:cNvPr id="10" name="Text 8"/>
          <p:cNvSpPr txBox="1"/>
          <p:nvPr/>
        </p:nvSpPr>
        <p:spPr>
          <a:xfrm>
            <a:off x="804672" y="2514600"/>
            <a:ext cx="4837176" cy="3566160"/>
          </a:xfrm>
          <a:prstGeom prst="rect">
            <a:avLst/>
          </a:prstGeom>
          <a:noFill/>
          <a:ln/>
        </p:spPr>
        <p:txBody>
          <a:bodyPr wrap="square" lIns="0" tIns="0" rIns="0" bIns="0" rtlCol="0" anchor="t"/>
          <a:lstStyle/>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Mengkaji secara sistematis bagaimana Case-Based Reasoning (CBR) — strategi memecahkan masalah baru dengan merujuk pada pengalaman/kasus masa lalu yang serupa — dapat diintegrasikan ke dalam arsitektur agen berbasis Large Language Model (LLM), guna mengatasi keterbatasan agen LLM dalam hal pengetahuan terstruktur, halusinasi, dan minimnya memori kontekstual lintas interaksi.</a:t>
            </a:r>
            <a:endParaRPr lang="en-US" sz="1250" dirty="0"/>
          </a:p>
        </p:txBody>
      </p:sp>
      <p:sp>
        <p:nvSpPr>
          <p:cNvPr id="11" name="Shape 9"/>
          <p:cNvSpPr/>
          <p:nvPr/>
        </p:nvSpPr>
        <p:spPr>
          <a:xfrm>
            <a:off x="6080760" y="1691640"/>
            <a:ext cx="5440680" cy="4617720"/>
          </a:xfrm>
          <a:prstGeom prst="roundRect">
            <a:avLst>
              <a:gd name="adj" fmla="val 1980"/>
            </a:avLst>
          </a:prstGeom>
          <a:solidFill>
            <a:srgbClr val="FFFFFF"/>
          </a:solidFill>
          <a:ln w="12700">
            <a:solidFill>
              <a:srgbClr val="E3E9EF"/>
            </a:solidFill>
            <a:prstDash val="solid"/>
          </a:ln>
          <a:effectLst>
            <a:outerShdw sx="100000" sy="100000" kx="0" ky="0" algn="bl" rotWithShape="0" blurRad="101600" dist="38100" dir="5400000">
              <a:srgbClr val="9AA7B4">
                <a:alpha val="25000"/>
              </a:srgbClr>
            </a:outerShdw>
          </a:effectLst>
        </p:spPr>
      </p:sp>
      <p:sp>
        <p:nvSpPr>
          <p:cNvPr id="12" name="Shape 10"/>
          <p:cNvSpPr/>
          <p:nvPr/>
        </p:nvSpPr>
        <p:spPr>
          <a:xfrm>
            <a:off x="6336792" y="1947672"/>
            <a:ext cx="502920" cy="91440"/>
          </a:xfrm>
          <a:prstGeom prst="roundRect">
            <a:avLst>
              <a:gd name="adj" fmla="val 50000"/>
            </a:avLst>
          </a:prstGeom>
          <a:solidFill>
            <a:srgbClr val="0E7C7B"/>
          </a:solidFill>
          <a:ln/>
        </p:spPr>
      </p:sp>
      <p:sp>
        <p:nvSpPr>
          <p:cNvPr id="13" name="Text 11"/>
          <p:cNvSpPr txBox="1"/>
          <p:nvPr/>
        </p:nvSpPr>
        <p:spPr>
          <a:xfrm>
            <a:off x="6336792" y="2103120"/>
            <a:ext cx="4928616"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Ringkasan Metode</a:t>
            </a:r>
            <a:endParaRPr lang="en-US" sz="1500" dirty="0"/>
          </a:p>
        </p:txBody>
      </p:sp>
      <p:sp>
        <p:nvSpPr>
          <p:cNvPr id="14" name="Text 12"/>
          <p:cNvSpPr txBox="1"/>
          <p:nvPr/>
        </p:nvSpPr>
        <p:spPr>
          <a:xfrm>
            <a:off x="6336792" y="2514600"/>
            <a:ext cx="4928616" cy="3566160"/>
          </a:xfrm>
          <a:prstGeom prst="rect">
            <a:avLst/>
          </a:prstGeom>
          <a:noFill/>
          <a:ln/>
        </p:spPr>
        <p:txBody>
          <a:bodyPr wrap="square" lIns="0" tIns="0" rIns="0" bIns="0" rtlCol="0" anchor="t"/>
          <a:lstStyle/>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 Meninjau fondasi teoritis agen yang ditingkatkan dengan CBR dan mengidentifikasi komponen arsitektur inti: basis kasus (case base), retrieval, adaptation, dan learning/retention.</a:t>
            </a:r>
            <a:endParaRPr lang="en-US" sz="1250" dirty="0"/>
          </a:p>
          <a:p>
            <a:pPr indent="0" marL="0">
              <a:lnSpc>
                <a:spcPct val="115000"/>
              </a:lnSpc>
              <a:buNone/>
            </a:pPr>
            <a:endParaRPr lang="en-US" sz="1250" dirty="0"/>
          </a:p>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 Merumuskan model matematis untuk proses inti CBR (retrieval, adaptation, learning).</a:t>
            </a:r>
            <a:endParaRPr lang="en-US" sz="1250" dirty="0"/>
          </a:p>
          <a:p>
            <a:pPr indent="0" marL="0">
              <a:lnSpc>
                <a:spcPct val="115000"/>
              </a:lnSpc>
              <a:buNone/>
            </a:pPr>
            <a:endParaRPr lang="en-US" sz="1250" dirty="0"/>
          </a:p>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 Membandingkan agen berbasis CBR dengan pendekatan penalaran lain seperti Chain-of-Thought (CoT) dan Retrieval-Augmented Generation (RAG).</a:t>
            </a:r>
            <a:endParaRPr lang="en-US" sz="1250" dirty="0"/>
          </a:p>
          <a:p>
            <a:pPr indent="0" marL="0">
              <a:lnSpc>
                <a:spcPct val="115000"/>
              </a:lnSpc>
              <a:buNone/>
            </a:pPr>
            <a:endParaRPr lang="en-US" sz="1250" dirty="0"/>
          </a:p>
          <a:p>
            <a:pPr indent="0" marL="0">
              <a:lnSpc>
                <a:spcPct val="115000"/>
              </a:lnSpc>
              <a:buNone/>
            </a:pPr>
            <a:r>
              <a:rPr lang="en-US" sz="1250" dirty="0">
                <a:solidFill>
                  <a:srgbClr val="1B1F27"/>
                </a:solidFill>
                <a:latin typeface="Calibri" pitchFamily="34" charset="0"/>
                <a:ea typeface="Calibri" pitchFamily="34" charset="-122"/>
                <a:cs typeface="Calibri" pitchFamily="34" charset="-120"/>
              </a:rPr>
              <a:t>• Mengeksplorasi dimensi kognitif CBR (refleksi diri, introspeksi, curiosity) melalui mekanisme goal-driven autonomy.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E7C7B"/>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143000" y="484632"/>
            <a:ext cx="548640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ARTIKEL 2 — RINGKASAN</a:t>
            </a:r>
            <a:endParaRPr lang="en-US" sz="1200" dirty="0"/>
          </a:p>
        </p:txBody>
      </p:sp>
      <p:sp>
        <p:nvSpPr>
          <p:cNvPr id="5" name="Text 3"/>
          <p:cNvSpPr txBox="1"/>
          <p:nvPr/>
        </p:nvSpPr>
        <p:spPr>
          <a:xfrm>
            <a:off x="1143000" y="731520"/>
            <a:ext cx="10332720" cy="548640"/>
          </a:xfrm>
          <a:prstGeom prst="rect">
            <a:avLst/>
          </a:prstGeom>
          <a:noFill/>
          <a:ln/>
        </p:spPr>
        <p:txBody>
          <a:bodyPr wrap="square" lIns="0" tIns="0" rIns="0" bIns="0" rtlCol="0" anchor="ctr"/>
          <a:lstStyle/>
          <a:p>
            <a:pPr indent="0" marL="0">
              <a:buNone/>
            </a:pPr>
            <a:r>
              <a:rPr lang="en-US" sz="2600" b="1" dirty="0">
                <a:solidFill>
                  <a:srgbClr val="0B1F3A"/>
                </a:solidFill>
                <a:latin typeface="Cambria" pitchFamily="34" charset="0"/>
                <a:ea typeface="Cambria" pitchFamily="34" charset="-122"/>
                <a:cs typeface="Cambria" pitchFamily="34" charset="-120"/>
              </a:rPr>
              <a:t>Ringkasan Hasil</a:t>
            </a:r>
            <a:endParaRPr lang="en-US" sz="2600" dirty="0"/>
          </a:p>
        </p:txBody>
      </p:sp>
      <p:sp>
        <p:nvSpPr>
          <p:cNvPr id="6" name="Shape 4"/>
          <p:cNvSpPr/>
          <p:nvPr/>
        </p:nvSpPr>
        <p:spPr>
          <a:xfrm>
            <a:off x="548640" y="1417320"/>
            <a:ext cx="11064240" cy="0"/>
          </a:xfrm>
          <a:prstGeom prst="line">
            <a:avLst/>
          </a:prstGeom>
          <a:noFill/>
          <a:ln w="12700">
            <a:solidFill>
              <a:srgbClr val="DCE3EA"/>
            </a:solidFill>
            <a:prstDash val="solid"/>
          </a:ln>
        </p:spPr>
      </p:sp>
      <p:sp>
        <p:nvSpPr>
          <p:cNvPr id="7" name="Shape 5"/>
          <p:cNvSpPr/>
          <p:nvPr/>
        </p:nvSpPr>
        <p:spPr>
          <a:xfrm>
            <a:off x="548640" y="1783080"/>
            <a:ext cx="11064240" cy="1051560"/>
          </a:xfrm>
          <a:prstGeom prst="roundRect">
            <a:avLst>
              <a:gd name="adj" fmla="val 7826"/>
            </a:avLst>
          </a:prstGeom>
          <a:solidFill>
            <a:srgbClr val="FFFFFF"/>
          </a:solidFill>
          <a:ln w="12700">
            <a:solidFill>
              <a:srgbClr val="E3E9EF"/>
            </a:solidFill>
            <a:prstDash val="solid"/>
          </a:ln>
        </p:spPr>
      </p:sp>
      <p:sp>
        <p:nvSpPr>
          <p:cNvPr id="8" name="Shape 6"/>
          <p:cNvSpPr/>
          <p:nvPr/>
        </p:nvSpPr>
        <p:spPr>
          <a:xfrm>
            <a:off x="777240" y="2144268"/>
            <a:ext cx="329184" cy="329184"/>
          </a:xfrm>
          <a:prstGeom prst="ellipse">
            <a:avLst/>
          </a:prstGeom>
          <a:solidFill>
            <a:srgbClr val="0E7C7B"/>
          </a:solidFill>
          <a:ln/>
        </p:spPr>
      </p:sp>
      <p:sp>
        <p:nvSpPr>
          <p:cNvPr id="9" name="Text 7"/>
          <p:cNvSpPr txBox="1"/>
          <p:nvPr/>
        </p:nvSpPr>
        <p:spPr>
          <a:xfrm>
            <a:off x="777240" y="21442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80160" y="185623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CBR terbukti memberikan pengetahuan eksplisit berbasis kasus yang meningkatkan efektivitas penalaran agen LLM, dengan keunggulan transparansi dan akuntabilitas keputusan dibanding Chain-of-Thought maupun RAG standar.</a:t>
            </a:r>
            <a:endParaRPr lang="en-US" sz="1300" dirty="0"/>
          </a:p>
        </p:txBody>
      </p:sp>
      <p:sp>
        <p:nvSpPr>
          <p:cNvPr id="11" name="Shape 9"/>
          <p:cNvSpPr/>
          <p:nvPr/>
        </p:nvSpPr>
        <p:spPr>
          <a:xfrm>
            <a:off x="548640" y="2971800"/>
            <a:ext cx="11064240" cy="1051560"/>
          </a:xfrm>
          <a:prstGeom prst="roundRect">
            <a:avLst>
              <a:gd name="adj" fmla="val 7826"/>
            </a:avLst>
          </a:prstGeom>
          <a:solidFill>
            <a:srgbClr val="FFFFFF"/>
          </a:solidFill>
          <a:ln w="12700">
            <a:solidFill>
              <a:srgbClr val="E3E9EF"/>
            </a:solidFill>
            <a:prstDash val="solid"/>
          </a:ln>
        </p:spPr>
      </p:sp>
      <p:sp>
        <p:nvSpPr>
          <p:cNvPr id="12" name="Shape 10"/>
          <p:cNvSpPr/>
          <p:nvPr/>
        </p:nvSpPr>
        <p:spPr>
          <a:xfrm>
            <a:off x="777240" y="3332988"/>
            <a:ext cx="329184" cy="329184"/>
          </a:xfrm>
          <a:prstGeom prst="ellipse">
            <a:avLst/>
          </a:prstGeom>
          <a:solidFill>
            <a:srgbClr val="3DDC97"/>
          </a:solidFill>
          <a:ln/>
        </p:spPr>
      </p:sp>
      <p:sp>
        <p:nvSpPr>
          <p:cNvPr id="13" name="Text 11"/>
          <p:cNvSpPr txBox="1"/>
          <p:nvPr/>
        </p:nvSpPr>
        <p:spPr>
          <a:xfrm>
            <a:off x="777240" y="33329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280160" y="304495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Integrasi CBR dengan LLM diposisikan sebagai pendekatan neuro-symbolic hybrid yang menjanjikan untuk memperkuat kemampuan penalaran lintas domain sekaligus menjaga interpretabilitas sistem.</a:t>
            </a:r>
            <a:endParaRPr lang="en-US" sz="1300" dirty="0"/>
          </a:p>
        </p:txBody>
      </p:sp>
      <p:sp>
        <p:nvSpPr>
          <p:cNvPr id="15" name="Shape 13"/>
          <p:cNvSpPr/>
          <p:nvPr/>
        </p:nvSpPr>
        <p:spPr>
          <a:xfrm>
            <a:off x="548640" y="4160520"/>
            <a:ext cx="11064240" cy="1051560"/>
          </a:xfrm>
          <a:prstGeom prst="roundRect">
            <a:avLst>
              <a:gd name="adj" fmla="val 7826"/>
            </a:avLst>
          </a:prstGeom>
          <a:solidFill>
            <a:srgbClr val="FFFFFF"/>
          </a:solidFill>
          <a:ln w="12700">
            <a:solidFill>
              <a:srgbClr val="E3E9EF"/>
            </a:solidFill>
            <a:prstDash val="solid"/>
          </a:ln>
        </p:spPr>
      </p:sp>
      <p:sp>
        <p:nvSpPr>
          <p:cNvPr id="16" name="Shape 14"/>
          <p:cNvSpPr/>
          <p:nvPr/>
        </p:nvSpPr>
        <p:spPr>
          <a:xfrm>
            <a:off x="777240" y="4521708"/>
            <a:ext cx="329184" cy="329184"/>
          </a:xfrm>
          <a:prstGeom prst="ellipse">
            <a:avLst/>
          </a:prstGeom>
          <a:solidFill>
            <a:srgbClr val="0E7C7B"/>
          </a:solidFill>
          <a:ln/>
        </p:spPr>
      </p:sp>
      <p:sp>
        <p:nvSpPr>
          <p:cNvPr id="17" name="Text 15"/>
          <p:cNvSpPr txBox="1"/>
          <p:nvPr/>
        </p:nvSpPr>
        <p:spPr>
          <a:xfrm>
            <a:off x="777240" y="45217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80160" y="423367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Dimensi kognitif CBR — refleksi diri (self-reflection), introspeksi, dan curiosity — terbukti dapat memperkuat mekanisme goal-driven autonomy pada agen LLM.</a:t>
            </a:r>
            <a:endParaRPr lang="en-US" sz="1300" dirty="0"/>
          </a:p>
        </p:txBody>
      </p:sp>
      <p:sp>
        <p:nvSpPr>
          <p:cNvPr id="19" name="Shape 17"/>
          <p:cNvSpPr/>
          <p:nvPr/>
        </p:nvSpPr>
        <p:spPr>
          <a:xfrm>
            <a:off x="548640" y="5349240"/>
            <a:ext cx="11064240" cy="1051560"/>
          </a:xfrm>
          <a:prstGeom prst="roundRect">
            <a:avLst>
              <a:gd name="adj" fmla="val 7826"/>
            </a:avLst>
          </a:prstGeom>
          <a:solidFill>
            <a:srgbClr val="FFFFFF"/>
          </a:solidFill>
          <a:ln w="12700">
            <a:solidFill>
              <a:srgbClr val="E3E9EF"/>
            </a:solidFill>
            <a:prstDash val="solid"/>
          </a:ln>
        </p:spPr>
      </p:sp>
      <p:sp>
        <p:nvSpPr>
          <p:cNvPr id="20" name="Shape 18"/>
          <p:cNvSpPr/>
          <p:nvPr/>
        </p:nvSpPr>
        <p:spPr>
          <a:xfrm>
            <a:off x="777240" y="5710428"/>
            <a:ext cx="329184" cy="329184"/>
          </a:xfrm>
          <a:prstGeom prst="ellipse">
            <a:avLst/>
          </a:prstGeom>
          <a:solidFill>
            <a:srgbClr val="3DDC97"/>
          </a:solidFill>
          <a:ln/>
        </p:spPr>
      </p:sp>
      <p:sp>
        <p:nvSpPr>
          <p:cNvPr id="21" name="Text 19"/>
          <p:cNvSpPr txBox="1"/>
          <p:nvPr/>
        </p:nvSpPr>
        <p:spPr>
          <a:xfrm>
            <a:off x="777240" y="57104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280160" y="5422392"/>
            <a:ext cx="10149840" cy="905256"/>
          </a:xfrm>
          <a:prstGeom prst="rect">
            <a:avLst/>
          </a:prstGeom>
          <a:noFill/>
          <a:ln/>
        </p:spPr>
        <p:txBody>
          <a:bodyPr wrap="square" lIns="0" tIns="0" rIns="0" bIns="0" rtlCol="0" anchor="ctr"/>
          <a:lstStyle/>
          <a:p>
            <a:pPr indent="0" marL="0">
              <a:lnSpc>
                <a:spcPct val="112000"/>
              </a:lnSpc>
              <a:buNone/>
            </a:pPr>
            <a:r>
              <a:rPr lang="en-US" sz="1300" dirty="0">
                <a:solidFill>
                  <a:srgbClr val="1B1F27"/>
                </a:solidFill>
                <a:latin typeface="Calibri" pitchFamily="34" charset="0"/>
                <a:ea typeface="Calibri" pitchFamily="34" charset="-122"/>
                <a:cs typeface="Calibri" pitchFamily="34" charset="-120"/>
              </a:rPr>
              <a:t>Sebagai artikel review, kontribusi utamanya adalah kerangka teoritis dan model matematis proses CBR (retrieval–adaptation–learning) yang dapat menjadi landasan pengembangan arsitektur agen CBR-LLM berikutnya.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E7C7B"/>
          </a:solidFill>
          <a:ln/>
        </p:spPr>
      </p:sp>
      <p:sp>
        <p:nvSpPr>
          <p:cNvPr id="3" name="Text 1"/>
          <p:cNvSpPr txBox="1"/>
          <p:nvPr/>
        </p:nvSpPr>
        <p:spPr>
          <a:xfrm>
            <a:off x="548640" y="502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143000" y="484632"/>
            <a:ext cx="5486400" cy="27432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ARTIKEL 2 — ANALISIS</a:t>
            </a:r>
            <a:endParaRPr lang="en-US" sz="1200" dirty="0"/>
          </a:p>
        </p:txBody>
      </p:sp>
      <p:sp>
        <p:nvSpPr>
          <p:cNvPr id="5" name="Text 3"/>
          <p:cNvSpPr txBox="1"/>
          <p:nvPr/>
        </p:nvSpPr>
        <p:spPr>
          <a:xfrm>
            <a:off x="1143000" y="731520"/>
            <a:ext cx="10332720" cy="548640"/>
          </a:xfrm>
          <a:prstGeom prst="rect">
            <a:avLst/>
          </a:prstGeom>
          <a:noFill/>
          <a:ln/>
        </p:spPr>
        <p:txBody>
          <a:bodyPr wrap="square" lIns="0" tIns="0" rIns="0" bIns="0" rtlCol="0" anchor="ctr"/>
          <a:lstStyle/>
          <a:p>
            <a:pPr indent="0" marL="0">
              <a:buNone/>
            </a:pPr>
            <a:r>
              <a:rPr lang="en-US" sz="2600" b="1" dirty="0">
                <a:solidFill>
                  <a:srgbClr val="0B1F3A"/>
                </a:solidFill>
                <a:latin typeface="Cambria" pitchFamily="34" charset="0"/>
                <a:ea typeface="Cambria" pitchFamily="34" charset="-122"/>
                <a:cs typeface="Cambria" pitchFamily="34" charset="-120"/>
              </a:rPr>
              <a:t>Tipe Rekayasa Pengetahuan</a:t>
            </a:r>
            <a:endParaRPr lang="en-US" sz="2600" dirty="0"/>
          </a:p>
        </p:txBody>
      </p:sp>
      <p:sp>
        <p:nvSpPr>
          <p:cNvPr id="6" name="Shape 4"/>
          <p:cNvSpPr/>
          <p:nvPr/>
        </p:nvSpPr>
        <p:spPr>
          <a:xfrm>
            <a:off x="548640" y="1417320"/>
            <a:ext cx="11064240" cy="0"/>
          </a:xfrm>
          <a:prstGeom prst="line">
            <a:avLst/>
          </a:prstGeom>
          <a:noFill/>
          <a:ln w="12700">
            <a:solidFill>
              <a:srgbClr val="DCE3EA"/>
            </a:solidFill>
            <a:prstDash val="solid"/>
          </a:ln>
        </p:spPr>
      </p:sp>
      <p:sp>
        <p:nvSpPr>
          <p:cNvPr id="7" name="Shape 5"/>
          <p:cNvSpPr/>
          <p:nvPr/>
        </p:nvSpPr>
        <p:spPr>
          <a:xfrm>
            <a:off x="548640" y="1737360"/>
            <a:ext cx="4206240" cy="4572000"/>
          </a:xfrm>
          <a:prstGeom prst="roundRect">
            <a:avLst>
              <a:gd name="adj" fmla="val 2609"/>
            </a:avLst>
          </a:prstGeom>
          <a:solidFill>
            <a:srgbClr val="0B1F3A"/>
          </a:solidFill>
          <a:ln/>
        </p:spPr>
      </p:sp>
      <p:sp>
        <p:nvSpPr>
          <p:cNvPr id="8" name="Text 6"/>
          <p:cNvSpPr txBox="1"/>
          <p:nvPr/>
        </p:nvSpPr>
        <p:spPr>
          <a:xfrm>
            <a:off x="822960" y="2057400"/>
            <a:ext cx="3657600" cy="32004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TIPE</a:t>
            </a:r>
            <a:endParaRPr lang="en-US" sz="1300" dirty="0"/>
          </a:p>
        </p:txBody>
      </p:sp>
      <p:sp>
        <p:nvSpPr>
          <p:cNvPr id="9" name="Text 7"/>
          <p:cNvSpPr txBox="1"/>
          <p:nvPr/>
        </p:nvSpPr>
        <p:spPr>
          <a:xfrm>
            <a:off x="822960" y="2423160"/>
            <a:ext cx="3657600" cy="1737360"/>
          </a:xfrm>
          <a:prstGeom prst="rect">
            <a:avLst/>
          </a:prstGeom>
          <a:noFill/>
          <a:ln/>
        </p:spPr>
        <p:txBody>
          <a:bodyPr wrap="square" lIns="0" tIns="0" rIns="0" bIns="0" rtlCol="0" anchor="t"/>
          <a:lstStyle/>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Case-Based Reasoning</a:t>
            </a:r>
            <a:endParaRPr lang="en-US" sz="2400" dirty="0"/>
          </a:p>
          <a:p>
            <a:pPr indent="0" marL="0">
              <a:lnSpc>
                <a:spcPct val="110000"/>
              </a:lnSpc>
              <a:buNone/>
            </a:pPr>
            <a:r>
              <a:rPr lang="en-US" sz="2400" b="1" dirty="0">
                <a:solidFill>
                  <a:srgbClr val="FFFFFF"/>
                </a:solidFill>
                <a:latin typeface="Cambria" pitchFamily="34" charset="0"/>
                <a:ea typeface="Cambria" pitchFamily="34" charset="-122"/>
                <a:cs typeface="Cambria" pitchFamily="34" charset="-120"/>
              </a:rPr>
              <a:t>(Penalaran Berbasis Kasus)</a:t>
            </a:r>
            <a:endParaRPr lang="en-US" sz="2400" dirty="0"/>
          </a:p>
        </p:txBody>
      </p:sp>
      <p:sp>
        <p:nvSpPr>
          <p:cNvPr id="10" name="Shape 8"/>
          <p:cNvSpPr/>
          <p:nvPr/>
        </p:nvSpPr>
        <p:spPr>
          <a:xfrm>
            <a:off x="822960" y="4297680"/>
            <a:ext cx="3383280" cy="0"/>
          </a:xfrm>
          <a:prstGeom prst="line">
            <a:avLst/>
          </a:prstGeom>
          <a:noFill/>
          <a:ln w="19050">
            <a:solidFill>
              <a:srgbClr val="0E7C7B"/>
            </a:solidFill>
            <a:prstDash val="solid"/>
          </a:ln>
        </p:spPr>
      </p:sp>
      <p:sp>
        <p:nvSpPr>
          <p:cNvPr id="11" name="Shape 9"/>
          <p:cNvSpPr/>
          <p:nvPr/>
        </p:nvSpPr>
        <p:spPr>
          <a:xfrm>
            <a:off x="822960" y="4526280"/>
            <a:ext cx="128016" cy="128016"/>
          </a:xfrm>
          <a:prstGeom prst="ellipse">
            <a:avLst/>
          </a:prstGeom>
          <a:solidFill>
            <a:srgbClr val="3DDC97"/>
          </a:solidFill>
          <a:ln/>
        </p:spPr>
      </p:sp>
      <p:sp>
        <p:nvSpPr>
          <p:cNvPr id="12" name="Text 10"/>
          <p:cNvSpPr txBox="1"/>
          <p:nvPr/>
        </p:nvSpPr>
        <p:spPr>
          <a:xfrm>
            <a:off x="1097280" y="4434840"/>
            <a:ext cx="3383280" cy="411480"/>
          </a:xfrm>
          <a:prstGeom prst="rect">
            <a:avLst/>
          </a:prstGeom>
          <a:noFill/>
          <a:ln/>
        </p:spPr>
        <p:txBody>
          <a:bodyPr wrap="square" lIns="0" tIns="0" rIns="0" bIns="0" rtlCol="0" anchor="t"/>
          <a:lstStyle/>
          <a:p>
            <a:pPr indent="0" marL="0">
              <a:buNone/>
            </a:pPr>
            <a:r>
              <a:rPr lang="en-US" sz="1150" dirty="0">
                <a:solidFill>
                  <a:srgbClr val="D8E2EC"/>
                </a:solidFill>
                <a:latin typeface="Calibri" pitchFamily="34" charset="0"/>
                <a:ea typeface="Calibri" pitchFamily="34" charset="-122"/>
                <a:cs typeface="Calibri" pitchFamily="34" charset="-120"/>
              </a:rPr>
              <a:t>Pengetahuan berupa basis kasus (case base) masa lalu</a:t>
            </a:r>
            <a:endParaRPr lang="en-US" sz="1150" dirty="0"/>
          </a:p>
        </p:txBody>
      </p:sp>
      <p:sp>
        <p:nvSpPr>
          <p:cNvPr id="13" name="Shape 11"/>
          <p:cNvSpPr/>
          <p:nvPr/>
        </p:nvSpPr>
        <p:spPr>
          <a:xfrm>
            <a:off x="822960" y="4983480"/>
            <a:ext cx="128016" cy="128016"/>
          </a:xfrm>
          <a:prstGeom prst="ellipse">
            <a:avLst/>
          </a:prstGeom>
          <a:solidFill>
            <a:srgbClr val="3DDC97"/>
          </a:solidFill>
          <a:ln/>
        </p:spPr>
      </p:sp>
      <p:sp>
        <p:nvSpPr>
          <p:cNvPr id="14" name="Text 12"/>
          <p:cNvSpPr txBox="1"/>
          <p:nvPr/>
        </p:nvSpPr>
        <p:spPr>
          <a:xfrm>
            <a:off x="1097280" y="4892040"/>
            <a:ext cx="3383280" cy="411480"/>
          </a:xfrm>
          <a:prstGeom prst="rect">
            <a:avLst/>
          </a:prstGeom>
          <a:noFill/>
          <a:ln/>
        </p:spPr>
        <p:txBody>
          <a:bodyPr wrap="square" lIns="0" tIns="0" rIns="0" bIns="0" rtlCol="0" anchor="t"/>
          <a:lstStyle/>
          <a:p>
            <a:pPr indent="0" marL="0">
              <a:buNone/>
            </a:pPr>
            <a:r>
              <a:rPr lang="en-US" sz="1150" dirty="0">
                <a:solidFill>
                  <a:srgbClr val="D8E2EC"/>
                </a:solidFill>
                <a:latin typeface="Calibri" pitchFamily="34" charset="0"/>
                <a:ea typeface="Calibri" pitchFamily="34" charset="-122"/>
                <a:cs typeface="Calibri" pitchFamily="34" charset="-120"/>
              </a:rPr>
              <a:t>Siklus retrieve – reuse – revise – retain</a:t>
            </a:r>
            <a:endParaRPr lang="en-US" sz="1150" dirty="0"/>
          </a:p>
        </p:txBody>
      </p:sp>
      <p:sp>
        <p:nvSpPr>
          <p:cNvPr id="15" name="Shape 13"/>
          <p:cNvSpPr/>
          <p:nvPr/>
        </p:nvSpPr>
        <p:spPr>
          <a:xfrm>
            <a:off x="822960" y="5440680"/>
            <a:ext cx="128016" cy="128016"/>
          </a:xfrm>
          <a:prstGeom prst="ellipse">
            <a:avLst/>
          </a:prstGeom>
          <a:solidFill>
            <a:srgbClr val="3DDC97"/>
          </a:solidFill>
          <a:ln/>
        </p:spPr>
      </p:sp>
      <p:sp>
        <p:nvSpPr>
          <p:cNvPr id="16" name="Text 14"/>
          <p:cNvSpPr txBox="1"/>
          <p:nvPr/>
        </p:nvSpPr>
        <p:spPr>
          <a:xfrm>
            <a:off x="1097280" y="5349240"/>
            <a:ext cx="3383280" cy="411480"/>
          </a:xfrm>
          <a:prstGeom prst="rect">
            <a:avLst/>
          </a:prstGeom>
          <a:noFill/>
          <a:ln/>
        </p:spPr>
        <p:txBody>
          <a:bodyPr wrap="square" lIns="0" tIns="0" rIns="0" bIns="0" rtlCol="0" anchor="t"/>
          <a:lstStyle/>
          <a:p>
            <a:pPr indent="0" marL="0">
              <a:buNone/>
            </a:pPr>
            <a:r>
              <a:rPr lang="en-US" sz="1150" dirty="0">
                <a:solidFill>
                  <a:srgbClr val="D8E2EC"/>
                </a:solidFill>
                <a:latin typeface="Calibri" pitchFamily="34" charset="0"/>
                <a:ea typeface="Calibri" pitchFamily="34" charset="-122"/>
                <a:cs typeface="Calibri" pitchFamily="34" charset="-120"/>
              </a:rPr>
              <a:t>Belajar dari pengalaman, bukan aturan eksplisit</a:t>
            </a:r>
            <a:endParaRPr lang="en-US" sz="1150" dirty="0"/>
          </a:p>
        </p:txBody>
      </p:sp>
      <p:sp>
        <p:nvSpPr>
          <p:cNvPr id="17" name="Shape 15"/>
          <p:cNvSpPr/>
          <p:nvPr/>
        </p:nvSpPr>
        <p:spPr>
          <a:xfrm>
            <a:off x="5029200" y="1737360"/>
            <a:ext cx="6492240" cy="4572000"/>
          </a:xfrm>
          <a:prstGeom prst="roundRect">
            <a:avLst>
              <a:gd name="adj" fmla="val 2400"/>
            </a:avLst>
          </a:prstGeom>
          <a:solidFill>
            <a:srgbClr val="FFFFFF"/>
          </a:solidFill>
          <a:ln w="12700">
            <a:solidFill>
              <a:srgbClr val="E3E9EF"/>
            </a:solidFill>
            <a:prstDash val="solid"/>
          </a:ln>
        </p:spPr>
      </p:sp>
      <p:sp>
        <p:nvSpPr>
          <p:cNvPr id="18" name="Shape 16"/>
          <p:cNvSpPr/>
          <p:nvPr/>
        </p:nvSpPr>
        <p:spPr>
          <a:xfrm>
            <a:off x="5285232" y="1993392"/>
            <a:ext cx="502920" cy="91440"/>
          </a:xfrm>
          <a:prstGeom prst="roundRect">
            <a:avLst>
              <a:gd name="adj" fmla="val 50000"/>
            </a:avLst>
          </a:prstGeom>
          <a:solidFill>
            <a:srgbClr val="0E7C7B"/>
          </a:solidFill>
          <a:ln/>
        </p:spPr>
      </p:sp>
      <p:sp>
        <p:nvSpPr>
          <p:cNvPr id="19" name="Text 17"/>
          <p:cNvSpPr txBox="1"/>
          <p:nvPr/>
        </p:nvSpPr>
        <p:spPr>
          <a:xfrm>
            <a:off x="5285232" y="2148840"/>
            <a:ext cx="594360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Alasan Pemilihan Tipe</a:t>
            </a:r>
            <a:endParaRPr lang="en-US" sz="1500" dirty="0"/>
          </a:p>
        </p:txBody>
      </p:sp>
      <p:sp>
        <p:nvSpPr>
          <p:cNvPr id="20" name="Text 18"/>
          <p:cNvSpPr txBox="1"/>
          <p:nvPr/>
        </p:nvSpPr>
        <p:spPr>
          <a:xfrm>
            <a:off x="5285232" y="2606040"/>
            <a:ext cx="5943600" cy="3566160"/>
          </a:xfrm>
          <a:prstGeom prst="rect">
            <a:avLst/>
          </a:prstGeom>
          <a:noFill/>
          <a:ln/>
        </p:spPr>
        <p:txBody>
          <a:bodyPr wrap="square" lIns="0" tIns="0" rIns="0" bIns="0" rtlCol="0" anchor="t"/>
          <a:lstStyle/>
          <a:p>
            <a:pPr indent="0" marL="0">
              <a:lnSpc>
                <a:spcPct val="125000"/>
              </a:lnSpc>
              <a:buNone/>
            </a:pPr>
            <a:r>
              <a:rPr lang="en-US" sz="1300" dirty="0">
                <a:solidFill>
                  <a:srgbClr val="1B1F27"/>
                </a:solidFill>
                <a:latin typeface="Calibri" pitchFamily="34" charset="0"/>
                <a:ea typeface="Calibri" pitchFamily="34" charset="-122"/>
                <a:cs typeface="Calibri" pitchFamily="34" charset="-120"/>
              </a:rPr>
              <a:t>Pada pendekatan Case-Based Reasoning, pengetahuan direpresentasikan sebagai kumpulan kasus (pengalaman) masa lalu beserta solusinya yang tersimpan dalam basis kasus (case base). Penyelesaian masalah baru dilakukan melalui proses retrieval kasus yang paling mirip, lalu diadaptasi (adaptation) agar sesuai konteks baru, dan hasilnya dapat disimpan kembali sebagai kasus baru (learning/retention) — mengikuti siklus klasik retrieve–reuse–revise–retain. Pendekatan ini berbeda dari sistem berbasis aturan eksplisit (rule-based) maupun pembelajaran statistik murni, karena penalarannya bertumpu pada analogi dan kemiripan kasus. Artikel ini secara eksplisit mengkaji integrasi mekanisme tersebut ke dalam agen LLM, sehingga tergolong tipe rekayasa pengetahuan Case-Based Reasoning.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2026-09-07T07:40:02Z</dcterms:created>
  <dcterms:modified xsi:type="dcterms:W3CDTF">2026-09-07T07:40:02Z</dcterms:modified>
</cp:coreProperties>
</file>