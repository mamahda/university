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Poppins Bold" charset="1" panose="00000800000000000000"/>
      <p:regular r:id="rId36"/>
    </p:embeddedFont>
    <p:embeddedFont>
      <p:font typeface="Poppins" charset="1" panose="000005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53.jpeg" Type="http://schemas.openxmlformats.org/officeDocument/2006/relationships/image"/><Relationship Id="rId6" Target="../media/image54.jpeg" Type="http://schemas.openxmlformats.org/officeDocument/2006/relationships/image"/><Relationship Id="rId7" Target="../media/image55.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https://www.atlassian.com/agile/software-development/software-deployment" TargetMode="External" Type="http://schemas.openxmlformats.org/officeDocument/2006/relationships/hyperlink"/><Relationship Id="rId5" Target="https://www.deployhq.com/blog/the-ultimate-deployment-checklist-ensuring-smooth-and-successful-releases"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10424866" y="287472"/>
            <a:ext cx="11364538" cy="8229600"/>
          </a:xfrm>
          <a:custGeom>
            <a:avLst/>
            <a:gdLst/>
            <a:ahLst/>
            <a:cxnLst/>
            <a:rect r="r" b="b" t="t" l="l"/>
            <a:pathLst>
              <a:path h="8229600" w="11364538">
                <a:moveTo>
                  <a:pt x="0" y="0"/>
                </a:moveTo>
                <a:lnTo>
                  <a:pt x="11364538" y="0"/>
                </a:lnTo>
                <a:lnTo>
                  <a:pt x="11364538" y="8229600"/>
                </a:lnTo>
                <a:lnTo>
                  <a:pt x="0" y="8229600"/>
                </a:lnTo>
                <a:lnTo>
                  <a:pt x="0" y="0"/>
                </a:lnTo>
                <a:close/>
              </a:path>
            </a:pathLst>
          </a:custGeom>
          <a:blipFill>
            <a:blip r:embed="rId3"/>
            <a:stretch>
              <a:fillRect l="0" t="-969" r="0" b="-969"/>
            </a:stretch>
          </a:blipFill>
        </p:spPr>
      </p:sp>
      <p:sp>
        <p:nvSpPr>
          <p:cNvPr name="Freeform 4" id="4"/>
          <p:cNvSpPr/>
          <p:nvPr/>
        </p:nvSpPr>
        <p:spPr>
          <a:xfrm flipH="false" flipV="false" rot="0">
            <a:off x="1174973" y="1357117"/>
            <a:ext cx="9465958" cy="7572766"/>
          </a:xfrm>
          <a:custGeom>
            <a:avLst/>
            <a:gdLst/>
            <a:ahLst/>
            <a:cxnLst/>
            <a:rect r="r" b="b" t="t" l="l"/>
            <a:pathLst>
              <a:path h="7572766" w="9465958">
                <a:moveTo>
                  <a:pt x="0" y="0"/>
                </a:moveTo>
                <a:lnTo>
                  <a:pt x="9465958" y="0"/>
                </a:lnTo>
                <a:lnTo>
                  <a:pt x="9465958" y="7572766"/>
                </a:lnTo>
                <a:lnTo>
                  <a:pt x="0" y="75727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9581084" y="2198028"/>
            <a:ext cx="8245295" cy="6395257"/>
          </a:xfrm>
          <a:custGeom>
            <a:avLst/>
            <a:gdLst/>
            <a:ahLst/>
            <a:cxnLst/>
            <a:rect r="r" b="b" t="t" l="l"/>
            <a:pathLst>
              <a:path h="6395257" w="8245295">
                <a:moveTo>
                  <a:pt x="8245295" y="0"/>
                </a:moveTo>
                <a:lnTo>
                  <a:pt x="0" y="0"/>
                </a:lnTo>
                <a:lnTo>
                  <a:pt x="0" y="6395257"/>
                </a:lnTo>
                <a:lnTo>
                  <a:pt x="8245295" y="6395257"/>
                </a:lnTo>
                <a:lnTo>
                  <a:pt x="8245295" y="0"/>
                </a:lnTo>
                <a:close/>
              </a:path>
            </a:pathLst>
          </a:custGeom>
          <a:blipFill>
            <a:blip r:embed="rId6"/>
            <a:stretch>
              <a:fillRect l="0" t="0" r="0" b="0"/>
            </a:stretch>
          </a:blipFill>
        </p:spPr>
      </p:sp>
      <p:grpSp>
        <p:nvGrpSpPr>
          <p:cNvPr name="Group 6" id="6"/>
          <p:cNvGrpSpPr/>
          <p:nvPr/>
        </p:nvGrpSpPr>
        <p:grpSpPr>
          <a:xfrm rot="0">
            <a:off x="-970336" y="9503317"/>
            <a:ext cx="19527875" cy="3086100"/>
            <a:chOff x="0" y="0"/>
            <a:chExt cx="5143144" cy="812800"/>
          </a:xfrm>
        </p:grpSpPr>
        <p:sp>
          <p:nvSpPr>
            <p:cNvPr name="Freeform 7" id="7"/>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8" id="8"/>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9" id="9"/>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977842" y="3400913"/>
            <a:ext cx="7697580" cy="2508118"/>
          </a:xfrm>
          <a:prstGeom prst="rect">
            <a:avLst/>
          </a:prstGeom>
        </p:spPr>
        <p:txBody>
          <a:bodyPr anchor="t" rtlCol="false" tIns="0" lIns="0" bIns="0" rIns="0">
            <a:spAutoFit/>
          </a:bodyPr>
          <a:lstStyle/>
          <a:p>
            <a:pPr algn="l">
              <a:lnSpc>
                <a:spcPts val="9301"/>
              </a:lnSpc>
            </a:pPr>
            <a:r>
              <a:rPr lang="en-US" sz="9209" b="true">
                <a:solidFill>
                  <a:srgbClr val="16456A"/>
                </a:solidFill>
                <a:latin typeface="Poppins Bold"/>
                <a:ea typeface="Poppins Bold"/>
                <a:cs typeface="Poppins Bold"/>
                <a:sym typeface="Poppins Bold"/>
              </a:rPr>
              <a:t>Software</a:t>
            </a:r>
          </a:p>
          <a:p>
            <a:pPr algn="l">
              <a:lnSpc>
                <a:spcPts val="9301"/>
              </a:lnSpc>
            </a:pPr>
            <a:r>
              <a:rPr lang="en-US" sz="9209" b="true">
                <a:solidFill>
                  <a:srgbClr val="16456A"/>
                </a:solidFill>
                <a:latin typeface="Poppins Bold"/>
                <a:ea typeface="Poppins Bold"/>
                <a:cs typeface="Poppins Bold"/>
                <a:sym typeface="Poppins Bold"/>
              </a:rPr>
              <a:t>Deployment</a:t>
            </a:r>
          </a:p>
        </p:txBody>
      </p:sp>
      <p:sp>
        <p:nvSpPr>
          <p:cNvPr name="TextBox 12" id="12"/>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001</a:t>
            </a:r>
          </a:p>
        </p:txBody>
      </p:sp>
      <p:sp>
        <p:nvSpPr>
          <p:cNvPr name="TextBox 13" id="13"/>
          <p:cNvSpPr txBox="true"/>
          <p:nvPr/>
        </p:nvSpPr>
        <p:spPr>
          <a:xfrm rot="0">
            <a:off x="1977842" y="6093259"/>
            <a:ext cx="6437815" cy="459439"/>
          </a:xfrm>
          <a:prstGeom prst="rect">
            <a:avLst/>
          </a:prstGeom>
        </p:spPr>
        <p:txBody>
          <a:bodyPr anchor="t" rtlCol="false" tIns="0" lIns="0" bIns="0" rIns="0">
            <a:spAutoFit/>
          </a:bodyPr>
          <a:lstStyle/>
          <a:p>
            <a:pPr algn="l">
              <a:lnSpc>
                <a:spcPts val="3551"/>
              </a:lnSpc>
            </a:pPr>
            <a:r>
              <a:rPr lang="en-US" sz="2536">
                <a:solidFill>
                  <a:srgbClr val="16456A"/>
                </a:solidFill>
                <a:latin typeface="Poppins"/>
                <a:ea typeface="Poppins"/>
                <a:cs typeface="Poppins"/>
                <a:sym typeface="Poppins"/>
              </a:rPr>
              <a:t>KPPL B05</a:t>
            </a:r>
          </a:p>
        </p:txBody>
      </p:sp>
      <p:sp>
        <p:nvSpPr>
          <p:cNvPr name="Freeform 14" id="14"/>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8793602" y="2463126"/>
            <a:ext cx="4739926"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Anggota :</a:t>
            </a:r>
          </a:p>
        </p:txBody>
      </p:sp>
      <p:sp>
        <p:nvSpPr>
          <p:cNvPr name="Freeform 8" id="8"/>
          <p:cNvSpPr/>
          <p:nvPr/>
        </p:nvSpPr>
        <p:spPr>
          <a:xfrm flipH="false" flipV="false" rot="0">
            <a:off x="1338939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808619"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622784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05519" y="1985433"/>
            <a:ext cx="6207781" cy="6481964"/>
          </a:xfrm>
          <a:custGeom>
            <a:avLst/>
            <a:gdLst/>
            <a:ahLst/>
            <a:cxnLst/>
            <a:rect r="r" b="b" t="t" l="l"/>
            <a:pathLst>
              <a:path h="6481964" w="6207781">
                <a:moveTo>
                  <a:pt x="0" y="0"/>
                </a:moveTo>
                <a:lnTo>
                  <a:pt x="6207781" y="0"/>
                </a:lnTo>
                <a:lnTo>
                  <a:pt x="6207781" y="6481964"/>
                </a:lnTo>
                <a:lnTo>
                  <a:pt x="0" y="64819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95592" y="4528231"/>
            <a:ext cx="3321630" cy="4114800"/>
          </a:xfrm>
          <a:custGeom>
            <a:avLst/>
            <a:gdLst/>
            <a:ahLst/>
            <a:cxnLst/>
            <a:rect r="r" b="b" t="t" l="l"/>
            <a:pathLst>
              <a:path h="4114800" w="3321630">
                <a:moveTo>
                  <a:pt x="0" y="0"/>
                </a:moveTo>
                <a:lnTo>
                  <a:pt x="3321630" y="0"/>
                </a:lnTo>
                <a:lnTo>
                  <a:pt x="332163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184498"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002</a:t>
            </a:r>
          </a:p>
        </p:txBody>
      </p:sp>
      <p:sp>
        <p:nvSpPr>
          <p:cNvPr name="TextBox 14" id="14"/>
          <p:cNvSpPr txBox="true"/>
          <p:nvPr/>
        </p:nvSpPr>
        <p:spPr>
          <a:xfrm rot="0">
            <a:off x="9606184" y="4155172"/>
            <a:ext cx="7984115"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Pradhipta Raja Mahendra (5025241055)</a:t>
            </a:r>
          </a:p>
        </p:txBody>
      </p:sp>
      <p:sp>
        <p:nvSpPr>
          <p:cNvPr name="TextBox 15" id="15"/>
          <p:cNvSpPr txBox="true"/>
          <p:nvPr/>
        </p:nvSpPr>
        <p:spPr>
          <a:xfrm rot="0">
            <a:off x="9606184" y="5145457"/>
            <a:ext cx="7984115"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Gilbran Mahdavikia Raja (5025241134)</a:t>
            </a:r>
          </a:p>
        </p:txBody>
      </p:sp>
      <p:sp>
        <p:nvSpPr>
          <p:cNvPr name="TextBox 16" id="16"/>
          <p:cNvSpPr txBox="true"/>
          <p:nvPr/>
        </p:nvSpPr>
        <p:spPr>
          <a:xfrm rot="0">
            <a:off x="9606184" y="6119797"/>
            <a:ext cx="7984115"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Shabrina Amalia Safaana (5025241157)</a:t>
            </a:r>
          </a:p>
        </p:txBody>
      </p:sp>
      <p:sp>
        <p:nvSpPr>
          <p:cNvPr name="TextBox 17" id="17"/>
          <p:cNvSpPr txBox="true"/>
          <p:nvPr/>
        </p:nvSpPr>
        <p:spPr>
          <a:xfrm rot="0">
            <a:off x="9606184" y="7094137"/>
            <a:ext cx="7984115"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Aqil Syafiq Dzaky (5025251200)</a:t>
            </a:r>
          </a:p>
        </p:txBody>
      </p:sp>
      <p:sp>
        <p:nvSpPr>
          <p:cNvPr name="Freeform 18" id="18"/>
          <p:cNvSpPr/>
          <p:nvPr/>
        </p:nvSpPr>
        <p:spPr>
          <a:xfrm flipH="false" flipV="false" rot="0">
            <a:off x="8812707" y="4136122"/>
            <a:ext cx="440470" cy="440470"/>
          </a:xfrm>
          <a:custGeom>
            <a:avLst/>
            <a:gdLst/>
            <a:ahLst/>
            <a:cxnLst/>
            <a:rect r="r" b="b" t="t" l="l"/>
            <a:pathLst>
              <a:path h="440470" w="440470">
                <a:moveTo>
                  <a:pt x="0" y="0"/>
                </a:moveTo>
                <a:lnTo>
                  <a:pt x="440470" y="0"/>
                </a:lnTo>
                <a:lnTo>
                  <a:pt x="440470" y="440469"/>
                </a:lnTo>
                <a:lnTo>
                  <a:pt x="0" y="4404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8812707" y="5164943"/>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8812707" y="6100747"/>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8812707" y="7075087"/>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0586136" y="2892999"/>
            <a:ext cx="7971403" cy="5594476"/>
          </a:xfrm>
          <a:custGeom>
            <a:avLst/>
            <a:gdLst/>
            <a:ahLst/>
            <a:cxnLst/>
            <a:rect r="r" b="b" t="t" l="l"/>
            <a:pathLst>
              <a:path h="5594476" w="7971403">
                <a:moveTo>
                  <a:pt x="0" y="0"/>
                </a:moveTo>
                <a:lnTo>
                  <a:pt x="7971403" y="0"/>
                </a:lnTo>
                <a:lnTo>
                  <a:pt x="7971403" y="5594476"/>
                </a:lnTo>
                <a:lnTo>
                  <a:pt x="0" y="55944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93050"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812275"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231500"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6333845" y="3758476"/>
            <a:ext cx="2995476" cy="1568540"/>
          </a:xfrm>
          <a:custGeom>
            <a:avLst/>
            <a:gdLst/>
            <a:ahLst/>
            <a:cxnLst/>
            <a:rect r="r" b="b" t="t" l="l"/>
            <a:pathLst>
              <a:path h="1568540" w="2995476">
                <a:moveTo>
                  <a:pt x="0" y="0"/>
                </a:moveTo>
                <a:lnTo>
                  <a:pt x="2995477" y="0"/>
                </a:lnTo>
                <a:lnTo>
                  <a:pt x="2995477" y="1568540"/>
                </a:lnTo>
                <a:lnTo>
                  <a:pt x="0" y="15685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19402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003</a:t>
            </a:r>
          </a:p>
        </p:txBody>
      </p:sp>
      <p:sp>
        <p:nvSpPr>
          <p:cNvPr name="TextBox 14" id="14"/>
          <p:cNvSpPr txBox="true"/>
          <p:nvPr/>
        </p:nvSpPr>
        <p:spPr>
          <a:xfrm rot="0">
            <a:off x="1974308" y="2215728"/>
            <a:ext cx="6390324"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Deployment</a:t>
            </a:r>
          </a:p>
        </p:txBody>
      </p:sp>
      <p:sp>
        <p:nvSpPr>
          <p:cNvPr name="TextBox 15" id="15"/>
          <p:cNvSpPr txBox="true"/>
          <p:nvPr/>
        </p:nvSpPr>
        <p:spPr>
          <a:xfrm rot="0">
            <a:off x="2788057" y="4343782"/>
            <a:ext cx="7397031" cy="3900462"/>
          </a:xfrm>
          <a:prstGeom prst="rect">
            <a:avLst/>
          </a:prstGeom>
        </p:spPr>
        <p:txBody>
          <a:bodyPr anchor="t" rtlCol="false" tIns="0" lIns="0" bIns="0" rIns="0">
            <a:spAutoFit/>
          </a:bodyPr>
          <a:lstStyle/>
          <a:p>
            <a:pPr algn="l">
              <a:lnSpc>
                <a:spcPts val="2191"/>
              </a:lnSpc>
            </a:pPr>
            <a:r>
              <a:rPr lang="en-US" sz="2169">
                <a:solidFill>
                  <a:srgbClr val="368CD1"/>
                </a:solidFill>
                <a:latin typeface="Poppins"/>
                <a:ea typeface="Poppins"/>
                <a:cs typeface="Poppins"/>
                <a:sym typeface="Poppins"/>
              </a:rPr>
              <a:t>Deployment adalah proses membuat perangkat lunak atau aplikasi web siap digunakan dan berjalan pada lingkungan target (seperti server produksi). Proses ini mencakup serangkaian tahapan yang memastikan aplikasi berfungsi dengan baik, aman, dan dapat diakses oleh pengguna akhir.</a:t>
            </a:r>
          </a:p>
          <a:p>
            <a:pPr algn="l">
              <a:lnSpc>
                <a:spcPts val="2191"/>
              </a:lnSpc>
            </a:pPr>
            <a:r>
              <a:rPr lang="en-US" sz="2169">
                <a:solidFill>
                  <a:srgbClr val="368CD1"/>
                </a:solidFill>
                <a:latin typeface="Poppins"/>
                <a:ea typeface="Poppins"/>
                <a:cs typeface="Poppins"/>
                <a:sym typeface="Poppins"/>
              </a:rPr>
              <a:t>Secara umum, tahapan deployment dapat dibagi menjadi empat fase utama:</a:t>
            </a:r>
          </a:p>
          <a:p>
            <a:pPr algn="l">
              <a:lnSpc>
                <a:spcPts val="2191"/>
              </a:lnSpc>
            </a:pPr>
          </a:p>
          <a:p>
            <a:pPr algn="l" marL="468502" indent="-234251" lvl="1">
              <a:lnSpc>
                <a:spcPts val="2191"/>
              </a:lnSpc>
              <a:buAutoNum type="arabicPeriod" startAt="1"/>
            </a:pPr>
            <a:r>
              <a:rPr lang="en-US" sz="2169">
                <a:solidFill>
                  <a:srgbClr val="368CD1"/>
                </a:solidFill>
                <a:latin typeface="Poppins"/>
                <a:ea typeface="Poppins"/>
                <a:cs typeface="Poppins"/>
                <a:sym typeface="Poppins"/>
              </a:rPr>
              <a:t>Preparation (Persiapan).</a:t>
            </a:r>
          </a:p>
          <a:p>
            <a:pPr algn="l" marL="468502" indent="-234251" lvl="1">
              <a:lnSpc>
                <a:spcPts val="2191"/>
              </a:lnSpc>
              <a:buAutoNum type="arabicPeriod" startAt="1"/>
            </a:pPr>
            <a:r>
              <a:rPr lang="en-US" sz="2169">
                <a:solidFill>
                  <a:srgbClr val="368CD1"/>
                </a:solidFill>
                <a:latin typeface="Poppins"/>
                <a:ea typeface="Poppins"/>
                <a:cs typeface="Poppins"/>
                <a:sym typeface="Poppins"/>
              </a:rPr>
              <a:t>Migration (Migrasi).</a:t>
            </a:r>
          </a:p>
          <a:p>
            <a:pPr algn="l" marL="468502" indent="-234251" lvl="1">
              <a:lnSpc>
                <a:spcPts val="2191"/>
              </a:lnSpc>
              <a:buAutoNum type="arabicPeriod" startAt="1"/>
            </a:pPr>
            <a:r>
              <a:rPr lang="en-US" sz="2169">
                <a:solidFill>
                  <a:srgbClr val="368CD1"/>
                </a:solidFill>
                <a:latin typeface="Poppins"/>
                <a:ea typeface="Poppins"/>
                <a:cs typeface="Poppins"/>
                <a:sym typeface="Poppins"/>
              </a:rPr>
              <a:t>Installation (Instalasi).</a:t>
            </a:r>
          </a:p>
          <a:p>
            <a:pPr algn="l" marL="468502" indent="-234251" lvl="1">
              <a:lnSpc>
                <a:spcPts val="2191"/>
              </a:lnSpc>
              <a:buAutoNum type="arabicPeriod" startAt="1"/>
            </a:pPr>
            <a:r>
              <a:rPr lang="en-US" sz="2169">
                <a:solidFill>
                  <a:srgbClr val="368CD1"/>
                </a:solidFill>
                <a:latin typeface="Poppins"/>
                <a:ea typeface="Poppins"/>
                <a:cs typeface="Poppins"/>
                <a:sym typeface="Poppins"/>
              </a:rPr>
              <a:t>Hosting (Penempatan Aplikasi).</a:t>
            </a:r>
          </a:p>
          <a:p>
            <a:pPr algn="l">
              <a:lnSpc>
                <a:spcPts val="2191"/>
              </a:lnSpc>
            </a:pPr>
          </a:p>
        </p:txBody>
      </p:sp>
      <p:sp>
        <p:nvSpPr>
          <p:cNvPr name="Freeform 16" id="16"/>
          <p:cNvSpPr/>
          <p:nvPr/>
        </p:nvSpPr>
        <p:spPr>
          <a:xfrm flipH="false" flipV="false" rot="0">
            <a:off x="11450189" y="3341937"/>
            <a:ext cx="2995476" cy="1568540"/>
          </a:xfrm>
          <a:custGeom>
            <a:avLst/>
            <a:gdLst/>
            <a:ahLst/>
            <a:cxnLst/>
            <a:rect r="r" b="b" t="t" l="l"/>
            <a:pathLst>
              <a:path h="1568540" w="2995476">
                <a:moveTo>
                  <a:pt x="0" y="0"/>
                </a:moveTo>
                <a:lnTo>
                  <a:pt x="2995477" y="0"/>
                </a:lnTo>
                <a:lnTo>
                  <a:pt x="2995477" y="1568540"/>
                </a:lnTo>
                <a:lnTo>
                  <a:pt x="0" y="15685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2076738" y="4542746"/>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7967801" y="2453601"/>
            <a:ext cx="7564867" cy="1757045"/>
          </a:xfrm>
          <a:prstGeom prst="rect">
            <a:avLst/>
          </a:prstGeom>
        </p:spPr>
        <p:txBody>
          <a:bodyPr anchor="t" rtlCol="false" tIns="0" lIns="0" bIns="0" rIns="0">
            <a:spAutoFit/>
          </a:bodyPr>
          <a:lstStyle/>
          <a:p>
            <a:pPr algn="l">
              <a:lnSpc>
                <a:spcPts val="6565"/>
              </a:lnSpc>
            </a:pPr>
            <a:r>
              <a:rPr lang="en-US" sz="6500" b="true">
                <a:solidFill>
                  <a:srgbClr val="16456A"/>
                </a:solidFill>
                <a:latin typeface="Poppins Bold"/>
                <a:ea typeface="Poppins Bold"/>
                <a:cs typeface="Poppins Bold"/>
                <a:sym typeface="Poppins Bold"/>
              </a:rPr>
              <a:t>Deployment Phase:</a:t>
            </a:r>
          </a:p>
        </p:txBody>
      </p:sp>
      <p:sp>
        <p:nvSpPr>
          <p:cNvPr name="Freeform 8" id="8"/>
          <p:cNvSpPr/>
          <p:nvPr/>
        </p:nvSpPr>
        <p:spPr>
          <a:xfrm flipH="false" flipV="false" rot="0">
            <a:off x="1338939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808619"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622784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605519" y="1985433"/>
            <a:ext cx="6207781" cy="6481964"/>
          </a:xfrm>
          <a:custGeom>
            <a:avLst/>
            <a:gdLst/>
            <a:ahLst/>
            <a:cxnLst/>
            <a:rect r="r" b="b" t="t" l="l"/>
            <a:pathLst>
              <a:path h="6481964" w="6207781">
                <a:moveTo>
                  <a:pt x="0" y="0"/>
                </a:moveTo>
                <a:lnTo>
                  <a:pt x="6207781" y="0"/>
                </a:lnTo>
                <a:lnTo>
                  <a:pt x="6207781" y="6481964"/>
                </a:lnTo>
                <a:lnTo>
                  <a:pt x="0" y="64819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95592" y="4528231"/>
            <a:ext cx="3321630" cy="4114800"/>
          </a:xfrm>
          <a:custGeom>
            <a:avLst/>
            <a:gdLst/>
            <a:ahLst/>
            <a:cxnLst/>
            <a:rect r="r" b="b" t="t" l="l"/>
            <a:pathLst>
              <a:path h="4114800" w="3321630">
                <a:moveTo>
                  <a:pt x="0" y="0"/>
                </a:moveTo>
                <a:lnTo>
                  <a:pt x="3321630" y="0"/>
                </a:lnTo>
                <a:lnTo>
                  <a:pt x="332163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184498"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004</a:t>
            </a:r>
          </a:p>
          <a:p>
            <a:pPr algn="l">
              <a:lnSpc>
                <a:spcPts val="1637"/>
              </a:lnSpc>
            </a:pPr>
          </a:p>
        </p:txBody>
      </p:sp>
      <p:sp>
        <p:nvSpPr>
          <p:cNvPr name="TextBox 14" id="14"/>
          <p:cNvSpPr txBox="true"/>
          <p:nvPr/>
        </p:nvSpPr>
        <p:spPr>
          <a:xfrm rot="0">
            <a:off x="9587079" y="4547281"/>
            <a:ext cx="4945260"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Preparation</a:t>
            </a:r>
          </a:p>
        </p:txBody>
      </p:sp>
      <p:sp>
        <p:nvSpPr>
          <p:cNvPr name="TextBox 15" id="15"/>
          <p:cNvSpPr txBox="true"/>
          <p:nvPr/>
        </p:nvSpPr>
        <p:spPr>
          <a:xfrm rot="0">
            <a:off x="9587079" y="5537566"/>
            <a:ext cx="4945260"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Migration</a:t>
            </a:r>
          </a:p>
        </p:txBody>
      </p:sp>
      <p:sp>
        <p:nvSpPr>
          <p:cNvPr name="TextBox 16" id="16"/>
          <p:cNvSpPr txBox="true"/>
          <p:nvPr/>
        </p:nvSpPr>
        <p:spPr>
          <a:xfrm rot="0">
            <a:off x="9587079" y="6511907"/>
            <a:ext cx="4945260"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Installation</a:t>
            </a:r>
          </a:p>
        </p:txBody>
      </p:sp>
      <p:sp>
        <p:nvSpPr>
          <p:cNvPr name="TextBox 17" id="17"/>
          <p:cNvSpPr txBox="true"/>
          <p:nvPr/>
        </p:nvSpPr>
        <p:spPr>
          <a:xfrm rot="0">
            <a:off x="9587079" y="7486247"/>
            <a:ext cx="4945260" cy="39073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Hosting</a:t>
            </a:r>
          </a:p>
        </p:txBody>
      </p:sp>
      <p:sp>
        <p:nvSpPr>
          <p:cNvPr name="Freeform 18" id="18"/>
          <p:cNvSpPr/>
          <p:nvPr/>
        </p:nvSpPr>
        <p:spPr>
          <a:xfrm flipH="false" flipV="false" rot="0">
            <a:off x="8793602" y="4528231"/>
            <a:ext cx="440470" cy="440470"/>
          </a:xfrm>
          <a:custGeom>
            <a:avLst/>
            <a:gdLst/>
            <a:ahLst/>
            <a:cxnLst/>
            <a:rect r="r" b="b" t="t" l="l"/>
            <a:pathLst>
              <a:path h="440470" w="440470">
                <a:moveTo>
                  <a:pt x="0" y="0"/>
                </a:moveTo>
                <a:lnTo>
                  <a:pt x="440469" y="0"/>
                </a:lnTo>
                <a:lnTo>
                  <a:pt x="440469"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8793602" y="5557053"/>
            <a:ext cx="440470" cy="440470"/>
          </a:xfrm>
          <a:custGeom>
            <a:avLst/>
            <a:gdLst/>
            <a:ahLst/>
            <a:cxnLst/>
            <a:rect r="r" b="b" t="t" l="l"/>
            <a:pathLst>
              <a:path h="440470" w="440470">
                <a:moveTo>
                  <a:pt x="0" y="0"/>
                </a:moveTo>
                <a:lnTo>
                  <a:pt x="440469" y="0"/>
                </a:lnTo>
                <a:lnTo>
                  <a:pt x="440469"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8793602" y="6492857"/>
            <a:ext cx="440470" cy="440470"/>
          </a:xfrm>
          <a:custGeom>
            <a:avLst/>
            <a:gdLst/>
            <a:ahLst/>
            <a:cxnLst/>
            <a:rect r="r" b="b" t="t" l="l"/>
            <a:pathLst>
              <a:path h="440470" w="440470">
                <a:moveTo>
                  <a:pt x="0" y="0"/>
                </a:moveTo>
                <a:lnTo>
                  <a:pt x="440469" y="0"/>
                </a:lnTo>
                <a:lnTo>
                  <a:pt x="440469"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8793602" y="7467197"/>
            <a:ext cx="440470" cy="440470"/>
          </a:xfrm>
          <a:custGeom>
            <a:avLst/>
            <a:gdLst/>
            <a:ahLst/>
            <a:cxnLst/>
            <a:rect r="r" b="b" t="t" l="l"/>
            <a:pathLst>
              <a:path h="440470" w="440470">
                <a:moveTo>
                  <a:pt x="0" y="0"/>
                </a:moveTo>
                <a:lnTo>
                  <a:pt x="440469" y="0"/>
                </a:lnTo>
                <a:lnTo>
                  <a:pt x="440469"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28700" y="1215957"/>
            <a:ext cx="6789172" cy="7450394"/>
          </a:xfrm>
          <a:custGeom>
            <a:avLst/>
            <a:gdLst/>
            <a:ahLst/>
            <a:cxnLst/>
            <a:rect r="r" b="b" t="t" l="l"/>
            <a:pathLst>
              <a:path h="7450394" w="6789172">
                <a:moveTo>
                  <a:pt x="0" y="0"/>
                </a:moveTo>
                <a:lnTo>
                  <a:pt x="6789172" y="0"/>
                </a:lnTo>
                <a:lnTo>
                  <a:pt x="6789172" y="7450395"/>
                </a:lnTo>
                <a:lnTo>
                  <a:pt x="0" y="7450395"/>
                </a:lnTo>
                <a:lnTo>
                  <a:pt x="0" y="0"/>
                </a:lnTo>
                <a:close/>
              </a:path>
            </a:pathLst>
          </a:custGeom>
          <a:blipFill>
            <a:blip r:embed="rId5"/>
            <a:stretch>
              <a:fillRect l="0" t="0" r="0" b="0"/>
            </a:stretch>
          </a:blipFill>
        </p:spPr>
      </p:sp>
      <p:sp>
        <p:nvSpPr>
          <p:cNvPr name="TextBox 8" id="8"/>
          <p:cNvSpPr txBox="true"/>
          <p:nvPr/>
        </p:nvSpPr>
        <p:spPr>
          <a:xfrm rot="0">
            <a:off x="1174973"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005</a:t>
            </a:r>
          </a:p>
          <a:p>
            <a:pPr algn="l">
              <a:lnSpc>
                <a:spcPts val="1637"/>
              </a:lnSpc>
            </a:pPr>
          </a:p>
        </p:txBody>
      </p:sp>
      <p:sp>
        <p:nvSpPr>
          <p:cNvPr name="TextBox 9" id="9"/>
          <p:cNvSpPr txBox="true"/>
          <p:nvPr/>
        </p:nvSpPr>
        <p:spPr>
          <a:xfrm rot="0">
            <a:off x="8793602" y="2084133"/>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Preparation</a:t>
            </a:r>
          </a:p>
        </p:txBody>
      </p:sp>
      <p:sp>
        <p:nvSpPr>
          <p:cNvPr name="TextBox 10" id="10"/>
          <p:cNvSpPr txBox="true"/>
          <p:nvPr/>
        </p:nvSpPr>
        <p:spPr>
          <a:xfrm rot="0">
            <a:off x="8793602" y="3452783"/>
            <a:ext cx="7397031" cy="3624292"/>
          </a:xfrm>
          <a:prstGeom prst="rect">
            <a:avLst/>
          </a:prstGeom>
        </p:spPr>
        <p:txBody>
          <a:bodyPr anchor="t" rtlCol="false" tIns="0" lIns="0" bIns="0" rIns="0">
            <a:spAutoFit/>
          </a:bodyPr>
          <a:lstStyle/>
          <a:p>
            <a:pPr algn="l">
              <a:lnSpc>
                <a:spcPts val="2194"/>
              </a:lnSpc>
            </a:pPr>
            <a:r>
              <a:rPr lang="en-US" sz="2172">
                <a:solidFill>
                  <a:srgbClr val="368CD1"/>
                </a:solidFill>
                <a:latin typeface="Poppins"/>
                <a:ea typeface="Poppins"/>
                <a:cs typeface="Poppins"/>
                <a:sym typeface="Poppins"/>
              </a:rPr>
              <a:t>Tahap preparation adalah fase awal dalam proses web deployment yang berfokus pada memastikan bahwa kode aplikasi, lingkungan server, serta keamanan sistem sudah siap sebelum dipublikasikan ke lingkungan produksi. Langkah ini penting untuk mengurangi risiko kegagalan dan menjaga kestabilan sistem.</a:t>
            </a:r>
          </a:p>
          <a:p>
            <a:pPr algn="l">
              <a:lnSpc>
                <a:spcPts val="2194"/>
              </a:lnSpc>
            </a:pPr>
          </a:p>
          <a:p>
            <a:pPr algn="l">
              <a:lnSpc>
                <a:spcPts val="2194"/>
              </a:lnSpc>
            </a:pPr>
            <a:r>
              <a:rPr lang="en-US" sz="2172">
                <a:solidFill>
                  <a:srgbClr val="368CD1"/>
                </a:solidFill>
                <a:latin typeface="Poppins"/>
                <a:ea typeface="Poppins"/>
                <a:cs typeface="Poppins"/>
                <a:sym typeface="Poppins"/>
              </a:rPr>
              <a:t>Langkah-langkah:</a:t>
            </a:r>
          </a:p>
          <a:p>
            <a:pPr algn="l" marL="468996" indent="-234498" lvl="1">
              <a:lnSpc>
                <a:spcPts val="2194"/>
              </a:lnSpc>
              <a:buAutoNum type="arabicPeriod" startAt="1"/>
            </a:pPr>
            <a:r>
              <a:rPr lang="en-US" sz="2172">
                <a:solidFill>
                  <a:srgbClr val="368CD1"/>
                </a:solidFill>
                <a:latin typeface="Poppins"/>
                <a:ea typeface="Poppins"/>
                <a:cs typeface="Poppins"/>
                <a:sym typeface="Poppins"/>
              </a:rPr>
              <a:t>Code Review and Preparation.</a:t>
            </a:r>
          </a:p>
          <a:p>
            <a:pPr algn="l" marL="468996" indent="-234498" lvl="1">
              <a:lnSpc>
                <a:spcPts val="2194"/>
              </a:lnSpc>
              <a:buAutoNum type="arabicPeriod" startAt="1"/>
            </a:pPr>
            <a:r>
              <a:rPr lang="en-US" sz="2172">
                <a:solidFill>
                  <a:srgbClr val="368CD1"/>
                </a:solidFill>
                <a:latin typeface="Poppins"/>
                <a:ea typeface="Poppins"/>
                <a:cs typeface="Poppins"/>
                <a:sym typeface="Poppins"/>
              </a:rPr>
              <a:t>Environment Checks.</a:t>
            </a:r>
          </a:p>
          <a:p>
            <a:pPr algn="l" marL="468996" indent="-234498" lvl="1">
              <a:lnSpc>
                <a:spcPts val="2194"/>
              </a:lnSpc>
              <a:buAutoNum type="arabicPeriod" startAt="1"/>
            </a:pPr>
            <a:r>
              <a:rPr lang="en-US" sz="2172">
                <a:solidFill>
                  <a:srgbClr val="368CD1"/>
                </a:solidFill>
                <a:latin typeface="Poppins"/>
                <a:ea typeface="Poppins"/>
                <a:cs typeface="Poppins"/>
                <a:sym typeface="Poppins"/>
              </a:rPr>
              <a:t>Performance and </a:t>
            </a:r>
            <a:r>
              <a:rPr lang="en-US" sz="2172">
                <a:solidFill>
                  <a:srgbClr val="368CD1"/>
                </a:solidFill>
                <a:latin typeface="Poppins"/>
                <a:ea typeface="Poppins"/>
                <a:cs typeface="Poppins"/>
                <a:sym typeface="Poppins"/>
              </a:rPr>
              <a:t>Security.</a:t>
            </a:r>
          </a:p>
          <a:p>
            <a:pPr algn="l" marL="468996" indent="-234498" lvl="1">
              <a:lnSpc>
                <a:spcPts val="2194"/>
              </a:lnSpc>
              <a:buAutoNum type="arabicPeriod" startAt="1"/>
            </a:pPr>
            <a:r>
              <a:rPr lang="en-US" sz="2172">
                <a:solidFill>
                  <a:srgbClr val="368CD1"/>
                </a:solidFill>
                <a:latin typeface="Poppins"/>
                <a:ea typeface="Poppins"/>
                <a:cs typeface="Poppins"/>
                <a:sym typeface="Poppins"/>
              </a:rPr>
              <a:t>B</a:t>
            </a:r>
            <a:r>
              <a:rPr lang="en-US" sz="2172">
                <a:solidFill>
                  <a:srgbClr val="368CD1"/>
                </a:solidFill>
                <a:latin typeface="Poppins"/>
                <a:ea typeface="Poppins"/>
                <a:cs typeface="Poppins"/>
                <a:sym typeface="Poppins"/>
              </a:rPr>
              <a:t>ackup and Rollback Preparation.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344004" y="-4227277"/>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stretch>
              <a:fillRect l="0" t="-969" r="0" b="-969"/>
            </a:stretch>
          </a:blipFill>
        </p:spPr>
      </p:sp>
      <p:sp>
        <p:nvSpPr>
          <p:cNvPr name="Freeform 8" id="8"/>
          <p:cNvSpPr/>
          <p:nvPr/>
        </p:nvSpPr>
        <p:spPr>
          <a:xfrm flipH="false" flipV="false" rot="0">
            <a:off x="2098965" y="3158369"/>
            <a:ext cx="1411466" cy="623611"/>
          </a:xfrm>
          <a:custGeom>
            <a:avLst/>
            <a:gdLst/>
            <a:ahLst/>
            <a:cxnLst/>
            <a:rect r="r" b="b" t="t" l="l"/>
            <a:pathLst>
              <a:path h="623611" w="1411466">
                <a:moveTo>
                  <a:pt x="0" y="0"/>
                </a:moveTo>
                <a:lnTo>
                  <a:pt x="1411465" y="0"/>
                </a:lnTo>
                <a:lnTo>
                  <a:pt x="1411465" y="623611"/>
                </a:lnTo>
                <a:lnTo>
                  <a:pt x="0" y="62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570149" y="1100969"/>
            <a:ext cx="2827990" cy="4114800"/>
          </a:xfrm>
          <a:custGeom>
            <a:avLst/>
            <a:gdLst/>
            <a:ahLst/>
            <a:cxnLst/>
            <a:rect r="r" b="b" t="t" l="l"/>
            <a:pathLst>
              <a:path h="4114800" w="2827990">
                <a:moveTo>
                  <a:pt x="0" y="0"/>
                </a:moveTo>
                <a:lnTo>
                  <a:pt x="2827990" y="0"/>
                </a:lnTo>
                <a:lnTo>
                  <a:pt x="282799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357939" y="1028700"/>
            <a:ext cx="1336670" cy="1630085"/>
          </a:xfrm>
          <a:custGeom>
            <a:avLst/>
            <a:gdLst/>
            <a:ahLst/>
            <a:cxnLst/>
            <a:rect r="r" b="b" t="t" l="l"/>
            <a:pathLst>
              <a:path h="1630085" w="1336670">
                <a:moveTo>
                  <a:pt x="0" y="0"/>
                </a:moveTo>
                <a:lnTo>
                  <a:pt x="1336669" y="0"/>
                </a:lnTo>
                <a:lnTo>
                  <a:pt x="1336669" y="1630085"/>
                </a:lnTo>
                <a:lnTo>
                  <a:pt x="0" y="163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006</a:t>
            </a:r>
          </a:p>
        </p:txBody>
      </p:sp>
      <p:sp>
        <p:nvSpPr>
          <p:cNvPr name="TextBox 12" id="12"/>
          <p:cNvSpPr txBox="true"/>
          <p:nvPr/>
        </p:nvSpPr>
        <p:spPr>
          <a:xfrm rot="0">
            <a:off x="3930464" y="3004701"/>
            <a:ext cx="9276844"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Preparation</a:t>
            </a:r>
          </a:p>
        </p:txBody>
      </p:sp>
      <p:sp>
        <p:nvSpPr>
          <p:cNvPr name="TextBox 13" id="13"/>
          <p:cNvSpPr txBox="true"/>
          <p:nvPr/>
        </p:nvSpPr>
        <p:spPr>
          <a:xfrm rot="0">
            <a:off x="1807845" y="4538954"/>
            <a:ext cx="4854207" cy="343662"/>
          </a:xfrm>
          <a:prstGeom prst="rect">
            <a:avLst/>
          </a:prstGeom>
        </p:spPr>
        <p:txBody>
          <a:bodyPr anchor="t" rtlCol="false" tIns="0" lIns="0" bIns="0" rIns="0">
            <a:spAutoFit/>
          </a:bodyPr>
          <a:lstStyle/>
          <a:p>
            <a:pPr algn="l">
              <a:lnSpc>
                <a:spcPts val="2424"/>
              </a:lnSpc>
            </a:pPr>
            <a:r>
              <a:rPr lang="en-US" sz="2400" b="true">
                <a:solidFill>
                  <a:srgbClr val="368CD1"/>
                </a:solidFill>
                <a:latin typeface="Poppins Bold"/>
                <a:ea typeface="Poppins Bold"/>
                <a:cs typeface="Poppins Bold"/>
                <a:sym typeface="Poppins Bold"/>
              </a:rPr>
              <a:t>Code Review and Preparation</a:t>
            </a:r>
          </a:p>
        </p:txBody>
      </p:sp>
      <p:sp>
        <p:nvSpPr>
          <p:cNvPr name="TextBox 14" id="14"/>
          <p:cNvSpPr txBox="true"/>
          <p:nvPr/>
        </p:nvSpPr>
        <p:spPr>
          <a:xfrm rot="0">
            <a:off x="9288325" y="4538954"/>
            <a:ext cx="3857542" cy="343662"/>
          </a:xfrm>
          <a:prstGeom prst="rect">
            <a:avLst/>
          </a:prstGeom>
        </p:spPr>
        <p:txBody>
          <a:bodyPr anchor="t" rtlCol="false" tIns="0" lIns="0" bIns="0" rIns="0">
            <a:spAutoFit/>
          </a:bodyPr>
          <a:lstStyle/>
          <a:p>
            <a:pPr algn="l">
              <a:lnSpc>
                <a:spcPts val="2424"/>
              </a:lnSpc>
            </a:pPr>
            <a:r>
              <a:rPr lang="en-US" sz="2400" b="true">
                <a:solidFill>
                  <a:srgbClr val="368CD1"/>
                </a:solidFill>
                <a:latin typeface="Poppins Bold"/>
                <a:ea typeface="Poppins Bold"/>
                <a:cs typeface="Poppins Bold"/>
                <a:sym typeface="Poppins Bold"/>
              </a:rPr>
              <a:t>Environment Checks</a:t>
            </a:r>
          </a:p>
        </p:txBody>
      </p:sp>
      <p:sp>
        <p:nvSpPr>
          <p:cNvPr name="Freeform 15" id="15"/>
          <p:cNvSpPr/>
          <p:nvPr/>
        </p:nvSpPr>
        <p:spPr>
          <a:xfrm flipH="false" flipV="false" rot="0">
            <a:off x="13667879" y="3470174"/>
            <a:ext cx="887800" cy="1082683"/>
          </a:xfrm>
          <a:custGeom>
            <a:avLst/>
            <a:gdLst/>
            <a:ahLst/>
            <a:cxnLst/>
            <a:rect r="r" b="b" t="t" l="l"/>
            <a:pathLst>
              <a:path h="1082683" w="887800">
                <a:moveTo>
                  <a:pt x="0" y="0"/>
                </a:moveTo>
                <a:lnTo>
                  <a:pt x="887801" y="0"/>
                </a:lnTo>
                <a:lnTo>
                  <a:pt x="887801" y="1082684"/>
                </a:lnTo>
                <a:lnTo>
                  <a:pt x="0" y="1082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252785" y="4487195"/>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8758932" y="4487195"/>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1445319" y="5085126"/>
            <a:ext cx="6883428" cy="2519392"/>
          </a:xfrm>
          <a:prstGeom prst="rect">
            <a:avLst/>
          </a:prstGeom>
        </p:spPr>
        <p:txBody>
          <a:bodyPr anchor="t" rtlCol="false" tIns="0" lIns="0" bIns="0" rIns="0">
            <a:spAutoFit/>
          </a:bodyPr>
          <a:lstStyle/>
          <a:p>
            <a:pPr algn="l" marL="468996" indent="-234498" lvl="1">
              <a:lnSpc>
                <a:spcPts val="2194"/>
              </a:lnSpc>
              <a:buFont typeface="Arial"/>
              <a:buChar char="•"/>
            </a:pPr>
            <a:r>
              <a:rPr lang="en-US" sz="2172">
                <a:solidFill>
                  <a:srgbClr val="368CD1"/>
                </a:solidFill>
                <a:latin typeface="Poppins"/>
                <a:ea typeface="Poppins"/>
                <a:cs typeface="Poppins"/>
                <a:sym typeface="Poppins"/>
              </a:rPr>
              <a:t>Selesaikan seluruh proses code review untuk memastikan kualitas kode.</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Past</a:t>
            </a:r>
            <a:r>
              <a:rPr lang="en-US" sz="2172">
                <a:solidFill>
                  <a:srgbClr val="368CD1"/>
                </a:solidFill>
                <a:latin typeface="Poppins"/>
                <a:ea typeface="Poppins"/>
                <a:cs typeface="Poppins"/>
                <a:sym typeface="Poppins"/>
              </a:rPr>
              <a:t>ikan semua pengujian (testing) berjalan dengan hasil yang lulus.</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t>
            </a:r>
            <a:r>
              <a:rPr lang="en-US" sz="2172">
                <a:solidFill>
                  <a:srgbClr val="368CD1"/>
                </a:solidFill>
                <a:latin typeface="Poppins"/>
                <a:ea typeface="Poppins"/>
                <a:cs typeface="Poppins"/>
                <a:sym typeface="Poppins"/>
              </a:rPr>
              <a:t>eriksa cakupan pengujian (code coverage) agar mencakup semua fungsi penting.</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a:t>
            </a:r>
            <a:r>
              <a:rPr lang="en-US" sz="2172">
                <a:solidFill>
                  <a:srgbClr val="368CD1"/>
                </a:solidFill>
                <a:latin typeface="Poppins"/>
                <a:ea typeface="Poppins"/>
                <a:cs typeface="Poppins"/>
                <a:sym typeface="Poppins"/>
              </a:rPr>
              <a:t>stikan tidak ada konflik merge yang tersisa.</a:t>
            </a:r>
          </a:p>
          <a:p>
            <a:pPr algn="l" marL="468996" indent="-234498" lvl="1">
              <a:lnSpc>
                <a:spcPts val="2194"/>
              </a:lnSpc>
              <a:buFont typeface="Arial"/>
              <a:buChar char="•"/>
            </a:pPr>
            <a:r>
              <a:rPr lang="en-US" sz="2172">
                <a:solidFill>
                  <a:srgbClr val="368CD1"/>
                </a:solidFill>
                <a:latin typeface="Poppins"/>
                <a:ea typeface="Poppins"/>
                <a:cs typeface="Poppins"/>
                <a:sym typeface="Poppins"/>
              </a:rPr>
              <a:t>Veri</a:t>
            </a:r>
            <a:r>
              <a:rPr lang="en-US" sz="2172">
                <a:solidFill>
                  <a:srgbClr val="368CD1"/>
                </a:solidFill>
                <a:latin typeface="Poppins"/>
                <a:ea typeface="Poppins"/>
                <a:cs typeface="Poppins"/>
                <a:sym typeface="Poppins"/>
              </a:rPr>
              <a:t>fikasi bahwa semua depend</a:t>
            </a:r>
            <a:r>
              <a:rPr lang="en-US" sz="2172">
                <a:solidFill>
                  <a:srgbClr val="368CD1"/>
                </a:solidFill>
                <a:latin typeface="Poppins"/>
                <a:ea typeface="Poppins"/>
                <a:cs typeface="Poppins"/>
                <a:sym typeface="Poppins"/>
              </a:rPr>
              <a:t>ensi sudah diperbarui ke versi terbaru.</a:t>
            </a:r>
          </a:p>
        </p:txBody>
      </p:sp>
      <p:sp>
        <p:nvSpPr>
          <p:cNvPr name="TextBox 19" id="19"/>
          <p:cNvSpPr txBox="true"/>
          <p:nvPr/>
        </p:nvSpPr>
        <p:spPr>
          <a:xfrm rot="0">
            <a:off x="8953954" y="5085126"/>
            <a:ext cx="6824984" cy="2519392"/>
          </a:xfrm>
          <a:prstGeom prst="rect">
            <a:avLst/>
          </a:prstGeom>
        </p:spPr>
        <p:txBody>
          <a:bodyPr anchor="t" rtlCol="false" tIns="0" lIns="0" bIns="0" rIns="0">
            <a:spAutoFit/>
          </a:bodyPr>
          <a:lstStyle/>
          <a:p>
            <a:pPr algn="l" marL="468996" indent="-234498" lvl="1">
              <a:lnSpc>
                <a:spcPts val="2194"/>
              </a:lnSpc>
              <a:buFont typeface="Arial"/>
              <a:buChar char="•"/>
            </a:pPr>
            <a:r>
              <a:rPr lang="en-US" sz="2172">
                <a:solidFill>
                  <a:srgbClr val="368CD1"/>
                </a:solidFill>
                <a:latin typeface="Poppins"/>
                <a:ea typeface="Poppins"/>
                <a:cs typeface="Poppins"/>
                <a:sym typeface="Poppins"/>
              </a:rPr>
              <a:t>Pastikan lingkungan staging sudah sama dengan lingkungan production.</a:t>
            </a:r>
          </a:p>
          <a:p>
            <a:pPr algn="l" marL="468996" indent="-234498" lvl="1">
              <a:lnSpc>
                <a:spcPts val="2194"/>
              </a:lnSpc>
              <a:buFont typeface="Arial"/>
              <a:buChar char="•"/>
            </a:pPr>
            <a:r>
              <a:rPr lang="en-US" sz="2172">
                <a:solidFill>
                  <a:srgbClr val="368CD1"/>
                </a:solidFill>
                <a:latin typeface="Poppins"/>
                <a:ea typeface="Poppins"/>
                <a:cs typeface="Poppins"/>
                <a:sym typeface="Poppins"/>
              </a:rPr>
              <a:t>Lak</a:t>
            </a:r>
            <a:r>
              <a:rPr lang="en-US" sz="2172">
                <a:solidFill>
                  <a:srgbClr val="368CD1"/>
                </a:solidFill>
                <a:latin typeface="Poppins"/>
                <a:ea typeface="Poppins"/>
                <a:cs typeface="Poppins"/>
                <a:sym typeface="Poppins"/>
              </a:rPr>
              <a:t>ukan pengujian akhir di lingkungan staging.</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t>
            </a:r>
            <a:r>
              <a:rPr lang="en-US" sz="2172">
                <a:solidFill>
                  <a:srgbClr val="368CD1"/>
                </a:solidFill>
                <a:latin typeface="Poppins"/>
                <a:ea typeface="Poppins"/>
                <a:cs typeface="Poppins"/>
                <a:sym typeface="Poppins"/>
              </a:rPr>
              <a:t>eriksa kesiapan database migration.</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Pastikan variabel lingkungan (environment variables) telah dikonfigurasi dengan benar.</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Pastika</a:t>
            </a:r>
            <a:r>
              <a:rPr lang="en-US" sz="2172">
                <a:solidFill>
                  <a:srgbClr val="368CD1"/>
                </a:solidFill>
                <a:latin typeface="Poppins"/>
                <a:ea typeface="Poppins"/>
                <a:cs typeface="Poppins"/>
                <a:sym typeface="Poppins"/>
              </a:rPr>
              <a:t>n seluruh kredens</a:t>
            </a:r>
            <a:r>
              <a:rPr lang="en-US" sz="2172">
                <a:solidFill>
                  <a:srgbClr val="368CD1"/>
                </a:solidFill>
                <a:latin typeface="Poppins"/>
                <a:ea typeface="Poppins"/>
                <a:cs typeface="Poppins"/>
                <a:sym typeface="Poppins"/>
              </a:rPr>
              <a:t>ial</a:t>
            </a:r>
            <a:r>
              <a:rPr lang="en-US" sz="2172">
                <a:solidFill>
                  <a:srgbClr val="368CD1"/>
                </a:solidFill>
                <a:latin typeface="Poppins"/>
                <a:ea typeface="Poppins"/>
                <a:cs typeface="Poppins"/>
                <a:sym typeface="Poppins"/>
              </a:rPr>
              <a:t> yang dibutuhkan sudah tersedia dan aman.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344004" y="-4227277"/>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stretch>
              <a:fillRect l="0" t="-969" r="0" b="-969"/>
            </a:stretch>
          </a:blipFill>
        </p:spPr>
      </p:sp>
      <p:sp>
        <p:nvSpPr>
          <p:cNvPr name="Freeform 8" id="8"/>
          <p:cNvSpPr/>
          <p:nvPr/>
        </p:nvSpPr>
        <p:spPr>
          <a:xfrm flipH="false" flipV="false" rot="0">
            <a:off x="2098965" y="3158369"/>
            <a:ext cx="1411466" cy="623611"/>
          </a:xfrm>
          <a:custGeom>
            <a:avLst/>
            <a:gdLst/>
            <a:ahLst/>
            <a:cxnLst/>
            <a:rect r="r" b="b" t="t" l="l"/>
            <a:pathLst>
              <a:path h="623611" w="1411466">
                <a:moveTo>
                  <a:pt x="0" y="0"/>
                </a:moveTo>
                <a:lnTo>
                  <a:pt x="1411465" y="0"/>
                </a:lnTo>
                <a:lnTo>
                  <a:pt x="1411465" y="623611"/>
                </a:lnTo>
                <a:lnTo>
                  <a:pt x="0" y="62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570149" y="1100969"/>
            <a:ext cx="2827990" cy="4114800"/>
          </a:xfrm>
          <a:custGeom>
            <a:avLst/>
            <a:gdLst/>
            <a:ahLst/>
            <a:cxnLst/>
            <a:rect r="r" b="b" t="t" l="l"/>
            <a:pathLst>
              <a:path h="4114800" w="2827990">
                <a:moveTo>
                  <a:pt x="0" y="0"/>
                </a:moveTo>
                <a:lnTo>
                  <a:pt x="2827990" y="0"/>
                </a:lnTo>
                <a:lnTo>
                  <a:pt x="282799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357939" y="1028700"/>
            <a:ext cx="1336670" cy="1630085"/>
          </a:xfrm>
          <a:custGeom>
            <a:avLst/>
            <a:gdLst/>
            <a:ahLst/>
            <a:cxnLst/>
            <a:rect r="r" b="b" t="t" l="l"/>
            <a:pathLst>
              <a:path h="1630085" w="1336670">
                <a:moveTo>
                  <a:pt x="0" y="0"/>
                </a:moveTo>
                <a:lnTo>
                  <a:pt x="1336669" y="0"/>
                </a:lnTo>
                <a:lnTo>
                  <a:pt x="1336669" y="1630085"/>
                </a:lnTo>
                <a:lnTo>
                  <a:pt x="0" y="163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184498"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007</a:t>
            </a:r>
          </a:p>
        </p:txBody>
      </p:sp>
      <p:sp>
        <p:nvSpPr>
          <p:cNvPr name="TextBox 12" id="12"/>
          <p:cNvSpPr txBox="true"/>
          <p:nvPr/>
        </p:nvSpPr>
        <p:spPr>
          <a:xfrm rot="0">
            <a:off x="3930464" y="3004701"/>
            <a:ext cx="9276844"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Preparation</a:t>
            </a:r>
          </a:p>
        </p:txBody>
      </p:sp>
      <p:sp>
        <p:nvSpPr>
          <p:cNvPr name="TextBox 13" id="13"/>
          <p:cNvSpPr txBox="true"/>
          <p:nvPr/>
        </p:nvSpPr>
        <p:spPr>
          <a:xfrm rot="0">
            <a:off x="1772988" y="4571908"/>
            <a:ext cx="4320279" cy="343662"/>
          </a:xfrm>
          <a:prstGeom prst="rect">
            <a:avLst/>
          </a:prstGeom>
        </p:spPr>
        <p:txBody>
          <a:bodyPr anchor="t" rtlCol="false" tIns="0" lIns="0" bIns="0" rIns="0">
            <a:spAutoFit/>
          </a:bodyPr>
          <a:lstStyle/>
          <a:p>
            <a:pPr algn="l">
              <a:lnSpc>
                <a:spcPts val="2424"/>
              </a:lnSpc>
            </a:pPr>
            <a:r>
              <a:rPr lang="en-US" sz="2400" b="true">
                <a:solidFill>
                  <a:srgbClr val="368CD1"/>
                </a:solidFill>
                <a:latin typeface="Poppins Bold"/>
                <a:ea typeface="Poppins Bold"/>
                <a:cs typeface="Poppins Bold"/>
                <a:sym typeface="Poppins Bold"/>
              </a:rPr>
              <a:t>Performance and Security</a:t>
            </a:r>
          </a:p>
        </p:txBody>
      </p:sp>
      <p:sp>
        <p:nvSpPr>
          <p:cNvPr name="TextBox 14" id="14"/>
          <p:cNvSpPr txBox="true"/>
          <p:nvPr/>
        </p:nvSpPr>
        <p:spPr>
          <a:xfrm rot="0">
            <a:off x="9285816" y="4571908"/>
            <a:ext cx="3857542" cy="343662"/>
          </a:xfrm>
          <a:prstGeom prst="rect">
            <a:avLst/>
          </a:prstGeom>
        </p:spPr>
        <p:txBody>
          <a:bodyPr anchor="t" rtlCol="false" tIns="0" lIns="0" bIns="0" rIns="0">
            <a:spAutoFit/>
          </a:bodyPr>
          <a:lstStyle/>
          <a:p>
            <a:pPr algn="l">
              <a:lnSpc>
                <a:spcPts val="2424"/>
              </a:lnSpc>
            </a:pPr>
            <a:r>
              <a:rPr lang="en-US" sz="2400" b="true">
                <a:solidFill>
                  <a:srgbClr val="368CD1"/>
                </a:solidFill>
                <a:latin typeface="Poppins Bold"/>
                <a:ea typeface="Poppins Bold"/>
                <a:cs typeface="Poppins Bold"/>
                <a:sym typeface="Poppins Bold"/>
              </a:rPr>
              <a:t>Access Controls</a:t>
            </a:r>
          </a:p>
        </p:txBody>
      </p:sp>
      <p:sp>
        <p:nvSpPr>
          <p:cNvPr name="Freeform 15" id="15"/>
          <p:cNvSpPr/>
          <p:nvPr/>
        </p:nvSpPr>
        <p:spPr>
          <a:xfrm flipH="false" flipV="false" rot="0">
            <a:off x="13667879" y="3470174"/>
            <a:ext cx="887800" cy="1082683"/>
          </a:xfrm>
          <a:custGeom>
            <a:avLst/>
            <a:gdLst/>
            <a:ahLst/>
            <a:cxnLst/>
            <a:rect r="r" b="b" t="t" l="l"/>
            <a:pathLst>
              <a:path h="1082683" w="887800">
                <a:moveTo>
                  <a:pt x="0" y="0"/>
                </a:moveTo>
                <a:lnTo>
                  <a:pt x="887801" y="0"/>
                </a:lnTo>
                <a:lnTo>
                  <a:pt x="887801" y="1082684"/>
                </a:lnTo>
                <a:lnTo>
                  <a:pt x="0" y="1082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251530" y="4520149"/>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8756422" y="4520176"/>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1444064" y="5085399"/>
            <a:ext cx="6865123" cy="2519392"/>
          </a:xfrm>
          <a:prstGeom prst="rect">
            <a:avLst/>
          </a:prstGeom>
        </p:spPr>
        <p:txBody>
          <a:bodyPr anchor="t" rtlCol="false" tIns="0" lIns="0" bIns="0" rIns="0">
            <a:spAutoFit/>
          </a:bodyPr>
          <a:lstStyle/>
          <a:p>
            <a:pPr algn="l" marL="468996" indent="-234498" lvl="1">
              <a:lnSpc>
                <a:spcPts val="2194"/>
              </a:lnSpc>
              <a:buFont typeface="Arial"/>
              <a:buChar char="•"/>
            </a:pPr>
            <a:r>
              <a:rPr lang="en-US" sz="2172">
                <a:solidFill>
                  <a:srgbClr val="368CD1"/>
                </a:solidFill>
                <a:latin typeface="Poppins"/>
                <a:ea typeface="Poppins"/>
                <a:cs typeface="Poppins"/>
                <a:sym typeface="Poppins"/>
              </a:rPr>
              <a:t>Jalankan uji kinerja (performance test) untuk memastikan stabilitas.</a:t>
            </a:r>
          </a:p>
          <a:p>
            <a:pPr algn="l" marL="468996" indent="-234498" lvl="1">
              <a:lnSpc>
                <a:spcPts val="2194"/>
              </a:lnSpc>
              <a:buFont typeface="Arial"/>
              <a:buChar char="•"/>
            </a:pPr>
            <a:r>
              <a:rPr lang="en-US" sz="2172">
                <a:solidFill>
                  <a:srgbClr val="368CD1"/>
                </a:solidFill>
                <a:latin typeface="Poppins"/>
                <a:ea typeface="Poppins"/>
                <a:cs typeface="Poppins"/>
                <a:sym typeface="Poppins"/>
              </a:rPr>
              <a:t>Lakukan pemindaian keamanan (vuln</a:t>
            </a:r>
            <a:r>
              <a:rPr lang="en-US" sz="2172">
                <a:solidFill>
                  <a:srgbClr val="368CD1"/>
                </a:solidFill>
                <a:latin typeface="Poppins"/>
                <a:ea typeface="Poppins"/>
                <a:cs typeface="Poppins"/>
                <a:sym typeface="Poppins"/>
              </a:rPr>
              <a:t>erability scan) untuk mendeteksi risiko.</a:t>
            </a:r>
          </a:p>
          <a:p>
            <a:pPr algn="l" marL="468996" indent="-234498" lvl="1">
              <a:lnSpc>
                <a:spcPts val="2194"/>
              </a:lnSpc>
              <a:buFont typeface="Arial"/>
              <a:buChar char="•"/>
            </a:pPr>
            <a:r>
              <a:rPr lang="en-US" sz="2172">
                <a:solidFill>
                  <a:srgbClr val="368CD1"/>
                </a:solidFill>
                <a:latin typeface="Poppins"/>
                <a:ea typeface="Poppins"/>
                <a:cs typeface="Poppins"/>
                <a:sym typeface="Poppins"/>
              </a:rPr>
              <a:t>P</a:t>
            </a:r>
            <a:r>
              <a:rPr lang="en-US" sz="2172">
                <a:solidFill>
                  <a:srgbClr val="368CD1"/>
                </a:solidFill>
                <a:latin typeface="Poppins"/>
                <a:ea typeface="Poppins"/>
                <a:cs typeface="Poppins"/>
                <a:sym typeface="Poppins"/>
              </a:rPr>
              <a:t>eriksa potensi memory leak atau penurunan performa.</a:t>
            </a:r>
          </a:p>
          <a:p>
            <a:pPr algn="l" marL="468996" indent="-234498" lvl="1">
              <a:lnSpc>
                <a:spcPts val="2194"/>
              </a:lnSpc>
              <a:buFont typeface="Arial"/>
              <a:buChar char="•"/>
            </a:pPr>
            <a:r>
              <a:rPr lang="en-US" sz="2172">
                <a:solidFill>
                  <a:srgbClr val="368CD1"/>
                </a:solidFill>
                <a:latin typeface="Poppins"/>
                <a:ea typeface="Poppins"/>
                <a:cs typeface="Poppins"/>
                <a:sym typeface="Poppins"/>
              </a:rPr>
              <a:t>Ve</a:t>
            </a:r>
            <a:r>
              <a:rPr lang="en-US" sz="2172">
                <a:solidFill>
                  <a:srgbClr val="368CD1"/>
                </a:solidFill>
                <a:latin typeface="Poppins"/>
                <a:ea typeface="Poppins"/>
                <a:cs typeface="Poppins"/>
                <a:sym typeface="Poppins"/>
              </a:rPr>
              <a:t>rifikasi sertifikat SSL dan konfigurasi HTTPS</a:t>
            </a:r>
            <a:r>
              <a:rPr lang="en-US" sz="2172">
                <a:solidFill>
                  <a:srgbClr val="368CD1"/>
                </a:solidFill>
                <a:latin typeface="Poppins"/>
                <a:ea typeface="Poppins"/>
                <a:cs typeface="Poppins"/>
                <a:sym typeface="Poppins"/>
              </a:rPr>
              <a:t>.</a:t>
            </a:r>
          </a:p>
          <a:p>
            <a:pPr algn="l" marL="468996" indent="-234498" lvl="1">
              <a:lnSpc>
                <a:spcPts val="2194"/>
              </a:lnSpc>
              <a:buFont typeface="Arial"/>
              <a:buChar char="•"/>
            </a:pPr>
            <a:r>
              <a:rPr lang="en-US" sz="2172">
                <a:solidFill>
                  <a:srgbClr val="368CD1"/>
                </a:solidFill>
                <a:latin typeface="Poppins"/>
                <a:ea typeface="Poppins"/>
                <a:cs typeface="Poppins"/>
                <a:sym typeface="Poppins"/>
              </a:rPr>
              <a:t>T</a:t>
            </a:r>
            <a:r>
              <a:rPr lang="en-US" sz="2172">
                <a:solidFill>
                  <a:srgbClr val="368CD1"/>
                </a:solidFill>
                <a:latin typeface="Poppins"/>
                <a:ea typeface="Poppins"/>
                <a:cs typeface="Poppins"/>
                <a:sym typeface="Poppins"/>
              </a:rPr>
              <a:t>injau dan perbarui aturan</a:t>
            </a:r>
            <a:r>
              <a:rPr lang="en-US" sz="2172">
                <a:solidFill>
                  <a:srgbClr val="368CD1"/>
                </a:solidFill>
                <a:latin typeface="Poppins"/>
                <a:ea typeface="Poppins"/>
                <a:cs typeface="Poppins"/>
                <a:sym typeface="Poppins"/>
              </a:rPr>
              <a:t> firewall bila diperlukan.</a:t>
            </a:r>
          </a:p>
        </p:txBody>
      </p:sp>
      <p:sp>
        <p:nvSpPr>
          <p:cNvPr name="TextBox 19" id="19"/>
          <p:cNvSpPr txBox="true"/>
          <p:nvPr/>
        </p:nvSpPr>
        <p:spPr>
          <a:xfrm rot="0">
            <a:off x="8948956" y="5085399"/>
            <a:ext cx="7077317" cy="2795617"/>
          </a:xfrm>
          <a:prstGeom prst="rect">
            <a:avLst/>
          </a:prstGeom>
        </p:spPr>
        <p:txBody>
          <a:bodyPr anchor="t" rtlCol="false" tIns="0" lIns="0" bIns="0" rIns="0">
            <a:spAutoFit/>
          </a:bodyPr>
          <a:lstStyle/>
          <a:p>
            <a:pPr algn="l" marL="468996" indent="-234498" lvl="1">
              <a:lnSpc>
                <a:spcPts val="2194"/>
              </a:lnSpc>
              <a:buFont typeface="Arial"/>
              <a:buChar char="•"/>
            </a:pPr>
            <a:r>
              <a:rPr lang="en-US" sz="2172">
                <a:solidFill>
                  <a:srgbClr val="368CD1"/>
                </a:solidFill>
                <a:latin typeface="Poppins"/>
                <a:ea typeface="Poppins"/>
                <a:cs typeface="Poppins"/>
                <a:sym typeface="Poppins"/>
              </a:rPr>
              <a:t>Lakukan backup penuh terhadap database dan konfigurasi sistem.</a:t>
            </a:r>
          </a:p>
          <a:p>
            <a:pPr algn="l" marL="468996" indent="-234498" lvl="1">
              <a:lnSpc>
                <a:spcPts val="2194"/>
              </a:lnSpc>
              <a:buFont typeface="Arial"/>
              <a:buChar char="•"/>
            </a:pPr>
            <a:r>
              <a:rPr lang="en-US" sz="2172">
                <a:solidFill>
                  <a:srgbClr val="368CD1"/>
                </a:solidFill>
                <a:latin typeface="Poppins"/>
                <a:ea typeface="Poppins"/>
                <a:cs typeface="Poppins"/>
                <a:sym typeface="Poppins"/>
              </a:rPr>
              <a:t>Siapkan strategi rollback jika pr</a:t>
            </a:r>
            <a:r>
              <a:rPr lang="en-US" sz="2172">
                <a:solidFill>
                  <a:srgbClr val="368CD1"/>
                </a:solidFill>
                <a:latin typeface="Poppins"/>
                <a:ea typeface="Poppins"/>
                <a:cs typeface="Poppins"/>
                <a:sym typeface="Poppins"/>
              </a:rPr>
              <a:t>oses deploym</a:t>
            </a:r>
            <a:r>
              <a:rPr lang="en-US" sz="2172">
                <a:solidFill>
                  <a:srgbClr val="368CD1"/>
                </a:solidFill>
                <a:latin typeface="Poppins"/>
                <a:ea typeface="Poppins"/>
                <a:cs typeface="Poppins"/>
                <a:sym typeface="Poppins"/>
              </a:rPr>
              <a:t>ent gagal.</a:t>
            </a:r>
          </a:p>
          <a:p>
            <a:pPr algn="l" marL="468996" indent="-234498" lvl="1">
              <a:lnSpc>
                <a:spcPts val="2194"/>
              </a:lnSpc>
              <a:buFont typeface="Arial"/>
              <a:buChar char="•"/>
            </a:pPr>
            <a:r>
              <a:rPr lang="en-US" sz="2172">
                <a:solidFill>
                  <a:srgbClr val="368CD1"/>
                </a:solidFill>
                <a:latin typeface="Poppins"/>
                <a:ea typeface="Poppins"/>
                <a:cs typeface="Poppins"/>
                <a:sym typeface="Poppins"/>
              </a:rPr>
              <a:t>Ambil snapshot dari lingkungan produksi saat ini.</a:t>
            </a:r>
          </a:p>
          <a:p>
            <a:pPr algn="l" marL="468996" indent="-234498" lvl="1">
              <a:lnSpc>
                <a:spcPts val="2194"/>
              </a:lnSpc>
              <a:buFont typeface="Arial"/>
              <a:buChar char="•"/>
            </a:pPr>
            <a:r>
              <a:rPr lang="en-US" sz="2172">
                <a:solidFill>
                  <a:srgbClr val="368CD1"/>
                </a:solidFill>
                <a:latin typeface="Poppins"/>
                <a:ea typeface="Poppins"/>
                <a:cs typeface="Poppins"/>
                <a:sym typeface="Poppins"/>
              </a:rPr>
              <a:t>D</a:t>
            </a:r>
            <a:r>
              <a:rPr lang="en-US" sz="2172">
                <a:solidFill>
                  <a:srgbClr val="368CD1"/>
                </a:solidFill>
                <a:latin typeface="Poppins"/>
                <a:ea typeface="Poppins"/>
                <a:cs typeface="Poppins"/>
                <a:sym typeface="Poppins"/>
              </a:rPr>
              <a:t>okumentasikan kondisi sistem dan versi deployment terkini.</a:t>
            </a:r>
          </a:p>
          <a:p>
            <a:pPr algn="l" marL="468996" indent="-234498" lvl="1">
              <a:lnSpc>
                <a:spcPts val="2194"/>
              </a:lnSpc>
              <a:buFont typeface="Arial"/>
              <a:buChar char="•"/>
            </a:pPr>
            <a:r>
              <a:rPr lang="en-US" sz="2172">
                <a:solidFill>
                  <a:srgbClr val="368CD1"/>
                </a:solidFill>
                <a:latin typeface="Poppins"/>
                <a:ea typeface="Poppins"/>
                <a:cs typeface="Poppins"/>
                <a:sym typeface="Poppins"/>
              </a:rPr>
              <a:t>Uj</a:t>
            </a:r>
            <a:r>
              <a:rPr lang="en-US" sz="2172">
                <a:solidFill>
                  <a:srgbClr val="368CD1"/>
                </a:solidFill>
                <a:latin typeface="Poppins"/>
                <a:ea typeface="Poppins"/>
                <a:cs typeface="Poppins"/>
                <a:sym typeface="Poppins"/>
              </a:rPr>
              <a:t>i proses pemulihan backup untuk memastik</a:t>
            </a:r>
            <a:r>
              <a:rPr lang="en-US" sz="2172">
                <a:solidFill>
                  <a:srgbClr val="368CD1"/>
                </a:solidFill>
                <a:latin typeface="Poppins"/>
                <a:ea typeface="Poppins"/>
                <a:cs typeface="Poppins"/>
                <a:sym typeface="Poppins"/>
              </a:rPr>
              <a:t>an dapat</a:t>
            </a:r>
            <a:r>
              <a:rPr lang="en-US" sz="2172">
                <a:solidFill>
                  <a:srgbClr val="368CD1"/>
                </a:solidFill>
                <a:latin typeface="Poppins"/>
                <a:ea typeface="Poppins"/>
                <a:cs typeface="Poppins"/>
                <a:sym typeface="Poppins"/>
              </a:rPr>
              <a:t> dijalankan dengan baik.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true" flipV="false" rot="0">
            <a:off x="1607328" y="1532689"/>
            <a:ext cx="5833617" cy="7444290"/>
          </a:xfrm>
          <a:custGeom>
            <a:avLst/>
            <a:gdLst/>
            <a:ahLst/>
            <a:cxnLst/>
            <a:rect r="r" b="b" t="t" l="l"/>
            <a:pathLst>
              <a:path h="7444290" w="5833617">
                <a:moveTo>
                  <a:pt x="5833617" y="0"/>
                </a:moveTo>
                <a:lnTo>
                  <a:pt x="0" y="0"/>
                </a:lnTo>
                <a:lnTo>
                  <a:pt x="0" y="7444290"/>
                </a:lnTo>
                <a:lnTo>
                  <a:pt x="5833617" y="7444290"/>
                </a:lnTo>
                <a:lnTo>
                  <a:pt x="583361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449786" y="2149053"/>
            <a:ext cx="2827990" cy="4114800"/>
          </a:xfrm>
          <a:custGeom>
            <a:avLst/>
            <a:gdLst/>
            <a:ahLst/>
            <a:cxnLst/>
            <a:rect r="r" b="b" t="t" l="l"/>
            <a:pathLst>
              <a:path h="4114800" w="2827990">
                <a:moveTo>
                  <a:pt x="2827990" y="0"/>
                </a:moveTo>
                <a:lnTo>
                  <a:pt x="0" y="0"/>
                </a:lnTo>
                <a:lnTo>
                  <a:pt x="0" y="4114800"/>
                </a:lnTo>
                <a:lnTo>
                  <a:pt x="2827990" y="4114800"/>
                </a:lnTo>
                <a:lnTo>
                  <a:pt x="282799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93602" y="2084133"/>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Migrasi </a:t>
            </a:r>
          </a:p>
        </p:txBody>
      </p:sp>
      <p:sp>
        <p:nvSpPr>
          <p:cNvPr name="TextBox 10" id="10"/>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008</a:t>
            </a:r>
          </a:p>
        </p:txBody>
      </p:sp>
      <p:sp>
        <p:nvSpPr>
          <p:cNvPr name="TextBox 11" id="11"/>
          <p:cNvSpPr txBox="true"/>
          <p:nvPr/>
        </p:nvSpPr>
        <p:spPr>
          <a:xfrm rot="0">
            <a:off x="8793602" y="3406331"/>
            <a:ext cx="7397031" cy="3071842"/>
          </a:xfrm>
          <a:prstGeom prst="rect">
            <a:avLst/>
          </a:prstGeom>
        </p:spPr>
        <p:txBody>
          <a:bodyPr anchor="t" rtlCol="false" tIns="0" lIns="0" bIns="0" rIns="0">
            <a:spAutoFit/>
          </a:bodyPr>
          <a:lstStyle/>
          <a:p>
            <a:pPr algn="l">
              <a:lnSpc>
                <a:spcPts val="2194"/>
              </a:lnSpc>
            </a:pPr>
            <a:r>
              <a:rPr lang="en-US" sz="2172">
                <a:solidFill>
                  <a:srgbClr val="368CD1"/>
                </a:solidFill>
                <a:latin typeface="Poppins"/>
                <a:ea typeface="Poppins"/>
                <a:cs typeface="Poppins"/>
                <a:sym typeface="Poppins"/>
              </a:rPr>
              <a:t>Migrasi adalah proses pemindahan data, aplikasi, atau seluruh sistem teknologi informasi (TI) dari satu lingkungan ke lingkungan lainnya tanpa mengganggu fungsi utama sistem.</a:t>
            </a:r>
          </a:p>
          <a:p>
            <a:pPr algn="l">
              <a:lnSpc>
                <a:spcPts val="2194"/>
              </a:lnSpc>
            </a:pPr>
          </a:p>
          <a:p>
            <a:pPr algn="l">
              <a:lnSpc>
                <a:spcPts val="2194"/>
              </a:lnSpc>
            </a:pPr>
            <a:r>
              <a:rPr lang="en-US" sz="2172">
                <a:solidFill>
                  <a:srgbClr val="368CD1"/>
                </a:solidFill>
                <a:latin typeface="Poppins"/>
                <a:ea typeface="Poppins"/>
                <a:cs typeface="Poppins"/>
                <a:sym typeface="Poppins"/>
              </a:rPr>
              <a:t>Migrasi bertujuan untuk:</a:t>
            </a:r>
          </a:p>
          <a:p>
            <a:pPr algn="l" marL="468996" indent="-234498" lvl="1">
              <a:lnSpc>
                <a:spcPts val="2194"/>
              </a:lnSpc>
              <a:buFont typeface="Arial"/>
              <a:buChar char="•"/>
            </a:pPr>
            <a:r>
              <a:rPr lang="en-US" sz="2172">
                <a:solidFill>
                  <a:srgbClr val="368CD1"/>
                </a:solidFill>
                <a:latin typeface="Poppins"/>
                <a:ea typeface="Poppins"/>
                <a:cs typeface="Poppins"/>
                <a:sym typeface="Poppins"/>
              </a:rPr>
              <a:t>Modernisasi sistem agar lebih sesuai dengan kebutuhan terkini.</a:t>
            </a:r>
          </a:p>
          <a:p>
            <a:pPr algn="l" marL="468996" indent="-234498" lvl="1">
              <a:lnSpc>
                <a:spcPts val="2194"/>
              </a:lnSpc>
              <a:buFont typeface="Arial"/>
              <a:buChar char="•"/>
            </a:pPr>
            <a:r>
              <a:rPr lang="en-US" sz="2172">
                <a:solidFill>
                  <a:srgbClr val="368CD1"/>
                </a:solidFill>
                <a:latin typeface="Poppins"/>
                <a:ea typeface="Poppins"/>
                <a:cs typeface="Poppins"/>
                <a:sym typeface="Poppins"/>
              </a:rPr>
              <a:t>Meningkatkan skalabilitas dan efisiensi biaya.</a:t>
            </a:r>
          </a:p>
          <a:p>
            <a:pPr algn="l" marL="468996" indent="-234498" lvl="1">
              <a:lnSpc>
                <a:spcPts val="2194"/>
              </a:lnSpc>
              <a:buFont typeface="Arial"/>
              <a:buChar char="•"/>
            </a:pPr>
            <a:r>
              <a:rPr lang="en-US" sz="2172">
                <a:solidFill>
                  <a:srgbClr val="368CD1"/>
                </a:solidFill>
                <a:latin typeface="Poppins"/>
                <a:ea typeface="Poppins"/>
                <a:cs typeface="Poppins"/>
                <a:sym typeface="Poppins"/>
              </a:rPr>
              <a:t>Memperkuat keamanan dan keandalan sistem.</a:t>
            </a:r>
          </a:p>
          <a:p>
            <a:pPr algn="l">
              <a:lnSpc>
                <a:spcPts val="2194"/>
              </a:lnSpc>
            </a:pPr>
          </a:p>
        </p:txBody>
      </p:sp>
      <p:sp>
        <p:nvSpPr>
          <p:cNvPr name="Freeform 12" id="12"/>
          <p:cNvSpPr/>
          <p:nvPr/>
        </p:nvSpPr>
        <p:spPr>
          <a:xfrm flipH="false" flipV="false" rot="0">
            <a:off x="4365537" y="1028700"/>
            <a:ext cx="1640427" cy="1649424"/>
          </a:xfrm>
          <a:custGeom>
            <a:avLst/>
            <a:gdLst/>
            <a:ahLst/>
            <a:cxnLst/>
            <a:rect r="r" b="b" t="t" l="l"/>
            <a:pathLst>
              <a:path h="1649424" w="1640427">
                <a:moveTo>
                  <a:pt x="0" y="0"/>
                </a:moveTo>
                <a:lnTo>
                  <a:pt x="1640427" y="0"/>
                </a:lnTo>
                <a:lnTo>
                  <a:pt x="1640427" y="1649424"/>
                </a:lnTo>
                <a:lnTo>
                  <a:pt x="0" y="16494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451789" y="1028700"/>
            <a:ext cx="1640427" cy="1649424"/>
          </a:xfrm>
          <a:custGeom>
            <a:avLst/>
            <a:gdLst/>
            <a:ahLst/>
            <a:cxnLst/>
            <a:rect r="r" b="b" t="t" l="l"/>
            <a:pathLst>
              <a:path h="1649424" w="1640427">
                <a:moveTo>
                  <a:pt x="0" y="0"/>
                </a:moveTo>
                <a:lnTo>
                  <a:pt x="1640427" y="0"/>
                </a:lnTo>
                <a:lnTo>
                  <a:pt x="1640427" y="1649424"/>
                </a:lnTo>
                <a:lnTo>
                  <a:pt x="0" y="16494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6538040" y="1028700"/>
            <a:ext cx="1640427" cy="1649424"/>
          </a:xfrm>
          <a:custGeom>
            <a:avLst/>
            <a:gdLst/>
            <a:ahLst/>
            <a:cxnLst/>
            <a:rect r="r" b="b" t="t" l="l"/>
            <a:pathLst>
              <a:path h="1649424" w="1640427">
                <a:moveTo>
                  <a:pt x="0" y="0"/>
                </a:moveTo>
                <a:lnTo>
                  <a:pt x="1640428" y="0"/>
                </a:lnTo>
                <a:lnTo>
                  <a:pt x="1640428" y="1649424"/>
                </a:lnTo>
                <a:lnTo>
                  <a:pt x="0" y="16494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272336"/>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344004" y="-4227277"/>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stretch>
              <a:fillRect l="0" t="-969" r="0" b="-969"/>
            </a:stretch>
          </a:blipFill>
        </p:spPr>
      </p:sp>
      <p:sp>
        <p:nvSpPr>
          <p:cNvPr name="Freeform 8" id="8"/>
          <p:cNvSpPr/>
          <p:nvPr/>
        </p:nvSpPr>
        <p:spPr>
          <a:xfrm flipH="false" flipV="false" rot="0">
            <a:off x="12631484" y="103470"/>
            <a:ext cx="3860431" cy="4114800"/>
          </a:xfrm>
          <a:custGeom>
            <a:avLst/>
            <a:gdLst/>
            <a:ahLst/>
            <a:cxnLst/>
            <a:rect r="r" b="b" t="t" l="l"/>
            <a:pathLst>
              <a:path h="4114800" w="3860431">
                <a:moveTo>
                  <a:pt x="0" y="0"/>
                </a:moveTo>
                <a:lnTo>
                  <a:pt x="3860431" y="0"/>
                </a:lnTo>
                <a:lnTo>
                  <a:pt x="386043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009</a:t>
            </a:r>
          </a:p>
        </p:txBody>
      </p:sp>
      <p:sp>
        <p:nvSpPr>
          <p:cNvPr name="TextBox 10" id="10"/>
          <p:cNvSpPr txBox="true"/>
          <p:nvPr/>
        </p:nvSpPr>
        <p:spPr>
          <a:xfrm rot="0">
            <a:off x="1964783" y="2206203"/>
            <a:ext cx="6390324" cy="189293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Jenis -Jenis Migrasi</a:t>
            </a:r>
          </a:p>
        </p:txBody>
      </p:sp>
      <p:sp>
        <p:nvSpPr>
          <p:cNvPr name="TextBox 11" id="11"/>
          <p:cNvSpPr txBox="true"/>
          <p:nvPr/>
        </p:nvSpPr>
        <p:spPr>
          <a:xfrm rot="0">
            <a:off x="2830818" y="5209482"/>
            <a:ext cx="6103252" cy="900015"/>
          </a:xfrm>
          <a:prstGeom prst="rect">
            <a:avLst/>
          </a:prstGeom>
        </p:spPr>
        <p:txBody>
          <a:bodyPr anchor="t" rtlCol="false" tIns="0" lIns="0" bIns="0" rIns="0">
            <a:spAutoFit/>
          </a:bodyPr>
          <a:lstStyle/>
          <a:p>
            <a:pPr algn="l">
              <a:lnSpc>
                <a:spcPts val="1790"/>
              </a:lnSpc>
            </a:pPr>
            <a:r>
              <a:rPr lang="en-US" sz="1772">
                <a:solidFill>
                  <a:srgbClr val="368CD1"/>
                </a:solidFill>
                <a:latin typeface="Poppins"/>
                <a:ea typeface="Poppins"/>
                <a:cs typeface="Poppins"/>
                <a:sym typeface="Poppins"/>
              </a:rPr>
              <a:t>Data migration adalah pemindahan data yang dilakukan antar database ataupun server. Contoh dari data migration adalah pemindahan data dari MySQL lokal ke RDS AWS.</a:t>
            </a:r>
          </a:p>
        </p:txBody>
      </p:sp>
      <p:sp>
        <p:nvSpPr>
          <p:cNvPr name="TextBox 12" id="12"/>
          <p:cNvSpPr txBox="true"/>
          <p:nvPr/>
        </p:nvSpPr>
        <p:spPr>
          <a:xfrm rot="0">
            <a:off x="2830818" y="4818345"/>
            <a:ext cx="3857542" cy="300600"/>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Data Migration</a:t>
            </a:r>
          </a:p>
        </p:txBody>
      </p:sp>
      <p:sp>
        <p:nvSpPr>
          <p:cNvPr name="TextBox 13" id="13"/>
          <p:cNvSpPr txBox="true"/>
          <p:nvPr/>
        </p:nvSpPr>
        <p:spPr>
          <a:xfrm rot="0">
            <a:off x="2830818" y="6651120"/>
            <a:ext cx="6103252" cy="900015"/>
          </a:xfrm>
          <a:prstGeom prst="rect">
            <a:avLst/>
          </a:prstGeom>
        </p:spPr>
        <p:txBody>
          <a:bodyPr anchor="t" rtlCol="false" tIns="0" lIns="0" bIns="0" rIns="0">
            <a:spAutoFit/>
          </a:bodyPr>
          <a:lstStyle/>
          <a:p>
            <a:pPr algn="l">
              <a:lnSpc>
                <a:spcPts val="1790"/>
              </a:lnSpc>
            </a:pPr>
            <a:r>
              <a:rPr lang="en-US" sz="1772">
                <a:solidFill>
                  <a:srgbClr val="368CD1"/>
                </a:solidFill>
                <a:latin typeface="Poppins"/>
                <a:ea typeface="Poppins"/>
                <a:cs typeface="Poppins"/>
                <a:sym typeface="Poppins"/>
              </a:rPr>
              <a:t>Application migration adalah pemindahan aplikasi antar platform. Contoh dari application migration adalah pemindahan aplikasi dari server Windows ke server Linux.</a:t>
            </a:r>
          </a:p>
        </p:txBody>
      </p:sp>
      <p:sp>
        <p:nvSpPr>
          <p:cNvPr name="TextBox 14" id="14"/>
          <p:cNvSpPr txBox="true"/>
          <p:nvPr/>
        </p:nvSpPr>
        <p:spPr>
          <a:xfrm rot="0">
            <a:off x="2824333" y="6266052"/>
            <a:ext cx="3857542" cy="300600"/>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Application Migration</a:t>
            </a:r>
          </a:p>
        </p:txBody>
      </p:sp>
      <p:sp>
        <p:nvSpPr>
          <p:cNvPr name="TextBox 15" id="15"/>
          <p:cNvSpPr txBox="true"/>
          <p:nvPr/>
        </p:nvSpPr>
        <p:spPr>
          <a:xfrm rot="0">
            <a:off x="10523777" y="5209482"/>
            <a:ext cx="6103252" cy="900015"/>
          </a:xfrm>
          <a:prstGeom prst="rect">
            <a:avLst/>
          </a:prstGeom>
        </p:spPr>
        <p:txBody>
          <a:bodyPr anchor="t" rtlCol="false" tIns="0" lIns="0" bIns="0" rIns="0">
            <a:spAutoFit/>
          </a:bodyPr>
          <a:lstStyle/>
          <a:p>
            <a:pPr algn="l">
              <a:lnSpc>
                <a:spcPts val="1790"/>
              </a:lnSpc>
            </a:pPr>
            <a:r>
              <a:rPr lang="en-US" sz="1772">
                <a:solidFill>
                  <a:srgbClr val="368CD1"/>
                </a:solidFill>
                <a:latin typeface="Poppins"/>
                <a:ea typeface="Poppins"/>
                <a:cs typeface="Poppins"/>
                <a:sym typeface="Poppins"/>
              </a:rPr>
              <a:t>Cloud migration adalah pemindahan suatu infrastruktur ke cloud. Contoh dari cloud migration adalah pemindahan infrastruktur dari on-premise ke AWS EC2.</a:t>
            </a:r>
          </a:p>
        </p:txBody>
      </p:sp>
      <p:sp>
        <p:nvSpPr>
          <p:cNvPr name="TextBox 16" id="16"/>
          <p:cNvSpPr txBox="true"/>
          <p:nvPr/>
        </p:nvSpPr>
        <p:spPr>
          <a:xfrm rot="0">
            <a:off x="10517292" y="4818345"/>
            <a:ext cx="3857542" cy="300600"/>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Cloud Migration</a:t>
            </a:r>
          </a:p>
        </p:txBody>
      </p:sp>
      <p:sp>
        <p:nvSpPr>
          <p:cNvPr name="TextBox 17" id="17"/>
          <p:cNvSpPr txBox="true"/>
          <p:nvPr/>
        </p:nvSpPr>
        <p:spPr>
          <a:xfrm rot="0">
            <a:off x="2824333" y="8239457"/>
            <a:ext cx="6103252" cy="680940"/>
          </a:xfrm>
          <a:prstGeom prst="rect">
            <a:avLst/>
          </a:prstGeom>
        </p:spPr>
        <p:txBody>
          <a:bodyPr anchor="t" rtlCol="false" tIns="0" lIns="0" bIns="0" rIns="0">
            <a:spAutoFit/>
          </a:bodyPr>
          <a:lstStyle/>
          <a:p>
            <a:pPr algn="l">
              <a:lnSpc>
                <a:spcPts val="1790"/>
              </a:lnSpc>
            </a:pPr>
            <a:r>
              <a:rPr lang="en-US" sz="1772">
                <a:solidFill>
                  <a:srgbClr val="368CD1"/>
                </a:solidFill>
                <a:latin typeface="Poppins"/>
                <a:ea typeface="Poppins"/>
                <a:cs typeface="Poppins"/>
                <a:sym typeface="Poppins"/>
              </a:rPr>
              <a:t>Storage migration adalah pemindahan data antar media penyimpanan. Contoh dari storage migration adalah pemindahan data dari HDD ke cloud storage.</a:t>
            </a:r>
          </a:p>
        </p:txBody>
      </p:sp>
      <p:sp>
        <p:nvSpPr>
          <p:cNvPr name="TextBox 18" id="18"/>
          <p:cNvSpPr txBox="true"/>
          <p:nvPr/>
        </p:nvSpPr>
        <p:spPr>
          <a:xfrm rot="0">
            <a:off x="2824333" y="7809807"/>
            <a:ext cx="3857542" cy="300600"/>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Storage Migration</a:t>
            </a:r>
          </a:p>
        </p:txBody>
      </p:sp>
      <p:sp>
        <p:nvSpPr>
          <p:cNvPr name="Freeform 19" id="19"/>
          <p:cNvSpPr/>
          <p:nvPr/>
        </p:nvSpPr>
        <p:spPr>
          <a:xfrm flipH="false" flipV="false" rot="0">
            <a:off x="2318273" y="475643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2308748" y="6214292"/>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9958936" y="475643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2318273" y="7725339"/>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0523777" y="6638742"/>
            <a:ext cx="6103252" cy="900015"/>
          </a:xfrm>
          <a:prstGeom prst="rect">
            <a:avLst/>
          </a:prstGeom>
        </p:spPr>
        <p:txBody>
          <a:bodyPr anchor="t" rtlCol="false" tIns="0" lIns="0" bIns="0" rIns="0">
            <a:spAutoFit/>
          </a:bodyPr>
          <a:lstStyle/>
          <a:p>
            <a:pPr algn="l">
              <a:lnSpc>
                <a:spcPts val="1790"/>
              </a:lnSpc>
            </a:pPr>
            <a:r>
              <a:rPr lang="en-US" sz="1772">
                <a:solidFill>
                  <a:srgbClr val="368CD1"/>
                </a:solidFill>
                <a:latin typeface="Poppins"/>
                <a:ea typeface="Poppins"/>
                <a:cs typeface="Poppins"/>
                <a:sym typeface="Poppins"/>
              </a:rPr>
              <a:t>Database migration adalah pemindahan antar Database Management System (DBMS). Contoh dari database migration adalah pemindahan dari Oracle ke PostgreSQL.</a:t>
            </a:r>
          </a:p>
        </p:txBody>
      </p:sp>
      <p:sp>
        <p:nvSpPr>
          <p:cNvPr name="TextBox 24" id="24"/>
          <p:cNvSpPr txBox="true"/>
          <p:nvPr/>
        </p:nvSpPr>
        <p:spPr>
          <a:xfrm rot="0">
            <a:off x="10517292" y="6247605"/>
            <a:ext cx="3857542" cy="300600"/>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Database Migration</a:t>
            </a:r>
          </a:p>
        </p:txBody>
      </p:sp>
      <p:sp>
        <p:nvSpPr>
          <p:cNvPr name="Freeform 25" id="25"/>
          <p:cNvSpPr/>
          <p:nvPr/>
        </p:nvSpPr>
        <p:spPr>
          <a:xfrm flipH="false" flipV="false" rot="0">
            <a:off x="9958936" y="6185698"/>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6091" y="3146142"/>
            <a:ext cx="7893114" cy="4994189"/>
          </a:xfrm>
          <a:custGeom>
            <a:avLst/>
            <a:gdLst/>
            <a:ahLst/>
            <a:cxnLst/>
            <a:rect r="r" b="b" t="t" l="l"/>
            <a:pathLst>
              <a:path h="4994189" w="7893114">
                <a:moveTo>
                  <a:pt x="0" y="0"/>
                </a:moveTo>
                <a:lnTo>
                  <a:pt x="7893115" y="0"/>
                </a:lnTo>
                <a:lnTo>
                  <a:pt x="7893115" y="4994189"/>
                </a:lnTo>
                <a:lnTo>
                  <a:pt x="0" y="49941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142648" y="2255919"/>
            <a:ext cx="2954777" cy="1482761"/>
          </a:xfrm>
          <a:custGeom>
            <a:avLst/>
            <a:gdLst/>
            <a:ahLst/>
            <a:cxnLst/>
            <a:rect r="r" b="b" t="t" l="l"/>
            <a:pathLst>
              <a:path h="1482761" w="2954777">
                <a:moveTo>
                  <a:pt x="0" y="0"/>
                </a:moveTo>
                <a:lnTo>
                  <a:pt x="2954777" y="0"/>
                </a:lnTo>
                <a:lnTo>
                  <a:pt x="2954777" y="1482761"/>
                </a:lnTo>
                <a:lnTo>
                  <a:pt x="0" y="14827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93602" y="2084133"/>
            <a:ext cx="805698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Tahapan Migrasi</a:t>
            </a:r>
          </a:p>
        </p:txBody>
      </p:sp>
      <p:sp>
        <p:nvSpPr>
          <p:cNvPr name="TextBox 10" id="10"/>
          <p:cNvSpPr txBox="true"/>
          <p:nvPr/>
        </p:nvSpPr>
        <p:spPr>
          <a:xfrm rot="0">
            <a:off x="1184498"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010</a:t>
            </a:r>
          </a:p>
          <a:p>
            <a:pPr algn="l">
              <a:lnSpc>
                <a:spcPts val="1637"/>
              </a:lnSpc>
            </a:pPr>
          </a:p>
        </p:txBody>
      </p:sp>
      <p:sp>
        <p:nvSpPr>
          <p:cNvPr name="TextBox 11" id="11"/>
          <p:cNvSpPr txBox="true"/>
          <p:nvPr/>
        </p:nvSpPr>
        <p:spPr>
          <a:xfrm rot="0">
            <a:off x="9550201" y="4283998"/>
            <a:ext cx="7397031"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Pada tahap ini dilakukan proses audit terhadap sistem yang akan dipindahkan untuk memahami skala, kompleksitas, serta ketergantungan antar komponen. Selain itu, dilakukan pengecekan kompatibilitas platform agar sistem yang akan dimigrasikan dapat berjalan dengan baik di lingkungan baru.</a:t>
            </a:r>
          </a:p>
        </p:txBody>
      </p:sp>
      <p:sp>
        <p:nvSpPr>
          <p:cNvPr name="Freeform 12" id="12"/>
          <p:cNvSpPr/>
          <p:nvPr/>
        </p:nvSpPr>
        <p:spPr>
          <a:xfrm flipH="false" flipV="false" rot="0">
            <a:off x="3943089" y="6007958"/>
            <a:ext cx="2954777" cy="1482761"/>
          </a:xfrm>
          <a:custGeom>
            <a:avLst/>
            <a:gdLst/>
            <a:ahLst/>
            <a:cxnLst/>
            <a:rect r="r" b="b" t="t" l="l"/>
            <a:pathLst>
              <a:path h="1482761" w="2954777">
                <a:moveTo>
                  <a:pt x="0" y="0"/>
                </a:moveTo>
                <a:lnTo>
                  <a:pt x="2954777" y="0"/>
                </a:lnTo>
                <a:lnTo>
                  <a:pt x="2954777" y="1482760"/>
                </a:lnTo>
                <a:lnTo>
                  <a:pt x="0" y="14827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264451" y="3761879"/>
            <a:ext cx="5595527" cy="424813"/>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368CD1"/>
                </a:solidFill>
                <a:latin typeface="Poppins Bold"/>
                <a:ea typeface="Poppins Bold"/>
                <a:cs typeface="Poppins Bold"/>
                <a:sym typeface="Poppins Bold"/>
              </a:rPr>
              <a:t>1. Assess</a:t>
            </a:r>
            <a:r>
              <a:rPr lang="en-US" b="true" sz="2400" strike="noStrike" u="none">
                <a:solidFill>
                  <a:srgbClr val="368CD1"/>
                </a:solidFill>
                <a:latin typeface="Poppins Bold"/>
                <a:ea typeface="Poppins Bold"/>
                <a:cs typeface="Poppins Bold"/>
                <a:sym typeface="Poppins Bold"/>
              </a:rPr>
              <a:t>ment (Analisis Awal)</a:t>
            </a:r>
          </a:p>
        </p:txBody>
      </p:sp>
      <p:sp>
        <p:nvSpPr>
          <p:cNvPr name="TextBox 14" id="14"/>
          <p:cNvSpPr txBox="true"/>
          <p:nvPr/>
        </p:nvSpPr>
        <p:spPr>
          <a:xfrm rot="0">
            <a:off x="9550201" y="6617658"/>
            <a:ext cx="7397031"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Tahap ini berfokus pada perencanaan strategi migrasi, baik menggunakan metode big bang maupun incremental. Tim juga menentukan jadwal downtime, menyiapkan rencana rollback jika terjadi kegagalan, serta membuat cadangan data dan sistem pemantauan untuk memastikan proses berjalan aman dan terkontrol.</a:t>
            </a:r>
          </a:p>
        </p:txBody>
      </p:sp>
      <p:sp>
        <p:nvSpPr>
          <p:cNvPr name="TextBox 15" id="15"/>
          <p:cNvSpPr txBox="true"/>
          <p:nvPr/>
        </p:nvSpPr>
        <p:spPr>
          <a:xfrm rot="0">
            <a:off x="9264451" y="6046058"/>
            <a:ext cx="6764844" cy="424813"/>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368CD1"/>
                </a:solidFill>
                <a:latin typeface="Poppins Bold"/>
                <a:ea typeface="Poppins Bold"/>
                <a:cs typeface="Poppins Bold"/>
                <a:sym typeface="Poppins Bold"/>
              </a:rPr>
              <a:t>2. Pla</a:t>
            </a:r>
            <a:r>
              <a:rPr lang="en-US" b="true" sz="2400" strike="noStrike" u="none">
                <a:solidFill>
                  <a:srgbClr val="368CD1"/>
                </a:solidFill>
                <a:latin typeface="Poppins Bold"/>
                <a:ea typeface="Poppins Bold"/>
                <a:cs typeface="Poppins Bold"/>
                <a:sym typeface="Poppins Bold"/>
              </a:rPr>
              <a:t>nning (Perencanaan Migrasi)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6091" y="3146142"/>
            <a:ext cx="7893114" cy="4994189"/>
          </a:xfrm>
          <a:custGeom>
            <a:avLst/>
            <a:gdLst/>
            <a:ahLst/>
            <a:cxnLst/>
            <a:rect r="r" b="b" t="t" l="l"/>
            <a:pathLst>
              <a:path h="4994189" w="7893114">
                <a:moveTo>
                  <a:pt x="0" y="0"/>
                </a:moveTo>
                <a:lnTo>
                  <a:pt x="7893115" y="0"/>
                </a:lnTo>
                <a:lnTo>
                  <a:pt x="7893115" y="4994189"/>
                </a:lnTo>
                <a:lnTo>
                  <a:pt x="0" y="49941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142648" y="2255919"/>
            <a:ext cx="2954777" cy="1482761"/>
          </a:xfrm>
          <a:custGeom>
            <a:avLst/>
            <a:gdLst/>
            <a:ahLst/>
            <a:cxnLst/>
            <a:rect r="r" b="b" t="t" l="l"/>
            <a:pathLst>
              <a:path h="1482761" w="2954777">
                <a:moveTo>
                  <a:pt x="0" y="0"/>
                </a:moveTo>
                <a:lnTo>
                  <a:pt x="2954777" y="0"/>
                </a:lnTo>
                <a:lnTo>
                  <a:pt x="2954777" y="1482761"/>
                </a:lnTo>
                <a:lnTo>
                  <a:pt x="0" y="14827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93602" y="2084133"/>
            <a:ext cx="805698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Tahapan Migrasi</a:t>
            </a:r>
          </a:p>
        </p:txBody>
      </p:sp>
      <p:sp>
        <p:nvSpPr>
          <p:cNvPr name="TextBox 10" id="10"/>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011</a:t>
            </a:r>
          </a:p>
        </p:txBody>
      </p:sp>
      <p:sp>
        <p:nvSpPr>
          <p:cNvPr name="TextBox 11" id="11"/>
          <p:cNvSpPr txBox="true"/>
          <p:nvPr/>
        </p:nvSpPr>
        <p:spPr>
          <a:xfrm rot="0">
            <a:off x="9607351" y="4283998"/>
            <a:ext cx="7397031"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Pada tahap pelaksanaan, data mulai dipindahkan menggunakan alat bantu seperti rsync, scp, atau AWS DataSync. Setelah proses transfer selesai, lingkungan server baru dikonfigurasi dan dilakukan instalasi ulang terhadap dependency serta environment variable agar sistem dapat berfungsi sebagaimana mestinya.</a:t>
            </a:r>
          </a:p>
        </p:txBody>
      </p:sp>
      <p:sp>
        <p:nvSpPr>
          <p:cNvPr name="Freeform 12" id="12"/>
          <p:cNvSpPr/>
          <p:nvPr/>
        </p:nvSpPr>
        <p:spPr>
          <a:xfrm flipH="false" flipV="false" rot="0">
            <a:off x="3943089" y="6007958"/>
            <a:ext cx="2954777" cy="1482761"/>
          </a:xfrm>
          <a:custGeom>
            <a:avLst/>
            <a:gdLst/>
            <a:ahLst/>
            <a:cxnLst/>
            <a:rect r="r" b="b" t="t" l="l"/>
            <a:pathLst>
              <a:path h="1482761" w="2954777">
                <a:moveTo>
                  <a:pt x="0" y="0"/>
                </a:moveTo>
                <a:lnTo>
                  <a:pt x="2954777" y="0"/>
                </a:lnTo>
                <a:lnTo>
                  <a:pt x="2954777" y="1482760"/>
                </a:lnTo>
                <a:lnTo>
                  <a:pt x="0" y="14827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235876" y="3752354"/>
            <a:ext cx="6771529" cy="450848"/>
          </a:xfrm>
          <a:prstGeom prst="rect">
            <a:avLst/>
          </a:prstGeom>
        </p:spPr>
        <p:txBody>
          <a:bodyPr anchor="t" rtlCol="false" tIns="0" lIns="0" bIns="0" rIns="0">
            <a:spAutoFit/>
          </a:bodyPr>
          <a:lstStyle/>
          <a:p>
            <a:pPr algn="l" marL="0" indent="0" lvl="0">
              <a:lnSpc>
                <a:spcPts val="3500"/>
              </a:lnSpc>
              <a:spcBef>
                <a:spcPct val="0"/>
              </a:spcBef>
            </a:pPr>
            <a:r>
              <a:rPr lang="en-US" b="true" sz="2500">
                <a:solidFill>
                  <a:srgbClr val="368CD1"/>
                </a:solidFill>
                <a:latin typeface="Poppins Bold"/>
                <a:ea typeface="Poppins Bold"/>
                <a:cs typeface="Poppins Bold"/>
                <a:sym typeface="Poppins Bold"/>
              </a:rPr>
              <a:t>3. Ex</a:t>
            </a:r>
            <a:r>
              <a:rPr lang="en-US" b="true" sz="2500" strike="noStrike" u="none">
                <a:solidFill>
                  <a:srgbClr val="368CD1"/>
                </a:solidFill>
                <a:latin typeface="Poppins Bold"/>
                <a:ea typeface="Poppins Bold"/>
                <a:cs typeface="Poppins Bold"/>
                <a:sym typeface="Poppins Bold"/>
              </a:rPr>
              <a:t>ecution (Pelaksanaan Migrasi)</a:t>
            </a:r>
          </a:p>
        </p:txBody>
      </p:sp>
      <p:sp>
        <p:nvSpPr>
          <p:cNvPr name="TextBox 14" id="14"/>
          <p:cNvSpPr txBox="true"/>
          <p:nvPr/>
        </p:nvSpPr>
        <p:spPr>
          <a:xfrm rot="0">
            <a:off x="9607351" y="6732255"/>
            <a:ext cx="7397031"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Tahap ini digunakan untuk melakukan pengujian terhadap performa dan integritas data setelah migrasi. Fungsionalitas aplikasi diverifikasi untuk memastikan sistem berjalan normal, serta dilakukan load test dan security test guna menjamin kestabilan dan keamanan sistem di lingkungan baru.</a:t>
            </a:r>
          </a:p>
        </p:txBody>
      </p:sp>
      <p:sp>
        <p:nvSpPr>
          <p:cNvPr name="TextBox 15" id="15"/>
          <p:cNvSpPr txBox="true"/>
          <p:nvPr/>
        </p:nvSpPr>
        <p:spPr>
          <a:xfrm rot="0">
            <a:off x="9235876" y="6160654"/>
            <a:ext cx="5623399" cy="424813"/>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368CD1"/>
                </a:solidFill>
                <a:latin typeface="Poppins Bold"/>
                <a:ea typeface="Poppins Bold"/>
                <a:cs typeface="Poppins Bold"/>
                <a:sym typeface="Poppins Bold"/>
              </a:rPr>
              <a:t>4. Test</a:t>
            </a:r>
            <a:r>
              <a:rPr lang="en-US" b="true" sz="2400" strike="noStrike" u="none">
                <a:solidFill>
                  <a:srgbClr val="368CD1"/>
                </a:solidFill>
                <a:latin typeface="Poppins Bold"/>
                <a:ea typeface="Poppins Bold"/>
                <a:cs typeface="Poppins Bold"/>
                <a:sym typeface="Poppins Bold"/>
              </a:rPr>
              <a:t>ing &amp; Validation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6091" y="3146142"/>
            <a:ext cx="7893114" cy="4994189"/>
          </a:xfrm>
          <a:custGeom>
            <a:avLst/>
            <a:gdLst/>
            <a:ahLst/>
            <a:cxnLst/>
            <a:rect r="r" b="b" t="t" l="l"/>
            <a:pathLst>
              <a:path h="4994189" w="7893114">
                <a:moveTo>
                  <a:pt x="0" y="0"/>
                </a:moveTo>
                <a:lnTo>
                  <a:pt x="7893115" y="0"/>
                </a:lnTo>
                <a:lnTo>
                  <a:pt x="7893115" y="4994189"/>
                </a:lnTo>
                <a:lnTo>
                  <a:pt x="0" y="49941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142648" y="2255919"/>
            <a:ext cx="2954777" cy="1482761"/>
          </a:xfrm>
          <a:custGeom>
            <a:avLst/>
            <a:gdLst/>
            <a:ahLst/>
            <a:cxnLst/>
            <a:rect r="r" b="b" t="t" l="l"/>
            <a:pathLst>
              <a:path h="1482761" w="2954777">
                <a:moveTo>
                  <a:pt x="0" y="0"/>
                </a:moveTo>
                <a:lnTo>
                  <a:pt x="2954777" y="0"/>
                </a:lnTo>
                <a:lnTo>
                  <a:pt x="2954777" y="1482761"/>
                </a:lnTo>
                <a:lnTo>
                  <a:pt x="0" y="14827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93602" y="2084133"/>
            <a:ext cx="805698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Tahapan Migrasi</a:t>
            </a:r>
          </a:p>
        </p:txBody>
      </p:sp>
      <p:sp>
        <p:nvSpPr>
          <p:cNvPr name="TextBox 10" id="10"/>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012</a:t>
            </a:r>
          </a:p>
        </p:txBody>
      </p:sp>
      <p:sp>
        <p:nvSpPr>
          <p:cNvPr name="TextBox 11" id="11"/>
          <p:cNvSpPr txBox="true"/>
          <p:nvPr/>
        </p:nvSpPr>
        <p:spPr>
          <a:xfrm rot="0">
            <a:off x="9607351" y="4283998"/>
            <a:ext cx="7397031"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Pada tahap terakhir, domain atau DNS diarahkan ke server baru dan sistem mulai dioperasikan secara penuh. Proses pemantauan dilakukan untuk memastikan performa sistem tetap optimal, mendeteksi potensi kesalahan melalui error log, serta melakukan penyesuaian konfigurasi jika diperlukan.</a:t>
            </a:r>
          </a:p>
        </p:txBody>
      </p:sp>
      <p:sp>
        <p:nvSpPr>
          <p:cNvPr name="Freeform 12" id="12"/>
          <p:cNvSpPr/>
          <p:nvPr/>
        </p:nvSpPr>
        <p:spPr>
          <a:xfrm flipH="false" flipV="false" rot="0">
            <a:off x="3943089" y="6007958"/>
            <a:ext cx="2954777" cy="1482761"/>
          </a:xfrm>
          <a:custGeom>
            <a:avLst/>
            <a:gdLst/>
            <a:ahLst/>
            <a:cxnLst/>
            <a:rect r="r" b="b" t="t" l="l"/>
            <a:pathLst>
              <a:path h="1482761" w="2954777">
                <a:moveTo>
                  <a:pt x="0" y="0"/>
                </a:moveTo>
                <a:lnTo>
                  <a:pt x="2954777" y="0"/>
                </a:lnTo>
                <a:lnTo>
                  <a:pt x="2954777" y="1482760"/>
                </a:lnTo>
                <a:lnTo>
                  <a:pt x="0" y="14827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254926" y="3761879"/>
            <a:ext cx="5459118" cy="424813"/>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368CD1"/>
                </a:solidFill>
                <a:latin typeface="Poppins Bold"/>
                <a:ea typeface="Poppins Bold"/>
                <a:cs typeface="Poppins Bold"/>
                <a:sym typeface="Poppins Bold"/>
              </a:rPr>
              <a:t>5. G</a:t>
            </a:r>
            <a:r>
              <a:rPr lang="en-US" b="true" sz="2400" strike="noStrike" u="none">
                <a:solidFill>
                  <a:srgbClr val="368CD1"/>
                </a:solidFill>
                <a:latin typeface="Poppins Bold"/>
                <a:ea typeface="Poppins Bold"/>
                <a:cs typeface="Poppins Bold"/>
                <a:sym typeface="Poppins Bold"/>
              </a:rPr>
              <a:t>o-Live &amp; Monitoring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415561"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8960142" y="2072601"/>
            <a:ext cx="566743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Instalasi</a:t>
            </a:r>
          </a:p>
        </p:txBody>
      </p:sp>
      <p:sp>
        <p:nvSpPr>
          <p:cNvPr name="TextBox 8" id="8"/>
          <p:cNvSpPr txBox="true"/>
          <p:nvPr/>
        </p:nvSpPr>
        <p:spPr>
          <a:xfrm rot="0">
            <a:off x="1174973"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013</a:t>
            </a:r>
          </a:p>
          <a:p>
            <a:pPr algn="l">
              <a:lnSpc>
                <a:spcPts val="1637"/>
              </a:lnSpc>
            </a:pPr>
          </a:p>
        </p:txBody>
      </p:sp>
      <p:sp>
        <p:nvSpPr>
          <p:cNvPr name="TextBox 9" id="9"/>
          <p:cNvSpPr txBox="true"/>
          <p:nvPr/>
        </p:nvSpPr>
        <p:spPr>
          <a:xfrm rot="0">
            <a:off x="8988717" y="3366965"/>
            <a:ext cx="7861872" cy="3072511"/>
          </a:xfrm>
          <a:prstGeom prst="rect">
            <a:avLst/>
          </a:prstGeom>
        </p:spPr>
        <p:txBody>
          <a:bodyPr anchor="t" rtlCol="false" tIns="0" lIns="0" bIns="0" rIns="0">
            <a:spAutoFit/>
          </a:bodyPr>
          <a:lstStyle/>
          <a:p>
            <a:pPr algn="l">
              <a:lnSpc>
                <a:spcPts val="2222"/>
              </a:lnSpc>
            </a:pPr>
            <a:r>
              <a:rPr lang="en-US" sz="2200">
                <a:solidFill>
                  <a:srgbClr val="368CD1"/>
                </a:solidFill>
                <a:latin typeface="Poppins"/>
                <a:ea typeface="Poppins"/>
                <a:cs typeface="Poppins"/>
                <a:sym typeface="Poppins"/>
              </a:rPr>
              <a:t>instalasi adalah proses memasang semua komponen yang diperlukan agar perangkat lunak dapat berjalan dengan baik di lingkungan penngguna. Tahap instalasi mencakup seluruh proses pemindahan aplikasi dari lingkungan pengembangan/pengujian ke lingkungan produksi, termasuk persiapan sistem, pemasangan komponen, konfigurasi, hingga verifikasi. Tujuan akhir dari instalasi adalah membuat sistem dapat dijalankan secara fungsional, aman, dan stabil di lingkungan pengguna akhir. Jenis - jenis instalasi ada dua, yaitu :</a:t>
            </a:r>
          </a:p>
          <a:p>
            <a:pPr algn="l">
              <a:lnSpc>
                <a:spcPts val="2222"/>
              </a:lnSpc>
            </a:pPr>
          </a:p>
        </p:txBody>
      </p:sp>
      <p:sp>
        <p:nvSpPr>
          <p:cNvPr name="Freeform 10" id="10"/>
          <p:cNvSpPr/>
          <p:nvPr/>
        </p:nvSpPr>
        <p:spPr>
          <a:xfrm flipH="false" flipV="false" rot="0">
            <a:off x="1338939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4808619"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22784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2001526" y="41148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56830" y="2057400"/>
            <a:ext cx="4314843" cy="4843191"/>
          </a:xfrm>
          <a:custGeom>
            <a:avLst/>
            <a:gdLst/>
            <a:ahLst/>
            <a:cxnLst/>
            <a:rect r="r" b="b" t="t" l="l"/>
            <a:pathLst>
              <a:path h="4843191" w="4314843">
                <a:moveTo>
                  <a:pt x="0" y="0"/>
                </a:moveTo>
                <a:lnTo>
                  <a:pt x="4314843" y="0"/>
                </a:lnTo>
                <a:lnTo>
                  <a:pt x="4314843" y="4843191"/>
                </a:lnTo>
                <a:lnTo>
                  <a:pt x="0" y="48431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8793602" y="6363276"/>
            <a:ext cx="7861872" cy="586486"/>
          </a:xfrm>
          <a:prstGeom prst="rect">
            <a:avLst/>
          </a:prstGeom>
        </p:spPr>
        <p:txBody>
          <a:bodyPr anchor="t" rtlCol="false" tIns="0" lIns="0" bIns="0" rIns="0">
            <a:spAutoFit/>
          </a:bodyPr>
          <a:lstStyle/>
          <a:p>
            <a:pPr algn="l" marL="474981" indent="-237491" lvl="1">
              <a:lnSpc>
                <a:spcPts val="2222"/>
              </a:lnSpc>
              <a:buFont typeface="Arial"/>
              <a:buChar char="•"/>
            </a:pPr>
            <a:r>
              <a:rPr lang="en-US" sz="2200">
                <a:solidFill>
                  <a:srgbClr val="368CD1"/>
                </a:solidFill>
                <a:latin typeface="Poppins"/>
                <a:ea typeface="Poppins"/>
                <a:cs typeface="Poppins"/>
                <a:sym typeface="Poppins"/>
              </a:rPr>
              <a:t>Instalasi berdasarkan interaksi</a:t>
            </a:r>
          </a:p>
          <a:p>
            <a:pPr algn="l" marL="474981" indent="-237491" lvl="1">
              <a:lnSpc>
                <a:spcPts val="2222"/>
              </a:lnSpc>
              <a:buFont typeface="Arial"/>
              <a:buChar char="•"/>
            </a:pPr>
            <a:r>
              <a:rPr lang="en-US" sz="2200">
                <a:solidFill>
                  <a:srgbClr val="368CD1"/>
                </a:solidFill>
                <a:latin typeface="Poppins"/>
                <a:ea typeface="Poppins"/>
                <a:cs typeface="Poppins"/>
                <a:sym typeface="Poppins"/>
              </a:rPr>
              <a:t>Instalasi berdasarkan sistem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4171228"/>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4522060" y="-4671145"/>
            <a:ext cx="10873915" cy="7874317"/>
          </a:xfrm>
          <a:custGeom>
            <a:avLst/>
            <a:gdLst/>
            <a:ahLst/>
            <a:cxnLst/>
            <a:rect r="r" b="b" t="t" l="l"/>
            <a:pathLst>
              <a:path h="7874317" w="10873915">
                <a:moveTo>
                  <a:pt x="0" y="0"/>
                </a:moveTo>
                <a:lnTo>
                  <a:pt x="10873916" y="0"/>
                </a:lnTo>
                <a:lnTo>
                  <a:pt x="10873916" y="7874317"/>
                </a:lnTo>
                <a:lnTo>
                  <a:pt x="0" y="7874317"/>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1180024" y="1261952"/>
            <a:ext cx="3887049" cy="5905737"/>
          </a:xfrm>
          <a:custGeom>
            <a:avLst/>
            <a:gdLst/>
            <a:ahLst/>
            <a:cxnLst/>
            <a:rect r="r" b="b" t="t" l="l"/>
            <a:pathLst>
              <a:path h="5905737" w="3887049">
                <a:moveTo>
                  <a:pt x="0" y="0"/>
                </a:moveTo>
                <a:lnTo>
                  <a:pt x="3887049" y="0"/>
                </a:lnTo>
                <a:lnTo>
                  <a:pt x="3887049" y="5905737"/>
                </a:lnTo>
                <a:lnTo>
                  <a:pt x="0" y="59057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320154" y="3619474"/>
            <a:ext cx="2700159" cy="4612073"/>
          </a:xfrm>
          <a:custGeom>
            <a:avLst/>
            <a:gdLst/>
            <a:ahLst/>
            <a:cxnLst/>
            <a:rect r="r" b="b" t="t" l="l"/>
            <a:pathLst>
              <a:path h="4612073" w="2700159">
                <a:moveTo>
                  <a:pt x="0" y="0"/>
                </a:moveTo>
                <a:lnTo>
                  <a:pt x="2700159" y="0"/>
                </a:lnTo>
                <a:lnTo>
                  <a:pt x="2700159" y="4612073"/>
                </a:lnTo>
                <a:lnTo>
                  <a:pt x="0" y="46120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4320154" y="710477"/>
            <a:ext cx="3504343" cy="35043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3" id="13"/>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0124</a:t>
            </a:r>
          </a:p>
        </p:txBody>
      </p:sp>
      <p:sp>
        <p:nvSpPr>
          <p:cNvPr name="TextBox 14" id="14"/>
          <p:cNvSpPr txBox="true"/>
          <p:nvPr/>
        </p:nvSpPr>
        <p:spPr>
          <a:xfrm rot="0">
            <a:off x="1974308" y="1665901"/>
            <a:ext cx="9205716" cy="189293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Jenis - jenis Instalasi (interaksi)</a:t>
            </a:r>
          </a:p>
        </p:txBody>
      </p:sp>
      <p:sp>
        <p:nvSpPr>
          <p:cNvPr name="TextBox 15" id="15"/>
          <p:cNvSpPr txBox="true"/>
          <p:nvPr/>
        </p:nvSpPr>
        <p:spPr>
          <a:xfrm rot="0">
            <a:off x="2518957" y="3918204"/>
            <a:ext cx="3891718"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Manual Installation</a:t>
            </a:r>
          </a:p>
        </p:txBody>
      </p:sp>
      <p:sp>
        <p:nvSpPr>
          <p:cNvPr name="Freeform 16" id="16"/>
          <p:cNvSpPr/>
          <p:nvPr/>
        </p:nvSpPr>
        <p:spPr>
          <a:xfrm flipH="false" flipV="false" rot="0">
            <a:off x="1974308" y="3879210"/>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2518957" y="4364967"/>
            <a:ext cx="7412895" cy="831723"/>
          </a:xfrm>
          <a:prstGeom prst="rect">
            <a:avLst/>
          </a:prstGeom>
        </p:spPr>
        <p:txBody>
          <a:bodyPr anchor="t" rtlCol="false" tIns="0" lIns="0" bIns="0" rIns="0">
            <a:spAutoFit/>
          </a:bodyPr>
          <a:lstStyle/>
          <a:p>
            <a:pPr algn="l">
              <a:lnSpc>
                <a:spcPts val="2121"/>
              </a:lnSpc>
            </a:pPr>
            <a:r>
              <a:rPr lang="en-US" sz="2100">
                <a:solidFill>
                  <a:srgbClr val="368CD1"/>
                </a:solidFill>
                <a:latin typeface="Poppins"/>
                <a:ea typeface="Poppins"/>
                <a:cs typeface="Poppins"/>
                <a:sym typeface="Poppins"/>
              </a:rPr>
              <a:t>Instalasi yang memerlukan campur tangan manusia (operator) di setiap langkahnya tanpa bantuan skrip otomatis atau alat otomatisasi.</a:t>
            </a:r>
          </a:p>
        </p:txBody>
      </p:sp>
      <p:sp>
        <p:nvSpPr>
          <p:cNvPr name="TextBox 18" id="18"/>
          <p:cNvSpPr txBox="true"/>
          <p:nvPr/>
        </p:nvSpPr>
        <p:spPr>
          <a:xfrm rot="0">
            <a:off x="2518957" y="5607018"/>
            <a:ext cx="4378909"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Automated installation</a:t>
            </a:r>
          </a:p>
        </p:txBody>
      </p:sp>
      <p:sp>
        <p:nvSpPr>
          <p:cNvPr name="Freeform 19" id="19"/>
          <p:cNvSpPr/>
          <p:nvPr/>
        </p:nvSpPr>
        <p:spPr>
          <a:xfrm flipH="false" flipV="false" rot="0">
            <a:off x="1974308" y="5577550"/>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2518957" y="6053781"/>
            <a:ext cx="7412895" cy="831723"/>
          </a:xfrm>
          <a:prstGeom prst="rect">
            <a:avLst/>
          </a:prstGeom>
        </p:spPr>
        <p:txBody>
          <a:bodyPr anchor="t" rtlCol="false" tIns="0" lIns="0" bIns="0" rIns="0">
            <a:spAutoFit/>
          </a:bodyPr>
          <a:lstStyle/>
          <a:p>
            <a:pPr algn="l">
              <a:lnSpc>
                <a:spcPts val="2121"/>
              </a:lnSpc>
            </a:pPr>
            <a:r>
              <a:rPr lang="en-US" sz="2100">
                <a:solidFill>
                  <a:srgbClr val="368CD1"/>
                </a:solidFill>
                <a:latin typeface="Poppins"/>
                <a:ea typeface="Poppins"/>
                <a:cs typeface="Poppins"/>
                <a:sym typeface="Poppins"/>
              </a:rPr>
              <a:t>Instalasi yang dilakukan secara otomatis melalui skrip, alat, atau sistem manajemen konfigurasi, sehingga tidak memerlukan interaksi manusia secara langsung.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4396348"/>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4522060" y="-4671145"/>
            <a:ext cx="10873915" cy="7874317"/>
          </a:xfrm>
          <a:custGeom>
            <a:avLst/>
            <a:gdLst/>
            <a:ahLst/>
            <a:cxnLst/>
            <a:rect r="r" b="b" t="t" l="l"/>
            <a:pathLst>
              <a:path h="7874317" w="10873915">
                <a:moveTo>
                  <a:pt x="0" y="0"/>
                </a:moveTo>
                <a:lnTo>
                  <a:pt x="10873916" y="0"/>
                </a:lnTo>
                <a:lnTo>
                  <a:pt x="10873916" y="7874317"/>
                </a:lnTo>
                <a:lnTo>
                  <a:pt x="0" y="7874317"/>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1180024" y="1261952"/>
            <a:ext cx="3887049" cy="5905737"/>
          </a:xfrm>
          <a:custGeom>
            <a:avLst/>
            <a:gdLst/>
            <a:ahLst/>
            <a:cxnLst/>
            <a:rect r="r" b="b" t="t" l="l"/>
            <a:pathLst>
              <a:path h="5905737" w="3887049">
                <a:moveTo>
                  <a:pt x="0" y="0"/>
                </a:moveTo>
                <a:lnTo>
                  <a:pt x="3887049" y="0"/>
                </a:lnTo>
                <a:lnTo>
                  <a:pt x="3887049" y="5905737"/>
                </a:lnTo>
                <a:lnTo>
                  <a:pt x="0" y="59057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320154" y="3619474"/>
            <a:ext cx="2700159" cy="4612073"/>
          </a:xfrm>
          <a:custGeom>
            <a:avLst/>
            <a:gdLst/>
            <a:ahLst/>
            <a:cxnLst/>
            <a:rect r="r" b="b" t="t" l="l"/>
            <a:pathLst>
              <a:path h="4612073" w="2700159">
                <a:moveTo>
                  <a:pt x="0" y="0"/>
                </a:moveTo>
                <a:lnTo>
                  <a:pt x="2700159" y="0"/>
                </a:lnTo>
                <a:lnTo>
                  <a:pt x="2700159" y="4612073"/>
                </a:lnTo>
                <a:lnTo>
                  <a:pt x="0" y="46120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4320154" y="710477"/>
            <a:ext cx="3504343" cy="35043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3" id="13"/>
          <p:cNvSpPr txBox="true"/>
          <p:nvPr/>
        </p:nvSpPr>
        <p:spPr>
          <a:xfrm rot="0">
            <a:off x="1174973"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015</a:t>
            </a:r>
          </a:p>
          <a:p>
            <a:pPr algn="l">
              <a:lnSpc>
                <a:spcPts val="1637"/>
              </a:lnSpc>
            </a:pPr>
          </a:p>
        </p:txBody>
      </p:sp>
      <p:sp>
        <p:nvSpPr>
          <p:cNvPr name="TextBox 14" id="14"/>
          <p:cNvSpPr txBox="true"/>
          <p:nvPr/>
        </p:nvSpPr>
        <p:spPr>
          <a:xfrm rot="0">
            <a:off x="1974308" y="1665901"/>
            <a:ext cx="8371207" cy="189293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Jenis - jenis Instalasi (sistem)</a:t>
            </a:r>
          </a:p>
        </p:txBody>
      </p:sp>
      <p:sp>
        <p:nvSpPr>
          <p:cNvPr name="TextBox 15" id="15"/>
          <p:cNvSpPr txBox="true"/>
          <p:nvPr/>
        </p:nvSpPr>
        <p:spPr>
          <a:xfrm rot="0">
            <a:off x="2518957" y="3918204"/>
            <a:ext cx="3103867"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Clean Installation</a:t>
            </a:r>
          </a:p>
        </p:txBody>
      </p:sp>
      <p:sp>
        <p:nvSpPr>
          <p:cNvPr name="Freeform 16" id="16"/>
          <p:cNvSpPr/>
          <p:nvPr/>
        </p:nvSpPr>
        <p:spPr>
          <a:xfrm flipH="false" flipV="false" rot="0">
            <a:off x="1974308" y="3879210"/>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2518957" y="4364967"/>
            <a:ext cx="7412895" cy="565023"/>
          </a:xfrm>
          <a:prstGeom prst="rect">
            <a:avLst/>
          </a:prstGeom>
        </p:spPr>
        <p:txBody>
          <a:bodyPr anchor="t" rtlCol="false" tIns="0" lIns="0" bIns="0" rIns="0">
            <a:spAutoFit/>
          </a:bodyPr>
          <a:lstStyle/>
          <a:p>
            <a:pPr algn="l">
              <a:lnSpc>
                <a:spcPts val="2121"/>
              </a:lnSpc>
            </a:pPr>
            <a:r>
              <a:rPr lang="en-US" sz="2100">
                <a:solidFill>
                  <a:srgbClr val="368CD1"/>
                </a:solidFill>
                <a:latin typeface="Poppins"/>
                <a:ea typeface="Poppins"/>
                <a:cs typeface="Poppins"/>
                <a:sym typeface="Poppins"/>
              </a:rPr>
              <a:t>Instalasi yang menghapus semua data aplikasi dan konfigurasi versi lama sebelum memasang versi baru.</a:t>
            </a:r>
          </a:p>
        </p:txBody>
      </p:sp>
      <p:sp>
        <p:nvSpPr>
          <p:cNvPr name="TextBox 18" id="18"/>
          <p:cNvSpPr txBox="true"/>
          <p:nvPr/>
        </p:nvSpPr>
        <p:spPr>
          <a:xfrm rot="0">
            <a:off x="2518957" y="5381897"/>
            <a:ext cx="3103867"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In-Place Upgrade</a:t>
            </a:r>
          </a:p>
        </p:txBody>
      </p:sp>
      <p:sp>
        <p:nvSpPr>
          <p:cNvPr name="Freeform 19" id="19"/>
          <p:cNvSpPr/>
          <p:nvPr/>
        </p:nvSpPr>
        <p:spPr>
          <a:xfrm flipH="false" flipV="false" rot="0">
            <a:off x="1974308" y="5352429"/>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2518957" y="5828660"/>
            <a:ext cx="7412895" cy="831723"/>
          </a:xfrm>
          <a:prstGeom prst="rect">
            <a:avLst/>
          </a:prstGeom>
        </p:spPr>
        <p:txBody>
          <a:bodyPr anchor="t" rtlCol="false" tIns="0" lIns="0" bIns="0" rIns="0">
            <a:spAutoFit/>
          </a:bodyPr>
          <a:lstStyle/>
          <a:p>
            <a:pPr algn="l">
              <a:lnSpc>
                <a:spcPts val="2121"/>
              </a:lnSpc>
            </a:pPr>
            <a:r>
              <a:rPr lang="en-US" sz="2100">
                <a:solidFill>
                  <a:srgbClr val="368CD1"/>
                </a:solidFill>
                <a:latin typeface="Poppins"/>
                <a:ea typeface="Poppins"/>
                <a:cs typeface="Poppins"/>
                <a:sym typeface="Poppins"/>
              </a:rPr>
              <a:t>Instalasi yang memperbarui file sistem dan aplikasi sambil berusaha mempertahankan data, konfigurasi, dan setting pengguna yang sudah ada.</a:t>
            </a:r>
          </a:p>
        </p:txBody>
      </p:sp>
      <p:sp>
        <p:nvSpPr>
          <p:cNvPr name="TextBox 21" id="21"/>
          <p:cNvSpPr txBox="true"/>
          <p:nvPr/>
        </p:nvSpPr>
        <p:spPr>
          <a:xfrm rot="0">
            <a:off x="2518957" y="7051929"/>
            <a:ext cx="3103867"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Patch / Hotfix</a:t>
            </a:r>
          </a:p>
        </p:txBody>
      </p:sp>
      <p:sp>
        <p:nvSpPr>
          <p:cNvPr name="Freeform 22" id="22"/>
          <p:cNvSpPr/>
          <p:nvPr/>
        </p:nvSpPr>
        <p:spPr>
          <a:xfrm flipH="false" flipV="false" rot="0">
            <a:off x="1974308" y="7022460"/>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2518957" y="7502779"/>
            <a:ext cx="7052734" cy="1098423"/>
          </a:xfrm>
          <a:prstGeom prst="rect">
            <a:avLst/>
          </a:prstGeom>
        </p:spPr>
        <p:txBody>
          <a:bodyPr anchor="t" rtlCol="false" tIns="0" lIns="0" bIns="0" rIns="0">
            <a:spAutoFit/>
          </a:bodyPr>
          <a:lstStyle/>
          <a:p>
            <a:pPr algn="l">
              <a:lnSpc>
                <a:spcPts val="2121"/>
              </a:lnSpc>
            </a:pPr>
            <a:r>
              <a:rPr lang="en-US" sz="2100">
                <a:solidFill>
                  <a:srgbClr val="368CD1"/>
                </a:solidFill>
                <a:latin typeface="Poppins"/>
                <a:ea typeface="Poppins"/>
                <a:cs typeface="Poppins"/>
                <a:sym typeface="Poppins"/>
              </a:rPr>
              <a:t>Bukan instalasi penuh, melainkan hanya penerapan kode kecil yang ditujukan untuk memperbaiki bug atau kerentanan keamanan tertentu pada versi yang sudah terinstal.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931182" y="2149053"/>
            <a:ext cx="7176886" cy="6289562"/>
          </a:xfrm>
          <a:custGeom>
            <a:avLst/>
            <a:gdLst/>
            <a:ahLst/>
            <a:cxnLst/>
            <a:rect r="r" b="b" t="t" l="l"/>
            <a:pathLst>
              <a:path h="6289562" w="7176886">
                <a:moveTo>
                  <a:pt x="0" y="0"/>
                </a:moveTo>
                <a:lnTo>
                  <a:pt x="7176886" y="0"/>
                </a:lnTo>
                <a:lnTo>
                  <a:pt x="7176886" y="6289562"/>
                </a:lnTo>
                <a:lnTo>
                  <a:pt x="0" y="62895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06844" y="5672864"/>
            <a:ext cx="7315200" cy="3258589"/>
          </a:xfrm>
          <a:custGeom>
            <a:avLst/>
            <a:gdLst/>
            <a:ahLst/>
            <a:cxnLst/>
            <a:rect r="r" b="b" t="t" l="l"/>
            <a:pathLst>
              <a:path h="3258589" w="7315200">
                <a:moveTo>
                  <a:pt x="0" y="0"/>
                </a:moveTo>
                <a:lnTo>
                  <a:pt x="7315200" y="0"/>
                </a:lnTo>
                <a:lnTo>
                  <a:pt x="7315200" y="3258589"/>
                </a:lnTo>
                <a:lnTo>
                  <a:pt x="0" y="32585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84077" y="1151468"/>
            <a:ext cx="8364573"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Tahapan Instalasi</a:t>
            </a:r>
          </a:p>
        </p:txBody>
      </p:sp>
      <p:sp>
        <p:nvSpPr>
          <p:cNvPr name="TextBox 10" id="10"/>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016</a:t>
            </a:r>
          </a:p>
        </p:txBody>
      </p:sp>
      <p:sp>
        <p:nvSpPr>
          <p:cNvPr name="TextBox 11" id="11"/>
          <p:cNvSpPr txBox="true"/>
          <p:nvPr/>
        </p:nvSpPr>
        <p:spPr>
          <a:xfrm rot="0">
            <a:off x="9202135" y="2975180"/>
            <a:ext cx="7802246" cy="2019935"/>
          </a:xfrm>
          <a:prstGeom prst="rect">
            <a:avLst/>
          </a:prstGeom>
        </p:spPr>
        <p:txBody>
          <a:bodyPr anchor="t" rtlCol="false" tIns="0" lIns="0" bIns="0" rIns="0">
            <a:spAutoFit/>
          </a:bodyPr>
          <a:lstStyle/>
          <a:p>
            <a:pPr algn="l">
              <a:lnSpc>
                <a:spcPts val="2019"/>
              </a:lnSpc>
            </a:pPr>
            <a:r>
              <a:rPr lang="en-US" sz="1999">
                <a:solidFill>
                  <a:srgbClr val="368CD1"/>
                </a:solidFill>
                <a:latin typeface="Poppins"/>
                <a:ea typeface="Poppins"/>
                <a:cs typeface="Poppins"/>
                <a:sym typeface="Poppins"/>
              </a:rPr>
              <a:t>Tahap pertama dalam instalasi adalah persiapan lingkungan target. Setelah server dasar disiapkan, langkah krusial berikutnya adalah instalasi prasyarat atau dependensi, seperti runtime environment (misalnya JRE atau Node.js) dan web server (Nginx atau Apache). Selain itu, tahap ini juga mencakup pengaturan dasar jaringan dan keamanan, memastikan port yang dibutuhkan terbuka dan konfigurasi firewall memungkinkan akses ke aplikasi.</a:t>
            </a:r>
          </a:p>
        </p:txBody>
      </p:sp>
      <p:sp>
        <p:nvSpPr>
          <p:cNvPr name="TextBox 12" id="12"/>
          <p:cNvSpPr txBox="true"/>
          <p:nvPr/>
        </p:nvSpPr>
        <p:spPr>
          <a:xfrm rot="0">
            <a:off x="8905875" y="2547288"/>
            <a:ext cx="4600373"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1. Environment Preparation</a:t>
            </a:r>
          </a:p>
        </p:txBody>
      </p:sp>
      <p:sp>
        <p:nvSpPr>
          <p:cNvPr name="TextBox 13" id="13"/>
          <p:cNvSpPr txBox="true"/>
          <p:nvPr/>
        </p:nvSpPr>
        <p:spPr>
          <a:xfrm rot="0">
            <a:off x="9196040" y="5738827"/>
            <a:ext cx="7808341" cy="2019935"/>
          </a:xfrm>
          <a:prstGeom prst="rect">
            <a:avLst/>
          </a:prstGeom>
        </p:spPr>
        <p:txBody>
          <a:bodyPr anchor="t" rtlCol="false" tIns="0" lIns="0" bIns="0" rIns="0">
            <a:spAutoFit/>
          </a:bodyPr>
          <a:lstStyle/>
          <a:p>
            <a:pPr algn="l">
              <a:lnSpc>
                <a:spcPts val="2019"/>
              </a:lnSpc>
            </a:pPr>
            <a:r>
              <a:rPr lang="en-US" sz="1999">
                <a:solidFill>
                  <a:srgbClr val="368CD1"/>
                </a:solidFill>
                <a:latin typeface="Poppins"/>
                <a:ea typeface="Poppins"/>
                <a:cs typeface="Poppins"/>
                <a:sym typeface="Poppins"/>
              </a:rPr>
              <a:t>Tahap Ini dimulai dengan penyalinan file atau deployment build aplikasi yang merupakan paket kode yang sudah dikompilasi dan siap pakai dari repositori pengembangan ke direktori yang telah ditentukan di server produksi. Jika aplikasi dikemas dalam format terkompresi, proses ekstraksi akan dilakukan untuk menempatkan semua file program ke lokasi yang benar, memastikan struktur direktori aplikasi sesuai dengan yang disyaratkan oleh lingkungan runtime.</a:t>
            </a:r>
          </a:p>
        </p:txBody>
      </p:sp>
      <p:sp>
        <p:nvSpPr>
          <p:cNvPr name="TextBox 14" id="14"/>
          <p:cNvSpPr txBox="true"/>
          <p:nvPr/>
        </p:nvSpPr>
        <p:spPr>
          <a:xfrm rot="0">
            <a:off x="8905875" y="5307027"/>
            <a:ext cx="9144000"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2. Code Transfer &amp; Placement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931182" y="2149053"/>
            <a:ext cx="7176886" cy="6289562"/>
          </a:xfrm>
          <a:custGeom>
            <a:avLst/>
            <a:gdLst/>
            <a:ahLst/>
            <a:cxnLst/>
            <a:rect r="r" b="b" t="t" l="l"/>
            <a:pathLst>
              <a:path h="6289562" w="7176886">
                <a:moveTo>
                  <a:pt x="0" y="0"/>
                </a:moveTo>
                <a:lnTo>
                  <a:pt x="7176886" y="0"/>
                </a:lnTo>
                <a:lnTo>
                  <a:pt x="7176886" y="6289562"/>
                </a:lnTo>
                <a:lnTo>
                  <a:pt x="0" y="62895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06844" y="5672864"/>
            <a:ext cx="7315200" cy="3258589"/>
          </a:xfrm>
          <a:custGeom>
            <a:avLst/>
            <a:gdLst/>
            <a:ahLst/>
            <a:cxnLst/>
            <a:rect r="r" b="b" t="t" l="l"/>
            <a:pathLst>
              <a:path h="3258589" w="7315200">
                <a:moveTo>
                  <a:pt x="0" y="0"/>
                </a:moveTo>
                <a:lnTo>
                  <a:pt x="7315200" y="0"/>
                </a:lnTo>
                <a:lnTo>
                  <a:pt x="7315200" y="3258589"/>
                </a:lnTo>
                <a:lnTo>
                  <a:pt x="0" y="32585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784077" y="1151468"/>
            <a:ext cx="8364573"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Tahapan Instalasi</a:t>
            </a:r>
          </a:p>
        </p:txBody>
      </p:sp>
      <p:sp>
        <p:nvSpPr>
          <p:cNvPr name="TextBox 10" id="10"/>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017</a:t>
            </a:r>
          </a:p>
        </p:txBody>
      </p:sp>
      <p:sp>
        <p:nvSpPr>
          <p:cNvPr name="TextBox 11" id="11"/>
          <p:cNvSpPr txBox="true"/>
          <p:nvPr/>
        </p:nvSpPr>
        <p:spPr>
          <a:xfrm rot="0">
            <a:off x="9240235" y="2904490"/>
            <a:ext cx="7764146" cy="2267585"/>
          </a:xfrm>
          <a:prstGeom prst="rect">
            <a:avLst/>
          </a:prstGeom>
        </p:spPr>
        <p:txBody>
          <a:bodyPr anchor="t" rtlCol="false" tIns="0" lIns="0" bIns="0" rIns="0">
            <a:spAutoFit/>
          </a:bodyPr>
          <a:lstStyle/>
          <a:p>
            <a:pPr algn="l">
              <a:lnSpc>
                <a:spcPts val="2019"/>
              </a:lnSpc>
            </a:pPr>
            <a:r>
              <a:rPr lang="en-US" sz="1999">
                <a:solidFill>
                  <a:srgbClr val="368CD1"/>
                </a:solidFill>
                <a:latin typeface="Poppins"/>
                <a:ea typeface="Poppins"/>
                <a:cs typeface="Poppins"/>
                <a:sym typeface="Poppins"/>
              </a:rPr>
              <a:t>Tahap ini menyesuaikan aplikasi agar dapat berfungsi secara optimal dan aman di lingkungan produksinya. Selain itu, dilakukan konfigurasi basis data, termasuk penetapan kredensial koneksi, menjalankan migrasi skema untuk membangun struktur tabel yang dibutuhkan, dan memuat data awal yang diperlukan. Terakhir, pengaturan izin akses (permissions) harus dilakukan untuk memastikan aplikasi dapat membaca dan menulis ke log files, cache, atau direktori upload tanpa masalah keamanan.</a:t>
            </a:r>
          </a:p>
        </p:txBody>
      </p:sp>
      <p:sp>
        <p:nvSpPr>
          <p:cNvPr name="TextBox 12" id="12"/>
          <p:cNvSpPr txBox="true"/>
          <p:nvPr/>
        </p:nvSpPr>
        <p:spPr>
          <a:xfrm rot="0">
            <a:off x="8886825" y="2476597"/>
            <a:ext cx="5928466"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3. Application Configuration</a:t>
            </a:r>
          </a:p>
        </p:txBody>
      </p:sp>
      <p:sp>
        <p:nvSpPr>
          <p:cNvPr name="TextBox 13" id="13"/>
          <p:cNvSpPr txBox="true"/>
          <p:nvPr/>
        </p:nvSpPr>
        <p:spPr>
          <a:xfrm rot="0">
            <a:off x="9234140" y="5923818"/>
            <a:ext cx="7770241" cy="2762885"/>
          </a:xfrm>
          <a:prstGeom prst="rect">
            <a:avLst/>
          </a:prstGeom>
        </p:spPr>
        <p:txBody>
          <a:bodyPr anchor="t" rtlCol="false" tIns="0" lIns="0" bIns="0" rIns="0">
            <a:spAutoFit/>
          </a:bodyPr>
          <a:lstStyle/>
          <a:p>
            <a:pPr algn="l">
              <a:lnSpc>
                <a:spcPts val="2019"/>
              </a:lnSpc>
            </a:pPr>
            <a:r>
              <a:rPr lang="en-US" sz="1999">
                <a:solidFill>
                  <a:srgbClr val="368CD1"/>
                </a:solidFill>
                <a:latin typeface="Poppins"/>
                <a:ea typeface="Poppins"/>
                <a:cs typeface="Poppins"/>
                <a:sym typeface="Poppins"/>
              </a:rPr>
              <a:t>Tahap akhir adalah mengaktifkan aplikasi dan menguji keberhasilannya. Langkah pertama adalah memulai ulang layanan (service restart), di mana script atau command dijalankan untuk menghidupkan aplikasi di server. Setelah aplikasi berjalan, uji coba cepat (smoke test) dilakukan untuk memverifikasi fungsi2 penting, seperti memastikan halaman login atau halaman utama dapat diakses dengan benar dan koneksi basis data berfungsi. Seluruh proses ini diawasi melalui logging untuk segera mengidentifikasi dan menyelesaikan kesalahan fatal yang mungkin terjadi saat aplikasi pertama kali dihidupkan.</a:t>
            </a:r>
          </a:p>
        </p:txBody>
      </p:sp>
      <p:sp>
        <p:nvSpPr>
          <p:cNvPr name="TextBox 14" id="14"/>
          <p:cNvSpPr txBox="true"/>
          <p:nvPr/>
        </p:nvSpPr>
        <p:spPr>
          <a:xfrm rot="0">
            <a:off x="8886825" y="5495925"/>
            <a:ext cx="9144000" cy="355600"/>
          </a:xfrm>
          <a:prstGeom prst="rect">
            <a:avLst/>
          </a:prstGeom>
        </p:spPr>
        <p:txBody>
          <a:bodyPr anchor="t" rtlCol="false" tIns="0" lIns="0" bIns="0" rIns="0">
            <a:spAutoFit/>
          </a:bodyPr>
          <a:lstStyle/>
          <a:p>
            <a:pPr algn="l">
              <a:lnSpc>
                <a:spcPts val="2524"/>
              </a:lnSpc>
            </a:pPr>
            <a:r>
              <a:rPr lang="en-US" sz="2499" b="true">
                <a:solidFill>
                  <a:srgbClr val="368CD1"/>
                </a:solidFill>
                <a:latin typeface="Poppins Bold"/>
                <a:ea typeface="Poppins Bold"/>
                <a:cs typeface="Poppins Bold"/>
                <a:sym typeface="Poppins Bold"/>
              </a:rPr>
              <a:t>4. Activation &amp; Verification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4346690" y="1374323"/>
            <a:ext cx="2551176" cy="4114800"/>
          </a:xfrm>
          <a:custGeom>
            <a:avLst/>
            <a:gdLst/>
            <a:ahLst/>
            <a:cxnLst/>
            <a:rect r="r" b="b" t="t" l="l"/>
            <a:pathLst>
              <a:path h="4114800" w="2551176">
                <a:moveTo>
                  <a:pt x="0" y="0"/>
                </a:moveTo>
                <a:lnTo>
                  <a:pt x="2551176" y="0"/>
                </a:lnTo>
                <a:lnTo>
                  <a:pt x="25511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4973" y="1149188"/>
            <a:ext cx="3457052" cy="5355996"/>
          </a:xfrm>
          <a:custGeom>
            <a:avLst/>
            <a:gdLst/>
            <a:ahLst/>
            <a:cxnLst/>
            <a:rect r="r" b="b" t="t" l="l"/>
            <a:pathLst>
              <a:path h="5355996" w="3457052">
                <a:moveTo>
                  <a:pt x="0" y="0"/>
                </a:moveTo>
                <a:lnTo>
                  <a:pt x="3457052" y="0"/>
                </a:lnTo>
                <a:lnTo>
                  <a:pt x="3457052" y="5355996"/>
                </a:lnTo>
                <a:lnTo>
                  <a:pt x="0" y="53559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930173" y="3945901"/>
            <a:ext cx="3316525" cy="5349233"/>
          </a:xfrm>
          <a:custGeom>
            <a:avLst/>
            <a:gdLst/>
            <a:ahLst/>
            <a:cxnLst/>
            <a:rect r="r" b="b" t="t" l="l"/>
            <a:pathLst>
              <a:path h="5349233" w="3316525">
                <a:moveTo>
                  <a:pt x="0" y="0"/>
                </a:moveTo>
                <a:lnTo>
                  <a:pt x="3316525" y="0"/>
                </a:lnTo>
                <a:lnTo>
                  <a:pt x="3316525" y="5349234"/>
                </a:lnTo>
                <a:lnTo>
                  <a:pt x="0" y="53492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910130" y="4404935"/>
            <a:ext cx="3712147" cy="4737079"/>
          </a:xfrm>
          <a:custGeom>
            <a:avLst/>
            <a:gdLst/>
            <a:ahLst/>
            <a:cxnLst/>
            <a:rect r="r" b="b" t="t" l="l"/>
            <a:pathLst>
              <a:path h="4737079" w="3712147">
                <a:moveTo>
                  <a:pt x="0" y="0"/>
                </a:moveTo>
                <a:lnTo>
                  <a:pt x="3712148" y="0"/>
                </a:lnTo>
                <a:lnTo>
                  <a:pt x="3712148" y="4737079"/>
                </a:lnTo>
                <a:lnTo>
                  <a:pt x="0" y="473707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8793602" y="2215728"/>
            <a:ext cx="8465698" cy="997560"/>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Web Hosting</a:t>
            </a:r>
          </a:p>
        </p:txBody>
      </p:sp>
      <p:sp>
        <p:nvSpPr>
          <p:cNvPr name="TextBox 12" id="12"/>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018</a:t>
            </a:r>
          </a:p>
        </p:txBody>
      </p:sp>
      <p:sp>
        <p:nvSpPr>
          <p:cNvPr name="TextBox 13" id="13"/>
          <p:cNvSpPr txBox="true"/>
          <p:nvPr/>
        </p:nvSpPr>
        <p:spPr>
          <a:xfrm rot="0">
            <a:off x="8950617" y="3554543"/>
            <a:ext cx="7674141" cy="5005362"/>
          </a:xfrm>
          <a:prstGeom prst="rect">
            <a:avLst/>
          </a:prstGeom>
        </p:spPr>
        <p:txBody>
          <a:bodyPr anchor="t" rtlCol="false" tIns="0" lIns="0" bIns="0" rIns="0">
            <a:spAutoFit/>
          </a:bodyPr>
          <a:lstStyle/>
          <a:p>
            <a:pPr algn="l">
              <a:lnSpc>
                <a:spcPts val="2191"/>
              </a:lnSpc>
            </a:pPr>
            <a:r>
              <a:rPr lang="en-US" sz="2169">
                <a:solidFill>
                  <a:srgbClr val="368CD1"/>
                </a:solidFill>
                <a:latin typeface="Poppins"/>
                <a:ea typeface="Poppins"/>
                <a:cs typeface="Poppins"/>
                <a:sym typeface="Poppins"/>
              </a:rPr>
              <a:t>Web hosting adalah layanan cloud yang membuat situs web dapat diakses di internet. Layanan ini menyimpan file-file situs web di komputer khusus yang disebut server dan mengirimkannya kepada pengunjung saat mereka mengetikkan nama domain tertentu.</a:t>
            </a:r>
          </a:p>
          <a:p>
            <a:pPr algn="l">
              <a:lnSpc>
                <a:spcPts val="2191"/>
              </a:lnSpc>
            </a:pPr>
          </a:p>
          <a:p>
            <a:pPr algn="l">
              <a:lnSpc>
                <a:spcPts val="2191"/>
              </a:lnSpc>
            </a:pPr>
            <a:r>
              <a:rPr lang="en-US" sz="2169">
                <a:solidFill>
                  <a:srgbClr val="368CD1"/>
                </a:solidFill>
                <a:latin typeface="Poppins"/>
                <a:ea typeface="Poppins"/>
                <a:cs typeface="Poppins"/>
                <a:sym typeface="Poppins"/>
              </a:rPr>
              <a:t>Server hosting web mirip dengan komputer rumahan biasa, tetapi mereka memiliki beberapa fitur/persyaratan tambahan yang penting untuk membantu mereka menjalankan tugasnya dengan lebih baik.</a:t>
            </a:r>
          </a:p>
          <a:p>
            <a:pPr algn="l">
              <a:lnSpc>
                <a:spcPts val="2191"/>
              </a:lnSpc>
            </a:pPr>
          </a:p>
          <a:p>
            <a:pPr algn="l">
              <a:lnSpc>
                <a:spcPts val="2191"/>
              </a:lnSpc>
            </a:pPr>
            <a:r>
              <a:rPr lang="en-US" sz="2169">
                <a:solidFill>
                  <a:srgbClr val="368CD1"/>
                </a:solidFill>
                <a:latin typeface="Poppins"/>
                <a:ea typeface="Poppins"/>
                <a:cs typeface="Poppins"/>
                <a:sym typeface="Poppins"/>
              </a:rPr>
              <a:t>Hal terpenting adalah stabilitas — server harus tetap online sepanjang waktu tanpa mengalami kegagalan. Itulah mengapa banyak server web menggunakan sistem operasi Linux. Linux lebih stabil dan andal daripada Windows untuk jenis pekerjaan ini.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524203"/>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0461423" y="1313131"/>
            <a:ext cx="4062430" cy="6172200"/>
          </a:xfrm>
          <a:custGeom>
            <a:avLst/>
            <a:gdLst/>
            <a:ahLst/>
            <a:cxnLst/>
            <a:rect r="r" b="b" t="t" l="l"/>
            <a:pathLst>
              <a:path h="6172200" w="4062430">
                <a:moveTo>
                  <a:pt x="0" y="0"/>
                </a:moveTo>
                <a:lnTo>
                  <a:pt x="4062430" y="0"/>
                </a:lnTo>
                <a:lnTo>
                  <a:pt x="4062430" y="6172200"/>
                </a:lnTo>
                <a:lnTo>
                  <a:pt x="0" y="6172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743233" y="3777022"/>
            <a:ext cx="2821988" cy="4820167"/>
          </a:xfrm>
          <a:custGeom>
            <a:avLst/>
            <a:gdLst/>
            <a:ahLst/>
            <a:cxnLst/>
            <a:rect r="r" b="b" t="t" l="l"/>
            <a:pathLst>
              <a:path h="4820167" w="2821988">
                <a:moveTo>
                  <a:pt x="0" y="0"/>
                </a:moveTo>
                <a:lnTo>
                  <a:pt x="2821989" y="0"/>
                </a:lnTo>
                <a:lnTo>
                  <a:pt x="2821989" y="4820167"/>
                </a:lnTo>
                <a:lnTo>
                  <a:pt x="0" y="4820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3918281" y="1798887"/>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3" id="13"/>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019</a:t>
            </a:r>
          </a:p>
        </p:txBody>
      </p:sp>
      <p:sp>
        <p:nvSpPr>
          <p:cNvPr name="TextBox 14" id="14"/>
          <p:cNvSpPr txBox="true"/>
          <p:nvPr/>
        </p:nvSpPr>
        <p:spPr>
          <a:xfrm rot="0">
            <a:off x="631103" y="981318"/>
            <a:ext cx="11236397" cy="711250"/>
          </a:xfrm>
          <a:prstGeom prst="rect">
            <a:avLst/>
          </a:prstGeom>
        </p:spPr>
        <p:txBody>
          <a:bodyPr anchor="t" rtlCol="false" tIns="0" lIns="0" bIns="0" rIns="0">
            <a:spAutoFit/>
          </a:bodyPr>
          <a:lstStyle/>
          <a:p>
            <a:pPr algn="l">
              <a:lnSpc>
                <a:spcPts val="5050"/>
              </a:lnSpc>
            </a:pPr>
            <a:r>
              <a:rPr lang="en-US" sz="5000" b="true">
                <a:solidFill>
                  <a:srgbClr val="16456A"/>
                </a:solidFill>
                <a:latin typeface="Poppins Bold"/>
                <a:ea typeface="Poppins Bold"/>
                <a:cs typeface="Poppins Bold"/>
                <a:sym typeface="Poppins Bold"/>
              </a:rPr>
              <a:t>Cara Hosting Sebuah Website</a:t>
            </a:r>
          </a:p>
        </p:txBody>
      </p:sp>
      <p:sp>
        <p:nvSpPr>
          <p:cNvPr name="TextBox 15" id="15"/>
          <p:cNvSpPr txBox="true"/>
          <p:nvPr/>
        </p:nvSpPr>
        <p:spPr>
          <a:xfrm rot="0">
            <a:off x="1181100" y="4250069"/>
            <a:ext cx="8863302" cy="10191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Setelah mendapatkan nama domain, kita perlu memilih penyedia layanan hosting web berdasarkan kebutuhan situs web, seperti kapasitas penyimpanan, bandwidth, fitur keamanan, dan dukungan teknis. Kita akan “menyewa” server.</a:t>
            </a:r>
          </a:p>
        </p:txBody>
      </p:sp>
      <p:sp>
        <p:nvSpPr>
          <p:cNvPr name="TextBox 16" id="16"/>
          <p:cNvSpPr txBox="true"/>
          <p:nvPr/>
        </p:nvSpPr>
        <p:spPr>
          <a:xfrm rot="0">
            <a:off x="850465" y="3724863"/>
            <a:ext cx="4770889" cy="450848"/>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2. Memilih Provider Hosting</a:t>
            </a:r>
          </a:p>
        </p:txBody>
      </p:sp>
      <p:sp>
        <p:nvSpPr>
          <p:cNvPr name="TextBox 17" id="17"/>
          <p:cNvSpPr txBox="true"/>
          <p:nvPr/>
        </p:nvSpPr>
        <p:spPr>
          <a:xfrm rot="0">
            <a:off x="1148243" y="2818150"/>
            <a:ext cx="8413923" cy="77149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Kita memerlukan nama Domain, misalnya: www.geeksforgeeks.org. Nama domain unik ini akan berfungsi sebagai alamat untuk situs web.</a:t>
            </a:r>
          </a:p>
        </p:txBody>
      </p:sp>
      <p:sp>
        <p:nvSpPr>
          <p:cNvPr name="TextBox 18" id="18"/>
          <p:cNvSpPr txBox="true"/>
          <p:nvPr/>
        </p:nvSpPr>
        <p:spPr>
          <a:xfrm rot="0">
            <a:off x="850465" y="2276409"/>
            <a:ext cx="4434215" cy="450848"/>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1. Registrasi Domain </a:t>
            </a:r>
          </a:p>
        </p:txBody>
      </p:sp>
      <p:sp>
        <p:nvSpPr>
          <p:cNvPr name="TextBox 19" id="19"/>
          <p:cNvSpPr txBox="true"/>
          <p:nvPr/>
        </p:nvSpPr>
        <p:spPr>
          <a:xfrm rot="0">
            <a:off x="1209675" y="5920727"/>
            <a:ext cx="8863302" cy="126679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Provider hosting akan mengalokasikan ruang untuk situs web di salah satu server mereka, seperti shared, VPS, dedicated, atau cloud. Jenis server yang digunakan tergantung pada kebutuhan situs web kita dan paket hosting yang kita pilih.</a:t>
            </a:r>
          </a:p>
          <a:p>
            <a:pPr algn="l">
              <a:lnSpc>
                <a:spcPts val="1992"/>
              </a:lnSpc>
            </a:pPr>
          </a:p>
        </p:txBody>
      </p:sp>
      <p:sp>
        <p:nvSpPr>
          <p:cNvPr name="TextBox 20" id="20"/>
          <p:cNvSpPr txBox="true"/>
          <p:nvPr/>
        </p:nvSpPr>
        <p:spPr>
          <a:xfrm rot="0">
            <a:off x="850465" y="5395520"/>
            <a:ext cx="4770889" cy="450848"/>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3. Mengonfigurasi Server</a:t>
            </a:r>
          </a:p>
        </p:txBody>
      </p:sp>
      <p:sp>
        <p:nvSpPr>
          <p:cNvPr name="TextBox 21" id="21"/>
          <p:cNvSpPr txBox="true"/>
          <p:nvPr/>
        </p:nvSpPr>
        <p:spPr>
          <a:xfrm rot="0">
            <a:off x="1236046" y="7607310"/>
            <a:ext cx="8827406" cy="15144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Kita akan mentransfer berkas-berkas situs web baik dari sisi Frontend (HTML, CSS, gambar, dll.) atau Backend dari komputer lokal ke server penyedia hosting. Hal ini biasanya dilakukan menggunakan FTP (File Transfer Protocol) atau melalui panel kontrol seperti cPanel. Atau jika filenya ada di Github, kita tinggal menggunakan git clone saja.</a:t>
            </a:r>
          </a:p>
          <a:p>
            <a:pPr algn="l">
              <a:lnSpc>
                <a:spcPts val="1992"/>
              </a:lnSpc>
            </a:pPr>
          </a:p>
        </p:txBody>
      </p:sp>
      <p:sp>
        <p:nvSpPr>
          <p:cNvPr name="TextBox 22" id="22"/>
          <p:cNvSpPr txBox="true"/>
          <p:nvPr/>
        </p:nvSpPr>
        <p:spPr>
          <a:xfrm rot="0">
            <a:off x="850465" y="7065569"/>
            <a:ext cx="5288849" cy="450848"/>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4. Mengupload File Website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756274"/>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0461423" y="1313131"/>
            <a:ext cx="4062430" cy="6172200"/>
          </a:xfrm>
          <a:custGeom>
            <a:avLst/>
            <a:gdLst/>
            <a:ahLst/>
            <a:cxnLst/>
            <a:rect r="r" b="b" t="t" l="l"/>
            <a:pathLst>
              <a:path h="6172200" w="4062430">
                <a:moveTo>
                  <a:pt x="0" y="0"/>
                </a:moveTo>
                <a:lnTo>
                  <a:pt x="4062430" y="0"/>
                </a:lnTo>
                <a:lnTo>
                  <a:pt x="4062430" y="6172200"/>
                </a:lnTo>
                <a:lnTo>
                  <a:pt x="0" y="6172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743233" y="3777022"/>
            <a:ext cx="2821988" cy="4820167"/>
          </a:xfrm>
          <a:custGeom>
            <a:avLst/>
            <a:gdLst/>
            <a:ahLst/>
            <a:cxnLst/>
            <a:rect r="r" b="b" t="t" l="l"/>
            <a:pathLst>
              <a:path h="4820167" w="2821988">
                <a:moveTo>
                  <a:pt x="0" y="0"/>
                </a:moveTo>
                <a:lnTo>
                  <a:pt x="2821989" y="0"/>
                </a:lnTo>
                <a:lnTo>
                  <a:pt x="2821989" y="4820167"/>
                </a:lnTo>
                <a:lnTo>
                  <a:pt x="0" y="4820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3918281" y="1798887"/>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3" id="13"/>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020</a:t>
            </a:r>
          </a:p>
        </p:txBody>
      </p:sp>
      <p:sp>
        <p:nvSpPr>
          <p:cNvPr name="TextBox 14" id="14"/>
          <p:cNvSpPr txBox="true"/>
          <p:nvPr/>
        </p:nvSpPr>
        <p:spPr>
          <a:xfrm rot="0">
            <a:off x="631103" y="981318"/>
            <a:ext cx="11236397" cy="711250"/>
          </a:xfrm>
          <a:prstGeom prst="rect">
            <a:avLst/>
          </a:prstGeom>
        </p:spPr>
        <p:txBody>
          <a:bodyPr anchor="t" rtlCol="false" tIns="0" lIns="0" bIns="0" rIns="0">
            <a:spAutoFit/>
          </a:bodyPr>
          <a:lstStyle/>
          <a:p>
            <a:pPr algn="l">
              <a:lnSpc>
                <a:spcPts val="5050"/>
              </a:lnSpc>
            </a:pPr>
            <a:r>
              <a:rPr lang="en-US" sz="5000" b="true">
                <a:solidFill>
                  <a:srgbClr val="16456A"/>
                </a:solidFill>
                <a:latin typeface="Poppins Bold"/>
                <a:ea typeface="Poppins Bold"/>
                <a:cs typeface="Poppins Bold"/>
                <a:sym typeface="Poppins Bold"/>
              </a:rPr>
              <a:t>Cara Hosting Sebuah Website</a:t>
            </a:r>
          </a:p>
        </p:txBody>
      </p:sp>
      <p:grpSp>
        <p:nvGrpSpPr>
          <p:cNvPr name="Group 15" id="15"/>
          <p:cNvGrpSpPr/>
          <p:nvPr/>
        </p:nvGrpSpPr>
        <p:grpSpPr>
          <a:xfrm rot="0">
            <a:off x="850465" y="2352609"/>
            <a:ext cx="9306487" cy="1979983"/>
            <a:chOff x="0" y="0"/>
            <a:chExt cx="12408649" cy="2639977"/>
          </a:xfrm>
        </p:grpSpPr>
        <p:sp>
          <p:nvSpPr>
            <p:cNvPr name="TextBox 16" id="16"/>
            <p:cNvSpPr txBox="true"/>
            <p:nvPr/>
          </p:nvSpPr>
          <p:spPr>
            <a:xfrm rot="0">
              <a:off x="494690" y="614372"/>
              <a:ext cx="11913958" cy="2025605"/>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Kita bisa setup database menggunakan tools seperti MySQL dan PostgreSQL. Jika situs web menggunakan konten dinamis seperti WordPress atau blog, maka kita memerlukan database untuk menyimpan konten tersebut. Dengan mengatur database ini, database tersebut akan terhubung ke situs web Anda.</a:t>
              </a:r>
            </a:p>
            <a:p>
              <a:pPr algn="l">
                <a:lnSpc>
                  <a:spcPts val="1992"/>
                </a:lnSpc>
              </a:pPr>
            </a:p>
          </p:txBody>
        </p:sp>
        <p:sp>
          <p:nvSpPr>
            <p:cNvPr name="TextBox 17" id="17"/>
            <p:cNvSpPr txBox="true"/>
            <p:nvPr/>
          </p:nvSpPr>
          <p:spPr>
            <a:xfrm rot="0">
              <a:off x="0" y="-76200"/>
              <a:ext cx="7138125" cy="575731"/>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5. Setup Database </a:t>
              </a:r>
            </a:p>
          </p:txBody>
        </p:sp>
      </p:grpSp>
      <p:grpSp>
        <p:nvGrpSpPr>
          <p:cNvPr name="Group 18" id="18"/>
          <p:cNvGrpSpPr/>
          <p:nvPr/>
        </p:nvGrpSpPr>
        <p:grpSpPr>
          <a:xfrm rot="0">
            <a:off x="850465" y="4294828"/>
            <a:ext cx="9306487" cy="2023296"/>
            <a:chOff x="0" y="0"/>
            <a:chExt cx="12408649" cy="2697728"/>
          </a:xfrm>
        </p:grpSpPr>
        <p:sp>
          <p:nvSpPr>
            <p:cNvPr name="TextBox 19" id="19"/>
            <p:cNvSpPr txBox="true"/>
            <p:nvPr/>
          </p:nvSpPr>
          <p:spPr>
            <a:xfrm rot="0">
              <a:off x="494690" y="672123"/>
              <a:ext cx="11913958" cy="2025605"/>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Hal ini memastikan bahwa ketika seseorang mengetikkan nama domain kita, mereka akan diarahkan ke situs web yang dihosting di server yang benar. DNS (Domain Name System) menerjemahkan nama domain yang ramah pengguna, misalnya www.geeksforgeeks.org, menjadi alamat IP.</a:t>
              </a:r>
            </a:p>
            <a:p>
              <a:pPr algn="l">
                <a:lnSpc>
                  <a:spcPts val="1992"/>
                </a:lnSpc>
              </a:pPr>
            </a:p>
          </p:txBody>
        </p:sp>
        <p:sp>
          <p:nvSpPr>
            <p:cNvPr name="TextBox 20" id="20"/>
            <p:cNvSpPr txBox="true"/>
            <p:nvPr/>
          </p:nvSpPr>
          <p:spPr>
            <a:xfrm rot="0">
              <a:off x="0" y="-76200"/>
              <a:ext cx="10861192" cy="1159931"/>
            </a:xfrm>
            <a:prstGeom prst="rect">
              <a:avLst/>
            </a:prstGeom>
          </p:spPr>
          <p:txBody>
            <a:bodyPr anchor="t" rtlCol="false" tIns="0" lIns="0" bIns="0" rIns="0">
              <a:spAutoFit/>
            </a:bodyPr>
            <a:lstStyle/>
            <a:p>
              <a:pPr algn="l">
                <a:lnSpc>
                  <a:spcPts val="3500"/>
                </a:lnSpc>
              </a:pPr>
              <a:r>
                <a:rPr lang="en-US" sz="2500" b="true">
                  <a:solidFill>
                    <a:srgbClr val="368CD1"/>
                  </a:solidFill>
                  <a:latin typeface="Poppins Bold"/>
                  <a:ea typeface="Poppins Bold"/>
                  <a:cs typeface="Poppins Bold"/>
                  <a:sym typeface="Poppins Bold"/>
                </a:rPr>
                <a:t>6. Konfigurasi DNS (Domain Name System) </a:t>
              </a:r>
            </a:p>
            <a:p>
              <a:pPr algn="l">
                <a:lnSpc>
                  <a:spcPts val="3500"/>
                </a:lnSpc>
                <a:spcBef>
                  <a:spcPct val="0"/>
                </a:spcBef>
              </a:pPr>
            </a:p>
          </p:txBody>
        </p:sp>
      </p:grpSp>
      <p:grpSp>
        <p:nvGrpSpPr>
          <p:cNvPr name="Group 21" id="21"/>
          <p:cNvGrpSpPr/>
          <p:nvPr/>
        </p:nvGrpSpPr>
        <p:grpSpPr>
          <a:xfrm rot="0">
            <a:off x="850465" y="6288311"/>
            <a:ext cx="8293535" cy="2039831"/>
            <a:chOff x="0" y="0"/>
            <a:chExt cx="11058046" cy="2719774"/>
          </a:xfrm>
        </p:grpSpPr>
        <p:sp>
          <p:nvSpPr>
            <p:cNvPr name="TextBox 22" id="22"/>
            <p:cNvSpPr txBox="true"/>
            <p:nvPr/>
          </p:nvSpPr>
          <p:spPr>
            <a:xfrm rot="0">
              <a:off x="440846" y="694169"/>
              <a:ext cx="10617200" cy="2025605"/>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Setelah konfigurasi yang dilakukan, termasuk DNS, telah disetel dan menyebar ke seluruh jaringan global, situs web kita menjadi dapat diakses oleh seluruh dunia. Kini, siapa pun dapat mengetikkan nama domain situs web kita dan situs tersebut akan dapat diakses oleh mereka.</a:t>
              </a:r>
            </a:p>
            <a:p>
              <a:pPr algn="l">
                <a:lnSpc>
                  <a:spcPts val="1992"/>
                </a:lnSpc>
              </a:pPr>
            </a:p>
          </p:txBody>
        </p:sp>
        <p:sp>
          <p:nvSpPr>
            <p:cNvPr name="TextBox 23" id="23"/>
            <p:cNvSpPr txBox="true"/>
            <p:nvPr/>
          </p:nvSpPr>
          <p:spPr>
            <a:xfrm rot="0">
              <a:off x="0" y="-76200"/>
              <a:ext cx="9679020" cy="575731"/>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7. Aksesibilitas Website</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7228"/>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10461423" y="1313131"/>
            <a:ext cx="4062430" cy="6172200"/>
          </a:xfrm>
          <a:custGeom>
            <a:avLst/>
            <a:gdLst/>
            <a:ahLst/>
            <a:cxnLst/>
            <a:rect r="r" b="b" t="t" l="l"/>
            <a:pathLst>
              <a:path h="6172200" w="4062430">
                <a:moveTo>
                  <a:pt x="0" y="0"/>
                </a:moveTo>
                <a:lnTo>
                  <a:pt x="4062430" y="0"/>
                </a:lnTo>
                <a:lnTo>
                  <a:pt x="4062430" y="6172200"/>
                </a:lnTo>
                <a:lnTo>
                  <a:pt x="0" y="6172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743233" y="3777022"/>
            <a:ext cx="2821988" cy="4820167"/>
          </a:xfrm>
          <a:custGeom>
            <a:avLst/>
            <a:gdLst/>
            <a:ahLst/>
            <a:cxnLst/>
            <a:rect r="r" b="b" t="t" l="l"/>
            <a:pathLst>
              <a:path h="4820167" w="2821988">
                <a:moveTo>
                  <a:pt x="0" y="0"/>
                </a:moveTo>
                <a:lnTo>
                  <a:pt x="2821989" y="0"/>
                </a:lnTo>
                <a:lnTo>
                  <a:pt x="2821989" y="4820167"/>
                </a:lnTo>
                <a:lnTo>
                  <a:pt x="0" y="4820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3918281" y="1798887"/>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3" id="13"/>
          <p:cNvSpPr txBox="true"/>
          <p:nvPr/>
        </p:nvSpPr>
        <p:spPr>
          <a:xfrm rot="0">
            <a:off x="1174973" y="9813283"/>
            <a:ext cx="1196029" cy="420123"/>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021</a:t>
            </a:r>
          </a:p>
          <a:p>
            <a:pPr algn="l">
              <a:lnSpc>
                <a:spcPts val="1637"/>
              </a:lnSpc>
            </a:pPr>
          </a:p>
        </p:txBody>
      </p:sp>
      <p:sp>
        <p:nvSpPr>
          <p:cNvPr name="TextBox 14" id="14"/>
          <p:cNvSpPr txBox="true"/>
          <p:nvPr/>
        </p:nvSpPr>
        <p:spPr>
          <a:xfrm rot="0">
            <a:off x="631103" y="981318"/>
            <a:ext cx="11236397" cy="711250"/>
          </a:xfrm>
          <a:prstGeom prst="rect">
            <a:avLst/>
          </a:prstGeom>
        </p:spPr>
        <p:txBody>
          <a:bodyPr anchor="t" rtlCol="false" tIns="0" lIns="0" bIns="0" rIns="0">
            <a:spAutoFit/>
          </a:bodyPr>
          <a:lstStyle/>
          <a:p>
            <a:pPr algn="l">
              <a:lnSpc>
                <a:spcPts val="5050"/>
              </a:lnSpc>
            </a:pPr>
            <a:r>
              <a:rPr lang="en-US" sz="5000" b="true">
                <a:solidFill>
                  <a:srgbClr val="16456A"/>
                </a:solidFill>
                <a:latin typeface="Poppins Bold"/>
                <a:ea typeface="Poppins Bold"/>
                <a:cs typeface="Poppins Bold"/>
                <a:sym typeface="Poppins Bold"/>
              </a:rPr>
              <a:t>Cara Hosting Sebuah Website</a:t>
            </a:r>
          </a:p>
        </p:txBody>
      </p:sp>
      <p:sp>
        <p:nvSpPr>
          <p:cNvPr name="TextBox 15" id="15"/>
          <p:cNvSpPr txBox="true"/>
          <p:nvPr/>
        </p:nvSpPr>
        <p:spPr>
          <a:xfrm rot="0">
            <a:off x="1200150" y="2818150"/>
            <a:ext cx="7962900" cy="200974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Situs web bukanlah proyek yang bisa dibiarkan begitu saja setelah dibuat. Mereka memerlukan pembaruan rutin baik pada konten maupun perangkat lunak dasarnya. Hal ini juga mencakup pemantauan terhadap potensi masalah, memastikan langkah-langkah keamanan diperbarui, melakukan pencadangan data situs, dan mengoptimalkan kinerja.</a:t>
            </a:r>
          </a:p>
          <a:p>
            <a:pPr algn="l">
              <a:lnSpc>
                <a:spcPts val="1992"/>
              </a:lnSpc>
            </a:pPr>
          </a:p>
        </p:txBody>
      </p:sp>
      <p:sp>
        <p:nvSpPr>
          <p:cNvPr name="TextBox 16" id="16"/>
          <p:cNvSpPr txBox="true"/>
          <p:nvPr/>
        </p:nvSpPr>
        <p:spPr>
          <a:xfrm rot="0">
            <a:off x="850465" y="2276409"/>
            <a:ext cx="4770889" cy="450848"/>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8. Maintenance Lanjutan</a:t>
            </a:r>
          </a:p>
        </p:txBody>
      </p:sp>
      <p:sp>
        <p:nvSpPr>
          <p:cNvPr name="TextBox 17" id="17"/>
          <p:cNvSpPr txBox="true"/>
          <p:nvPr/>
        </p:nvSpPr>
        <p:spPr>
          <a:xfrm rot="0">
            <a:off x="1181100" y="5365321"/>
            <a:ext cx="7962900" cy="1266791"/>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Tergantung pada jumlah pengunjung yang datang ke situs web, kita mungkin perlu meningkatkan sumber daya. Hal ini bisa berarti membeli bandwidth dan penyimpanan tambahan, atau bahkan mengupgrade paket hosting.</a:t>
            </a:r>
          </a:p>
          <a:p>
            <a:pPr algn="l">
              <a:lnSpc>
                <a:spcPts val="1992"/>
              </a:lnSpc>
            </a:pPr>
          </a:p>
        </p:txBody>
      </p:sp>
      <p:sp>
        <p:nvSpPr>
          <p:cNvPr name="TextBox 18" id="18"/>
          <p:cNvSpPr txBox="true"/>
          <p:nvPr/>
        </p:nvSpPr>
        <p:spPr>
          <a:xfrm rot="0">
            <a:off x="850465" y="4789792"/>
            <a:ext cx="7259265" cy="424788"/>
          </a:xfrm>
          <a:prstGeom prst="rect">
            <a:avLst/>
          </a:prstGeom>
        </p:spPr>
        <p:txBody>
          <a:bodyPr anchor="t" rtlCol="false" tIns="0" lIns="0" bIns="0" rIns="0">
            <a:spAutoFit/>
          </a:bodyPr>
          <a:lstStyle/>
          <a:p>
            <a:pPr algn="l">
              <a:lnSpc>
                <a:spcPts val="3360"/>
              </a:lnSpc>
              <a:spcBef>
                <a:spcPct val="0"/>
              </a:spcBef>
            </a:pPr>
            <a:r>
              <a:rPr lang="en-US" b="true" sz="2400">
                <a:solidFill>
                  <a:srgbClr val="368CD1"/>
                </a:solidFill>
                <a:latin typeface="Poppins Bold"/>
                <a:ea typeface="Poppins Bold"/>
                <a:cs typeface="Poppins Bold"/>
                <a:sym typeface="Poppins Bold"/>
              </a:rPr>
              <a:t>9. Handle Traffic</a:t>
            </a:r>
          </a:p>
        </p:txBody>
      </p:sp>
      <p:grpSp>
        <p:nvGrpSpPr>
          <p:cNvPr name="Group 19" id="19"/>
          <p:cNvGrpSpPr/>
          <p:nvPr/>
        </p:nvGrpSpPr>
        <p:grpSpPr>
          <a:xfrm rot="0">
            <a:off x="688540" y="6660687"/>
            <a:ext cx="8449333" cy="1792181"/>
            <a:chOff x="0" y="0"/>
            <a:chExt cx="11265777" cy="2389574"/>
          </a:xfrm>
        </p:grpSpPr>
        <p:sp>
          <p:nvSpPr>
            <p:cNvPr name="TextBox 20" id="20"/>
            <p:cNvSpPr txBox="true"/>
            <p:nvPr/>
          </p:nvSpPr>
          <p:spPr>
            <a:xfrm rot="0">
              <a:off x="648577" y="694169"/>
              <a:ext cx="10617200" cy="1695405"/>
            </a:xfrm>
            <a:prstGeom prst="rect">
              <a:avLst/>
            </a:prstGeom>
          </p:spPr>
          <p:txBody>
            <a:bodyPr anchor="t" rtlCol="false" tIns="0" lIns="0" bIns="0" rIns="0">
              <a:spAutoFit/>
            </a:bodyPr>
            <a:lstStyle/>
            <a:p>
              <a:pPr algn="l">
                <a:lnSpc>
                  <a:spcPts val="1992"/>
                </a:lnSpc>
              </a:pPr>
              <a:r>
                <a:rPr lang="en-US" sz="1972">
                  <a:solidFill>
                    <a:srgbClr val="368CD1"/>
                  </a:solidFill>
                  <a:latin typeface="Poppins"/>
                  <a:ea typeface="Poppins"/>
                  <a:cs typeface="Poppins"/>
                  <a:sym typeface="Poppins"/>
                </a:rPr>
                <a:t>Jika terjadi masalah seperti downtime situs web, kinerja lambat, atau gangguan lainnya pada situs web, maka kita atau penyedia hosting perlu segera melakukan troubleshooting dan menyelesaikan masalah tersebut.</a:t>
              </a:r>
            </a:p>
            <a:p>
              <a:pPr algn="l">
                <a:lnSpc>
                  <a:spcPts val="1992"/>
                </a:lnSpc>
              </a:pPr>
            </a:p>
          </p:txBody>
        </p:sp>
        <p:sp>
          <p:nvSpPr>
            <p:cNvPr name="TextBox 21" id="21"/>
            <p:cNvSpPr txBox="true"/>
            <p:nvPr/>
          </p:nvSpPr>
          <p:spPr>
            <a:xfrm rot="0">
              <a:off x="0" y="-76200"/>
              <a:ext cx="9679020" cy="575731"/>
            </a:xfrm>
            <a:prstGeom prst="rect">
              <a:avLst/>
            </a:prstGeom>
          </p:spPr>
          <p:txBody>
            <a:bodyPr anchor="t" rtlCol="false" tIns="0" lIns="0" bIns="0" rIns="0">
              <a:spAutoFit/>
            </a:bodyPr>
            <a:lstStyle/>
            <a:p>
              <a:pPr algn="l">
                <a:lnSpc>
                  <a:spcPts val="3500"/>
                </a:lnSpc>
                <a:spcBef>
                  <a:spcPct val="0"/>
                </a:spcBef>
              </a:pPr>
              <a:r>
                <a:rPr lang="en-US" b="true" sz="2500">
                  <a:solidFill>
                    <a:srgbClr val="368CD1"/>
                  </a:solidFill>
                  <a:latin typeface="Poppins Bold"/>
                  <a:ea typeface="Poppins Bold"/>
                  <a:cs typeface="Poppins Bold"/>
                  <a:sym typeface="Poppins Bold"/>
                </a:rPr>
                <a:t>10. Technical Support and Troubleshooting</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grpSp>
        <p:nvGrpSpPr>
          <p:cNvPr name="Group 7" id="7"/>
          <p:cNvGrpSpPr/>
          <p:nvPr/>
        </p:nvGrpSpPr>
        <p:grpSpPr>
          <a:xfrm rot="0">
            <a:off x="474697" y="534373"/>
            <a:ext cx="17338607" cy="8557151"/>
            <a:chOff x="0" y="0"/>
            <a:chExt cx="23118143" cy="11409534"/>
          </a:xfrm>
        </p:grpSpPr>
        <p:sp>
          <p:nvSpPr>
            <p:cNvPr name="Freeform 8" id="8"/>
            <p:cNvSpPr/>
            <p:nvPr/>
          </p:nvSpPr>
          <p:spPr>
            <a:xfrm flipH="false" flipV="false" rot="0">
              <a:off x="824708" y="0"/>
              <a:ext cx="10491864" cy="5245932"/>
            </a:xfrm>
            <a:custGeom>
              <a:avLst/>
              <a:gdLst/>
              <a:ahLst/>
              <a:cxnLst/>
              <a:rect r="r" b="b" t="t" l="l"/>
              <a:pathLst>
                <a:path h="5245932" w="10491864">
                  <a:moveTo>
                    <a:pt x="0" y="0"/>
                  </a:moveTo>
                  <a:lnTo>
                    <a:pt x="10491865" y="0"/>
                  </a:lnTo>
                  <a:lnTo>
                    <a:pt x="10491865" y="5245932"/>
                  </a:lnTo>
                  <a:lnTo>
                    <a:pt x="0" y="5245932"/>
                  </a:lnTo>
                  <a:lnTo>
                    <a:pt x="0" y="0"/>
                  </a:lnTo>
                  <a:close/>
                </a:path>
              </a:pathLst>
            </a:custGeom>
            <a:blipFill>
              <a:blip r:embed="rId5"/>
              <a:stretch>
                <a:fillRect l="0" t="0" r="0" b="0"/>
              </a:stretch>
            </a:blipFill>
          </p:spPr>
        </p:sp>
        <p:sp>
          <p:nvSpPr>
            <p:cNvPr name="Freeform 9" id="9"/>
            <p:cNvSpPr/>
            <p:nvPr/>
          </p:nvSpPr>
          <p:spPr>
            <a:xfrm flipH="false" flipV="false" rot="0">
              <a:off x="0" y="5703132"/>
              <a:ext cx="12141281" cy="5706402"/>
            </a:xfrm>
            <a:custGeom>
              <a:avLst/>
              <a:gdLst/>
              <a:ahLst/>
              <a:cxnLst/>
              <a:rect r="r" b="b" t="t" l="l"/>
              <a:pathLst>
                <a:path h="5706402" w="12141281">
                  <a:moveTo>
                    <a:pt x="0" y="0"/>
                  </a:moveTo>
                  <a:lnTo>
                    <a:pt x="12141281" y="0"/>
                  </a:lnTo>
                  <a:lnTo>
                    <a:pt x="12141281" y="5706402"/>
                  </a:lnTo>
                  <a:lnTo>
                    <a:pt x="0" y="5706402"/>
                  </a:lnTo>
                  <a:lnTo>
                    <a:pt x="0" y="0"/>
                  </a:lnTo>
                  <a:close/>
                </a:path>
              </a:pathLst>
            </a:custGeom>
            <a:blipFill>
              <a:blip r:embed="rId6"/>
              <a:stretch>
                <a:fillRect l="0" t="0" r="0" b="0"/>
              </a:stretch>
            </a:blipFill>
          </p:spPr>
        </p:sp>
        <p:sp>
          <p:nvSpPr>
            <p:cNvPr name="Freeform 10" id="10"/>
            <p:cNvSpPr/>
            <p:nvPr/>
          </p:nvSpPr>
          <p:spPr>
            <a:xfrm flipH="false" flipV="false" rot="0">
              <a:off x="12932582" y="565568"/>
              <a:ext cx="10185560" cy="9128808"/>
            </a:xfrm>
            <a:custGeom>
              <a:avLst/>
              <a:gdLst/>
              <a:ahLst/>
              <a:cxnLst/>
              <a:rect r="r" b="b" t="t" l="l"/>
              <a:pathLst>
                <a:path h="9128808" w="10185560">
                  <a:moveTo>
                    <a:pt x="0" y="0"/>
                  </a:moveTo>
                  <a:lnTo>
                    <a:pt x="10185561" y="0"/>
                  </a:lnTo>
                  <a:lnTo>
                    <a:pt x="10185561" y="9128809"/>
                  </a:lnTo>
                  <a:lnTo>
                    <a:pt x="0" y="9128809"/>
                  </a:lnTo>
                  <a:lnTo>
                    <a:pt x="0" y="0"/>
                  </a:lnTo>
                  <a:close/>
                </a:path>
              </a:pathLst>
            </a:custGeom>
            <a:blipFill>
              <a:blip r:embed="rId7"/>
              <a:stretch>
                <a:fillRect l="0" t="0" r="0" b="0"/>
              </a:stretch>
            </a:blipFill>
          </p:spPr>
        </p:sp>
      </p:grpSp>
      <p:sp>
        <p:nvSpPr>
          <p:cNvPr name="TextBox 11" id="11"/>
          <p:cNvSpPr txBox="true"/>
          <p:nvPr/>
        </p:nvSpPr>
        <p:spPr>
          <a:xfrm rot="0">
            <a:off x="119402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4346690" y="1374323"/>
            <a:ext cx="2551176" cy="4114800"/>
          </a:xfrm>
          <a:custGeom>
            <a:avLst/>
            <a:gdLst/>
            <a:ahLst/>
            <a:cxnLst/>
            <a:rect r="r" b="b" t="t" l="l"/>
            <a:pathLst>
              <a:path h="4114800" w="2551176">
                <a:moveTo>
                  <a:pt x="0" y="0"/>
                </a:moveTo>
                <a:lnTo>
                  <a:pt x="2551176" y="0"/>
                </a:lnTo>
                <a:lnTo>
                  <a:pt x="25511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4973" y="1149188"/>
            <a:ext cx="3457052" cy="5355996"/>
          </a:xfrm>
          <a:custGeom>
            <a:avLst/>
            <a:gdLst/>
            <a:ahLst/>
            <a:cxnLst/>
            <a:rect r="r" b="b" t="t" l="l"/>
            <a:pathLst>
              <a:path h="5355996" w="3457052">
                <a:moveTo>
                  <a:pt x="0" y="0"/>
                </a:moveTo>
                <a:lnTo>
                  <a:pt x="3457052" y="0"/>
                </a:lnTo>
                <a:lnTo>
                  <a:pt x="3457052" y="5355996"/>
                </a:lnTo>
                <a:lnTo>
                  <a:pt x="0" y="53559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930173" y="3945901"/>
            <a:ext cx="3316525" cy="5349233"/>
          </a:xfrm>
          <a:custGeom>
            <a:avLst/>
            <a:gdLst/>
            <a:ahLst/>
            <a:cxnLst/>
            <a:rect r="r" b="b" t="t" l="l"/>
            <a:pathLst>
              <a:path h="5349233" w="3316525">
                <a:moveTo>
                  <a:pt x="0" y="0"/>
                </a:moveTo>
                <a:lnTo>
                  <a:pt x="3316525" y="0"/>
                </a:lnTo>
                <a:lnTo>
                  <a:pt x="3316525" y="5349234"/>
                </a:lnTo>
                <a:lnTo>
                  <a:pt x="0" y="53492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910130" y="4404935"/>
            <a:ext cx="3712147" cy="4737079"/>
          </a:xfrm>
          <a:custGeom>
            <a:avLst/>
            <a:gdLst/>
            <a:ahLst/>
            <a:cxnLst/>
            <a:rect r="r" b="b" t="t" l="l"/>
            <a:pathLst>
              <a:path h="4737079" w="3712147">
                <a:moveTo>
                  <a:pt x="0" y="0"/>
                </a:moveTo>
                <a:lnTo>
                  <a:pt x="3712148" y="0"/>
                </a:lnTo>
                <a:lnTo>
                  <a:pt x="3712148" y="4737079"/>
                </a:lnTo>
                <a:lnTo>
                  <a:pt x="0" y="473707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7647800" y="1196813"/>
            <a:ext cx="9510374" cy="1494740"/>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Contoh Real Deployment</a:t>
            </a:r>
          </a:p>
          <a:p>
            <a:pPr algn="ctr">
              <a:lnSpc>
                <a:spcPts val="5554"/>
              </a:lnSpc>
            </a:pPr>
            <a:r>
              <a:rPr lang="en-US" sz="5499" b="true">
                <a:solidFill>
                  <a:srgbClr val="16456A"/>
                </a:solidFill>
                <a:latin typeface="Poppins Bold"/>
                <a:ea typeface="Poppins Bold"/>
                <a:cs typeface="Poppins Bold"/>
                <a:sym typeface="Poppins Bold"/>
              </a:rPr>
              <a:t>Menggunakan VPS</a:t>
            </a:r>
          </a:p>
        </p:txBody>
      </p:sp>
      <p:sp>
        <p:nvSpPr>
          <p:cNvPr name="TextBox 12" id="12"/>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023</a:t>
            </a:r>
          </a:p>
        </p:txBody>
      </p:sp>
      <p:sp>
        <p:nvSpPr>
          <p:cNvPr name="TextBox 13" id="13"/>
          <p:cNvSpPr txBox="true"/>
          <p:nvPr/>
        </p:nvSpPr>
        <p:spPr>
          <a:xfrm rot="0">
            <a:off x="8586855" y="4619898"/>
            <a:ext cx="7962900" cy="240427"/>
          </a:xfrm>
          <a:prstGeom prst="rect">
            <a:avLst/>
          </a:prstGeom>
        </p:spPr>
        <p:txBody>
          <a:bodyPr anchor="t" rtlCol="false" tIns="0" lIns="0" bIns="0" rIns="0">
            <a:spAutoFit/>
          </a:bodyPr>
          <a:lstStyle/>
          <a:p>
            <a:pPr algn="l">
              <a:lnSpc>
                <a:spcPts val="1689"/>
              </a:lnSpc>
            </a:pPr>
          </a:p>
        </p:txBody>
      </p:sp>
      <p:sp>
        <p:nvSpPr>
          <p:cNvPr name="TextBox 14" id="14"/>
          <p:cNvSpPr txBox="true"/>
          <p:nvPr/>
        </p:nvSpPr>
        <p:spPr>
          <a:xfrm rot="0">
            <a:off x="8793602" y="3557217"/>
            <a:ext cx="8901954" cy="4196465"/>
          </a:xfrm>
          <a:prstGeom prst="rect">
            <a:avLst/>
          </a:prstGeom>
        </p:spPr>
        <p:txBody>
          <a:bodyPr anchor="t" rtlCol="false" tIns="0" lIns="0" bIns="0" rIns="0">
            <a:spAutoFit/>
          </a:bodyPr>
          <a:lstStyle/>
          <a:p>
            <a:pPr algn="l">
              <a:lnSpc>
                <a:spcPts val="3360"/>
              </a:lnSpc>
            </a:pPr>
            <a:r>
              <a:rPr lang="en-US" sz="2400" b="true">
                <a:solidFill>
                  <a:srgbClr val="368CD1"/>
                </a:solidFill>
                <a:latin typeface="Poppins Bold"/>
                <a:ea typeface="Poppins Bold"/>
                <a:cs typeface="Poppins Bold"/>
                <a:sym typeface="Poppins Bold"/>
              </a:rPr>
              <a:t>Requirements: VPS, SSH key, Domain, Github Project</a:t>
            </a:r>
          </a:p>
          <a:p>
            <a:pPr algn="l">
              <a:lnSpc>
                <a:spcPts val="3360"/>
              </a:lnSpc>
            </a:pPr>
          </a:p>
          <a:p>
            <a:pPr algn="l">
              <a:lnSpc>
                <a:spcPts val="3360"/>
              </a:lnSpc>
            </a:pPr>
            <a:r>
              <a:rPr lang="en-US" sz="2400" b="true">
                <a:solidFill>
                  <a:srgbClr val="368CD1"/>
                </a:solidFill>
                <a:latin typeface="Poppins Bold"/>
                <a:ea typeface="Poppins Bold"/>
                <a:cs typeface="Poppins Bold"/>
                <a:sym typeface="Poppins Bold"/>
              </a:rPr>
              <a:t>OS: Ubuntu 22.04 LTS</a:t>
            </a:r>
          </a:p>
          <a:p>
            <a:pPr algn="l">
              <a:lnSpc>
                <a:spcPts val="3360"/>
              </a:lnSpc>
            </a:pPr>
            <a:r>
              <a:rPr lang="en-US" sz="2400" b="true">
                <a:solidFill>
                  <a:srgbClr val="368CD1"/>
                </a:solidFill>
                <a:latin typeface="Poppins Bold"/>
                <a:ea typeface="Poppins Bold"/>
                <a:cs typeface="Poppins Bold"/>
                <a:sym typeface="Poppins Bold"/>
              </a:rPr>
              <a:t>Web Server: Nginx</a:t>
            </a:r>
          </a:p>
          <a:p>
            <a:pPr algn="l">
              <a:lnSpc>
                <a:spcPts val="3360"/>
              </a:lnSpc>
            </a:pPr>
            <a:r>
              <a:rPr lang="en-US" sz="2400" b="true">
                <a:solidFill>
                  <a:srgbClr val="368CD1"/>
                </a:solidFill>
                <a:latin typeface="Poppins Bold"/>
                <a:ea typeface="Poppins Bold"/>
                <a:cs typeface="Poppins Bold"/>
                <a:sym typeface="Poppins Bold"/>
              </a:rPr>
              <a:t>Database: PostgreSQL</a:t>
            </a:r>
          </a:p>
          <a:p>
            <a:pPr algn="l">
              <a:lnSpc>
                <a:spcPts val="3360"/>
              </a:lnSpc>
            </a:pPr>
            <a:r>
              <a:rPr lang="en-US" sz="2400" b="true">
                <a:solidFill>
                  <a:srgbClr val="368CD1"/>
                </a:solidFill>
                <a:latin typeface="Poppins Bold"/>
                <a:ea typeface="Poppins Bold"/>
                <a:cs typeface="Poppins Bold"/>
                <a:sym typeface="Poppins Bold"/>
              </a:rPr>
              <a:t>Packages: Docker, Docker compose, Certbot, Git</a:t>
            </a:r>
          </a:p>
          <a:p>
            <a:pPr algn="l">
              <a:lnSpc>
                <a:spcPts val="3360"/>
              </a:lnSpc>
            </a:pPr>
            <a:r>
              <a:rPr lang="en-US" sz="2400" b="true">
                <a:solidFill>
                  <a:srgbClr val="368CD1"/>
                </a:solidFill>
                <a:latin typeface="Poppins Bold"/>
                <a:ea typeface="Poppins Bold"/>
                <a:cs typeface="Poppins Bold"/>
                <a:sym typeface="Poppins Bold"/>
              </a:rPr>
              <a:t>Frontend: NextJS </a:t>
            </a:r>
          </a:p>
          <a:p>
            <a:pPr algn="l">
              <a:lnSpc>
                <a:spcPts val="3360"/>
              </a:lnSpc>
            </a:pPr>
            <a:r>
              <a:rPr lang="en-US" sz="2400" b="true">
                <a:solidFill>
                  <a:srgbClr val="368CD1"/>
                </a:solidFill>
                <a:latin typeface="Poppins Bold"/>
                <a:ea typeface="Poppins Bold"/>
                <a:cs typeface="Poppins Bold"/>
                <a:sym typeface="Poppins Bold"/>
              </a:rPr>
              <a:t>Backend: Golang</a:t>
            </a:r>
          </a:p>
          <a:p>
            <a:pPr algn="l">
              <a:lnSpc>
                <a:spcPts val="3360"/>
              </a:lnSpc>
            </a:pPr>
            <a:r>
              <a:rPr lang="en-US" sz="2400" b="true">
                <a:solidFill>
                  <a:srgbClr val="368CD1"/>
                </a:solidFill>
                <a:latin typeface="Poppins Bold"/>
                <a:ea typeface="Poppins Bold"/>
                <a:cs typeface="Poppins Bold"/>
                <a:sym typeface="Poppins Bold"/>
              </a:rPr>
              <a:t>SSL: Let’s Encrypt (Certbot)</a:t>
            </a:r>
          </a:p>
          <a:p>
            <a:pPr algn="l">
              <a:lnSpc>
                <a:spcPts val="3360"/>
              </a:lnSpc>
              <a:spcBef>
                <a:spcPct val="0"/>
              </a:spcBef>
            </a:pPr>
            <a:r>
              <a:rPr lang="en-US" b="true" sz="2400">
                <a:solidFill>
                  <a:srgbClr val="368CD1"/>
                </a:solidFill>
                <a:latin typeface="Poppins Bold"/>
                <a:ea typeface="Poppins Bold"/>
                <a:cs typeface="Poppins Bold"/>
                <a:sym typeface="Poppins Bold"/>
              </a:rPr>
              <a:t>SSH Keys: For secure access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4388813" y="657555"/>
            <a:ext cx="9510374" cy="78991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Server Setup</a:t>
            </a:r>
          </a:p>
        </p:txBody>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024</a:t>
            </a:r>
          </a:p>
        </p:txBody>
      </p:sp>
      <p:sp>
        <p:nvSpPr>
          <p:cNvPr name="TextBox 9" id="9"/>
          <p:cNvSpPr txBox="true"/>
          <p:nvPr/>
        </p:nvSpPr>
        <p:spPr>
          <a:xfrm rot="0">
            <a:off x="8586855" y="4619898"/>
            <a:ext cx="7962900" cy="240427"/>
          </a:xfrm>
          <a:prstGeom prst="rect">
            <a:avLst/>
          </a:prstGeom>
        </p:spPr>
        <p:txBody>
          <a:bodyPr anchor="t" rtlCol="false" tIns="0" lIns="0" bIns="0" rIns="0">
            <a:spAutoFit/>
          </a:bodyPr>
          <a:lstStyle/>
          <a:p>
            <a:pPr algn="l">
              <a:lnSpc>
                <a:spcPts val="1689"/>
              </a:lnSpc>
            </a:pPr>
          </a:p>
        </p:txBody>
      </p:sp>
      <p:sp>
        <p:nvSpPr>
          <p:cNvPr name="TextBox 10" id="10"/>
          <p:cNvSpPr txBox="true"/>
          <p:nvPr/>
        </p:nvSpPr>
        <p:spPr>
          <a:xfrm rot="0">
            <a:off x="1028700" y="7462031"/>
            <a:ext cx="12817378" cy="1262939"/>
          </a:xfrm>
          <a:prstGeom prst="rect">
            <a:avLst/>
          </a:prstGeom>
        </p:spPr>
        <p:txBody>
          <a:bodyPr anchor="t" rtlCol="false" tIns="0" lIns="0" bIns="0" rIns="0">
            <a:spAutoFit/>
          </a:bodyPr>
          <a:lstStyle/>
          <a:p>
            <a:pPr algn="l">
              <a:lnSpc>
                <a:spcPts val="3360"/>
              </a:lnSpc>
            </a:pPr>
            <a:r>
              <a:rPr lang="en-US" sz="2400" b="true">
                <a:solidFill>
                  <a:srgbClr val="368CD1"/>
                </a:solidFill>
                <a:latin typeface="Poppins Bold"/>
                <a:ea typeface="Poppins Bold"/>
                <a:cs typeface="Poppins Bold"/>
                <a:sym typeface="Poppins Bold"/>
              </a:rPr>
              <a:t>4. Directory Structure</a:t>
            </a:r>
          </a:p>
          <a:p>
            <a:pPr algn="l">
              <a:lnSpc>
                <a:spcPts val="3360"/>
              </a:lnSpc>
              <a:spcBef>
                <a:spcPct val="0"/>
              </a:spcBef>
            </a:pPr>
            <a:r>
              <a:rPr lang="en-US" sz="2400">
                <a:solidFill>
                  <a:srgbClr val="368CD1"/>
                </a:solidFill>
                <a:latin typeface="Poppins"/>
                <a:ea typeface="Poppins"/>
                <a:cs typeface="Poppins"/>
                <a:sym typeface="Poppins"/>
              </a:rPr>
              <a:t>Simpan semua proyek di path /var/www/ untuk. Hal ini memudahkan pengelolaan beberapa aplikasi di server yang sama.</a:t>
            </a:r>
          </a:p>
        </p:txBody>
      </p:sp>
      <p:sp>
        <p:nvSpPr>
          <p:cNvPr name="TextBox 11" id="11"/>
          <p:cNvSpPr txBox="true"/>
          <p:nvPr/>
        </p:nvSpPr>
        <p:spPr>
          <a:xfrm rot="0">
            <a:off x="1174973" y="2082378"/>
            <a:ext cx="8901954" cy="1262939"/>
          </a:xfrm>
          <a:prstGeom prst="rect">
            <a:avLst/>
          </a:prstGeom>
        </p:spPr>
        <p:txBody>
          <a:bodyPr anchor="t" rtlCol="false" tIns="0" lIns="0" bIns="0" rIns="0">
            <a:spAutoFit/>
          </a:bodyPr>
          <a:lstStyle/>
          <a:p>
            <a:pPr algn="l">
              <a:lnSpc>
                <a:spcPts val="3360"/>
              </a:lnSpc>
            </a:pPr>
            <a:r>
              <a:rPr lang="en-US" sz="2400" b="true">
                <a:solidFill>
                  <a:srgbClr val="368CD1"/>
                </a:solidFill>
                <a:latin typeface="Poppins Bold"/>
                <a:ea typeface="Poppins Bold"/>
                <a:cs typeface="Poppins Bold"/>
                <a:sym typeface="Poppins Bold"/>
              </a:rPr>
              <a:t>1. SSH Ke Server</a:t>
            </a:r>
          </a:p>
          <a:p>
            <a:pPr algn="l">
              <a:lnSpc>
                <a:spcPts val="3360"/>
              </a:lnSpc>
            </a:pPr>
            <a:r>
              <a:rPr lang="en-US" sz="2400">
                <a:solidFill>
                  <a:srgbClr val="368CD1"/>
                </a:solidFill>
                <a:latin typeface="Poppins"/>
                <a:ea typeface="Poppins"/>
                <a:cs typeface="Poppins"/>
                <a:sym typeface="Poppins"/>
              </a:rPr>
              <a:t>ssh username@hostname</a:t>
            </a:r>
          </a:p>
          <a:p>
            <a:pPr algn="l">
              <a:lnSpc>
                <a:spcPts val="3360"/>
              </a:lnSpc>
              <a:spcBef>
                <a:spcPct val="0"/>
              </a:spcBef>
            </a:pPr>
            <a:r>
              <a:rPr lang="en-US" sz="2400">
                <a:solidFill>
                  <a:srgbClr val="368CD1"/>
                </a:solidFill>
                <a:latin typeface="Poppins"/>
                <a:ea typeface="Poppins"/>
                <a:cs typeface="Poppins"/>
                <a:sym typeface="Poppins"/>
              </a:rPr>
              <a:t>password</a:t>
            </a:r>
          </a:p>
        </p:txBody>
      </p:sp>
      <p:sp>
        <p:nvSpPr>
          <p:cNvPr name="TextBox 12" id="12"/>
          <p:cNvSpPr txBox="true"/>
          <p:nvPr/>
        </p:nvSpPr>
        <p:spPr>
          <a:xfrm rot="0">
            <a:off x="1028700" y="3735935"/>
            <a:ext cx="14280284" cy="1682014"/>
          </a:xfrm>
          <a:prstGeom prst="rect">
            <a:avLst/>
          </a:prstGeom>
        </p:spPr>
        <p:txBody>
          <a:bodyPr anchor="t" rtlCol="false" tIns="0" lIns="0" bIns="0" rIns="0">
            <a:spAutoFit/>
          </a:bodyPr>
          <a:lstStyle/>
          <a:p>
            <a:pPr algn="l">
              <a:lnSpc>
                <a:spcPts val="3360"/>
              </a:lnSpc>
            </a:pPr>
            <a:r>
              <a:rPr lang="en-US" sz="2400" b="true">
                <a:solidFill>
                  <a:srgbClr val="368CD1"/>
                </a:solidFill>
                <a:latin typeface="Poppins Bold"/>
                <a:ea typeface="Poppins Bold"/>
                <a:cs typeface="Poppins Bold"/>
                <a:sym typeface="Poppins Bold"/>
              </a:rPr>
              <a:t>2. Install Package yang dibutuhkan</a:t>
            </a:r>
          </a:p>
          <a:p>
            <a:pPr algn="l">
              <a:lnSpc>
                <a:spcPts val="3360"/>
              </a:lnSpc>
            </a:pPr>
            <a:r>
              <a:rPr lang="en-US" sz="2400">
                <a:solidFill>
                  <a:srgbClr val="368CD1"/>
                </a:solidFill>
                <a:latin typeface="Poppins"/>
                <a:ea typeface="Poppins"/>
                <a:cs typeface="Poppins"/>
                <a:sym typeface="Poppins"/>
              </a:rPr>
              <a:t>sudo apt update</a:t>
            </a:r>
          </a:p>
          <a:p>
            <a:pPr algn="l">
              <a:lnSpc>
                <a:spcPts val="3360"/>
              </a:lnSpc>
            </a:pPr>
            <a:r>
              <a:rPr lang="en-US" sz="2400">
                <a:solidFill>
                  <a:srgbClr val="368CD1"/>
                </a:solidFill>
                <a:latin typeface="Poppins"/>
                <a:ea typeface="Poppins"/>
                <a:cs typeface="Poppins"/>
                <a:sym typeface="Poppins"/>
              </a:rPr>
              <a:t>sudo apt install golang-go nginx docker-compose docker certbot python3-certbot-nginx</a:t>
            </a:r>
          </a:p>
          <a:p>
            <a:pPr algn="l">
              <a:lnSpc>
                <a:spcPts val="3360"/>
              </a:lnSpc>
              <a:spcBef>
                <a:spcPct val="0"/>
              </a:spcBef>
            </a:pPr>
          </a:p>
        </p:txBody>
      </p:sp>
      <p:sp>
        <p:nvSpPr>
          <p:cNvPr name="TextBox 13" id="13"/>
          <p:cNvSpPr txBox="true"/>
          <p:nvPr/>
        </p:nvSpPr>
        <p:spPr>
          <a:xfrm rot="0">
            <a:off x="1028700" y="5808567"/>
            <a:ext cx="8901954" cy="1262939"/>
          </a:xfrm>
          <a:prstGeom prst="rect">
            <a:avLst/>
          </a:prstGeom>
        </p:spPr>
        <p:txBody>
          <a:bodyPr anchor="t" rtlCol="false" tIns="0" lIns="0" bIns="0" rIns="0">
            <a:spAutoFit/>
          </a:bodyPr>
          <a:lstStyle/>
          <a:p>
            <a:pPr algn="l">
              <a:lnSpc>
                <a:spcPts val="3360"/>
              </a:lnSpc>
            </a:pPr>
            <a:r>
              <a:rPr lang="en-US" sz="2400" b="true">
                <a:solidFill>
                  <a:srgbClr val="368CD1"/>
                </a:solidFill>
                <a:latin typeface="Poppins Bold"/>
                <a:ea typeface="Poppins Bold"/>
                <a:cs typeface="Poppins Bold"/>
                <a:sym typeface="Poppins Bold"/>
              </a:rPr>
              <a:t>3. Login ke service (github dan docker)</a:t>
            </a:r>
          </a:p>
          <a:p>
            <a:pPr algn="l">
              <a:lnSpc>
                <a:spcPts val="3360"/>
              </a:lnSpc>
            </a:pPr>
            <a:r>
              <a:rPr lang="en-US" sz="2400">
                <a:solidFill>
                  <a:srgbClr val="368CD1"/>
                </a:solidFill>
                <a:latin typeface="Poppins"/>
                <a:ea typeface="Poppins"/>
                <a:cs typeface="Poppins"/>
                <a:sym typeface="Poppins"/>
              </a:rPr>
              <a:t>ssh username@hostname</a:t>
            </a:r>
          </a:p>
          <a:p>
            <a:pPr algn="l">
              <a:lnSpc>
                <a:spcPts val="3360"/>
              </a:lnSpc>
              <a:spcBef>
                <a:spcPct val="0"/>
              </a:spcBef>
            </a:pPr>
            <a:r>
              <a:rPr lang="en-US" sz="2400">
                <a:solidFill>
                  <a:srgbClr val="368CD1"/>
                </a:solidFill>
                <a:latin typeface="Poppins"/>
                <a:ea typeface="Poppins"/>
                <a:cs typeface="Poppins"/>
                <a:sym typeface="Poppins"/>
              </a:rPr>
              <a:t>password</a:t>
            </a:r>
          </a:p>
        </p:txBody>
      </p:sp>
      <p:grpSp>
        <p:nvGrpSpPr>
          <p:cNvPr name="Group 14" id="14"/>
          <p:cNvGrpSpPr/>
          <p:nvPr/>
        </p:nvGrpSpPr>
        <p:grpSpPr>
          <a:xfrm rot="0">
            <a:off x="14154321" y="333061"/>
            <a:ext cx="3712147" cy="5347009"/>
            <a:chOff x="0" y="0"/>
            <a:chExt cx="4949530" cy="7129345"/>
          </a:xfrm>
        </p:grpSpPr>
        <p:sp>
          <p:nvSpPr>
            <p:cNvPr name="Freeform 15" id="15"/>
            <p:cNvSpPr/>
            <p:nvPr/>
          </p:nvSpPr>
          <p:spPr>
            <a:xfrm flipH="false" flipV="false" rot="0">
              <a:off x="2445478" y="0"/>
              <a:ext cx="2504052" cy="4277107"/>
            </a:xfrm>
            <a:custGeom>
              <a:avLst/>
              <a:gdLst/>
              <a:ahLst/>
              <a:cxnLst/>
              <a:rect r="r" b="b" t="t" l="l"/>
              <a:pathLst>
                <a:path h="4277107" w="2504052">
                  <a:moveTo>
                    <a:pt x="0" y="0"/>
                  </a:moveTo>
                  <a:lnTo>
                    <a:pt x="2504052" y="0"/>
                  </a:lnTo>
                  <a:lnTo>
                    <a:pt x="2504052" y="4277107"/>
                  </a:lnTo>
                  <a:lnTo>
                    <a:pt x="0" y="42771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0" y="813240"/>
              <a:ext cx="4949530" cy="6316105"/>
            </a:xfrm>
            <a:custGeom>
              <a:avLst/>
              <a:gdLst/>
              <a:ahLst/>
              <a:cxnLst/>
              <a:rect r="r" b="b" t="t" l="l"/>
              <a:pathLst>
                <a:path h="6316105" w="4949530">
                  <a:moveTo>
                    <a:pt x="0" y="0"/>
                  </a:moveTo>
                  <a:lnTo>
                    <a:pt x="4949530" y="0"/>
                  </a:lnTo>
                  <a:lnTo>
                    <a:pt x="4949530" y="6316105"/>
                  </a:lnTo>
                  <a:lnTo>
                    <a:pt x="0" y="63161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139754"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4388813" y="657555"/>
            <a:ext cx="9510374" cy="78991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Frontend</a:t>
            </a:r>
          </a:p>
        </p:txBody>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025</a:t>
            </a:r>
          </a:p>
        </p:txBody>
      </p:sp>
      <p:sp>
        <p:nvSpPr>
          <p:cNvPr name="TextBox 9" id="9"/>
          <p:cNvSpPr txBox="true"/>
          <p:nvPr/>
        </p:nvSpPr>
        <p:spPr>
          <a:xfrm rot="0">
            <a:off x="660718" y="1750632"/>
            <a:ext cx="8483282" cy="398421"/>
          </a:xfrm>
          <a:prstGeom prst="rect">
            <a:avLst/>
          </a:prstGeom>
        </p:spPr>
        <p:txBody>
          <a:bodyPr anchor="t" rtlCol="false" tIns="0" lIns="0" bIns="0" rIns="0">
            <a:spAutoFit/>
          </a:bodyPr>
          <a:lstStyle/>
          <a:p>
            <a:pPr algn="l">
              <a:lnSpc>
                <a:spcPts val="3202"/>
              </a:lnSpc>
              <a:spcBef>
                <a:spcPct val="0"/>
              </a:spcBef>
            </a:pPr>
            <a:r>
              <a:rPr lang="en-US" b="true" sz="2287">
                <a:solidFill>
                  <a:srgbClr val="368CD1"/>
                </a:solidFill>
                <a:latin typeface="Poppins Bold"/>
                <a:ea typeface="Poppins Bold"/>
                <a:cs typeface="Poppins Bold"/>
                <a:sym typeface="Poppins Bold"/>
              </a:rPr>
              <a:t>1. Build Docker Image with github runner (CICD)</a:t>
            </a:r>
          </a:p>
        </p:txBody>
      </p:sp>
      <p:sp>
        <p:nvSpPr>
          <p:cNvPr name="TextBox 10" id="10"/>
          <p:cNvSpPr txBox="true"/>
          <p:nvPr/>
        </p:nvSpPr>
        <p:spPr>
          <a:xfrm rot="0">
            <a:off x="660718" y="8313012"/>
            <a:ext cx="7157085" cy="797786"/>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2. Make docker-compose.yml and .env.local in</a:t>
            </a:r>
          </a:p>
          <a:p>
            <a:pPr algn="l">
              <a:lnSpc>
                <a:spcPts val="3202"/>
              </a:lnSpc>
              <a:spcBef>
                <a:spcPct val="0"/>
              </a:spcBef>
            </a:pPr>
            <a:r>
              <a:rPr lang="en-US" b="true" sz="2287">
                <a:solidFill>
                  <a:srgbClr val="368CD1"/>
                </a:solidFill>
                <a:latin typeface="Poppins Bold"/>
                <a:ea typeface="Poppins Bold"/>
                <a:cs typeface="Poppins Bold"/>
                <a:sym typeface="Poppins Bold"/>
              </a:rPr>
              <a:t> /var/www/frontend</a:t>
            </a:r>
          </a:p>
        </p:txBody>
      </p:sp>
      <p:sp>
        <p:nvSpPr>
          <p:cNvPr name="TextBox 11" id="11"/>
          <p:cNvSpPr txBox="true"/>
          <p:nvPr/>
        </p:nvSpPr>
        <p:spPr>
          <a:xfrm rot="0">
            <a:off x="660718" y="2284132"/>
            <a:ext cx="6010626" cy="6013378"/>
          </a:xfrm>
          <a:prstGeom prst="rect">
            <a:avLst/>
          </a:prstGeom>
        </p:spPr>
        <p:txBody>
          <a:bodyPr anchor="t" rtlCol="false" tIns="0" lIns="0" bIns="0" rIns="0">
            <a:spAutoFit/>
          </a:bodyPr>
          <a:lstStyle/>
          <a:p>
            <a:pPr algn="l">
              <a:lnSpc>
                <a:spcPts val="2297"/>
              </a:lnSpc>
            </a:pPr>
            <a:r>
              <a:rPr lang="en-US" sz="1640">
                <a:solidFill>
                  <a:srgbClr val="368CD1"/>
                </a:solidFill>
                <a:latin typeface="Poppins"/>
                <a:ea typeface="Poppins"/>
                <a:cs typeface="Poppins"/>
                <a:sym typeface="Poppins"/>
              </a:rPr>
              <a:t>build:</a:t>
            </a:r>
          </a:p>
          <a:p>
            <a:pPr algn="l">
              <a:lnSpc>
                <a:spcPts val="2297"/>
              </a:lnSpc>
            </a:pPr>
            <a:r>
              <a:rPr lang="en-US" sz="1640">
                <a:solidFill>
                  <a:srgbClr val="368CD1"/>
                </a:solidFill>
                <a:latin typeface="Poppins"/>
                <a:ea typeface="Poppins"/>
                <a:cs typeface="Poppins"/>
                <a:sym typeface="Poppins"/>
              </a:rPr>
              <a:t>    runs-on: ubuntu-latest</a:t>
            </a:r>
          </a:p>
          <a:p>
            <a:pPr algn="l">
              <a:lnSpc>
                <a:spcPts val="2297"/>
              </a:lnSpc>
            </a:pPr>
          </a:p>
          <a:p>
            <a:pPr algn="l">
              <a:lnSpc>
                <a:spcPts val="2297"/>
              </a:lnSpc>
            </a:pPr>
            <a:r>
              <a:rPr lang="en-US" sz="1640">
                <a:solidFill>
                  <a:srgbClr val="368CD1"/>
                </a:solidFill>
                <a:latin typeface="Poppins"/>
                <a:ea typeface="Poppins"/>
                <a:cs typeface="Poppins"/>
                <a:sym typeface="Poppins"/>
              </a:rPr>
              <a:t>    steps:</a:t>
            </a:r>
          </a:p>
          <a:p>
            <a:pPr algn="l">
              <a:lnSpc>
                <a:spcPts val="2297"/>
              </a:lnSpc>
            </a:pPr>
            <a:r>
              <a:rPr lang="en-US" sz="1640">
                <a:solidFill>
                  <a:srgbClr val="368CD1"/>
                </a:solidFill>
                <a:latin typeface="Poppins"/>
                <a:ea typeface="Poppins"/>
                <a:cs typeface="Poppins"/>
                <a:sym typeface="Poppins"/>
              </a:rPr>
              <a:t>      - name: Checkout Code</a:t>
            </a:r>
          </a:p>
          <a:p>
            <a:pPr algn="l">
              <a:lnSpc>
                <a:spcPts val="2297"/>
              </a:lnSpc>
            </a:pPr>
            <a:r>
              <a:rPr lang="en-US" sz="1640">
                <a:solidFill>
                  <a:srgbClr val="368CD1"/>
                </a:solidFill>
                <a:latin typeface="Poppins"/>
                <a:ea typeface="Poppins"/>
                <a:cs typeface="Poppins"/>
                <a:sym typeface="Poppins"/>
              </a:rPr>
              <a:t>        uses: actions/checkout@v3</a:t>
            </a:r>
          </a:p>
          <a:p>
            <a:pPr algn="l">
              <a:lnSpc>
                <a:spcPts val="2297"/>
              </a:lnSpc>
            </a:pPr>
            <a:r>
              <a:rPr lang="en-US" sz="1640">
                <a:solidFill>
                  <a:srgbClr val="368CD1"/>
                </a:solidFill>
                <a:latin typeface="Poppins"/>
                <a:ea typeface="Poppins"/>
                <a:cs typeface="Poppins"/>
                <a:sym typeface="Poppins"/>
              </a:rPr>
              <a:t> </a:t>
            </a:r>
          </a:p>
          <a:p>
            <a:pPr algn="l">
              <a:lnSpc>
                <a:spcPts val="2297"/>
              </a:lnSpc>
            </a:pPr>
            <a:r>
              <a:rPr lang="en-US" sz="1640">
                <a:solidFill>
                  <a:srgbClr val="368CD1"/>
                </a:solidFill>
                <a:latin typeface="Poppins"/>
                <a:ea typeface="Poppins"/>
                <a:cs typeface="Poppins"/>
                <a:sym typeface="Poppins"/>
              </a:rPr>
              <a:t>      - name: Log in to Docker Hub</a:t>
            </a:r>
          </a:p>
          <a:p>
            <a:pPr algn="l">
              <a:lnSpc>
                <a:spcPts val="2297"/>
              </a:lnSpc>
            </a:pPr>
            <a:r>
              <a:rPr lang="en-US" sz="1640">
                <a:solidFill>
                  <a:srgbClr val="368CD1"/>
                </a:solidFill>
                <a:latin typeface="Poppins"/>
                <a:ea typeface="Poppins"/>
                <a:cs typeface="Poppins"/>
                <a:sym typeface="Poppins"/>
              </a:rPr>
              <a:t>        uses: docker/login-action@v1</a:t>
            </a:r>
          </a:p>
          <a:p>
            <a:pPr algn="l">
              <a:lnSpc>
                <a:spcPts val="2297"/>
              </a:lnSpc>
            </a:pPr>
            <a:r>
              <a:rPr lang="en-US" sz="1640">
                <a:solidFill>
                  <a:srgbClr val="368CD1"/>
                </a:solidFill>
                <a:latin typeface="Poppins"/>
                <a:ea typeface="Poppins"/>
                <a:cs typeface="Poppins"/>
                <a:sym typeface="Poppins"/>
              </a:rPr>
              <a:t>        with:</a:t>
            </a:r>
          </a:p>
          <a:p>
            <a:pPr algn="l">
              <a:lnSpc>
                <a:spcPts val="2297"/>
              </a:lnSpc>
            </a:pPr>
            <a:r>
              <a:rPr lang="en-US" sz="1640">
                <a:solidFill>
                  <a:srgbClr val="368CD1"/>
                </a:solidFill>
                <a:latin typeface="Poppins"/>
                <a:ea typeface="Poppins"/>
                <a:cs typeface="Poppins"/>
                <a:sym typeface="Poppins"/>
              </a:rPr>
              <a:t>          username: &lt;usn&gt;</a:t>
            </a:r>
          </a:p>
          <a:p>
            <a:pPr algn="l">
              <a:lnSpc>
                <a:spcPts val="2297"/>
              </a:lnSpc>
            </a:pPr>
            <a:r>
              <a:rPr lang="en-US" sz="1640">
                <a:solidFill>
                  <a:srgbClr val="368CD1"/>
                </a:solidFill>
                <a:latin typeface="Poppins"/>
                <a:ea typeface="Poppins"/>
                <a:cs typeface="Poppins"/>
                <a:sym typeface="Poppins"/>
              </a:rPr>
              <a:t>          password: ${{ secrets.DOCKER_PASSWORD }} </a:t>
            </a:r>
          </a:p>
          <a:p>
            <a:pPr algn="l">
              <a:lnSpc>
                <a:spcPts val="2297"/>
              </a:lnSpc>
            </a:pPr>
          </a:p>
          <a:p>
            <a:pPr algn="l">
              <a:lnSpc>
                <a:spcPts val="2297"/>
              </a:lnSpc>
            </a:pPr>
            <a:r>
              <a:rPr lang="en-US" sz="1640">
                <a:solidFill>
                  <a:srgbClr val="368CD1"/>
                </a:solidFill>
                <a:latin typeface="Poppins"/>
                <a:ea typeface="Poppins"/>
                <a:cs typeface="Poppins"/>
                <a:sym typeface="Poppins"/>
              </a:rPr>
              <a:t>      - name: Build Docker Image</a:t>
            </a:r>
          </a:p>
          <a:p>
            <a:pPr algn="l">
              <a:lnSpc>
                <a:spcPts val="2297"/>
              </a:lnSpc>
            </a:pPr>
            <a:r>
              <a:rPr lang="en-US" sz="1640">
                <a:solidFill>
                  <a:srgbClr val="368CD1"/>
                </a:solidFill>
                <a:latin typeface="Poppins"/>
                <a:ea typeface="Poppins"/>
                <a:cs typeface="Poppins"/>
                <a:sym typeface="Poppins"/>
              </a:rPr>
              <a:t>        run: |</a:t>
            </a:r>
          </a:p>
          <a:p>
            <a:pPr algn="l">
              <a:lnSpc>
                <a:spcPts val="2297"/>
              </a:lnSpc>
            </a:pPr>
            <a:r>
              <a:rPr lang="en-US" sz="1640">
                <a:solidFill>
                  <a:srgbClr val="368CD1"/>
                </a:solidFill>
                <a:latin typeface="Poppins"/>
                <a:ea typeface="Poppins"/>
                <a:cs typeface="Poppins"/>
                <a:sym typeface="Poppins"/>
              </a:rPr>
              <a:t>          docker build -t &lt;nama-image&gt;/testing:latest .</a:t>
            </a:r>
          </a:p>
          <a:p>
            <a:pPr algn="l">
              <a:lnSpc>
                <a:spcPts val="2297"/>
              </a:lnSpc>
            </a:pPr>
          </a:p>
          <a:p>
            <a:pPr algn="l">
              <a:lnSpc>
                <a:spcPts val="2297"/>
              </a:lnSpc>
            </a:pPr>
            <a:r>
              <a:rPr lang="en-US" sz="1640">
                <a:solidFill>
                  <a:srgbClr val="368CD1"/>
                </a:solidFill>
                <a:latin typeface="Poppins"/>
                <a:ea typeface="Poppins"/>
                <a:cs typeface="Poppins"/>
                <a:sym typeface="Poppins"/>
              </a:rPr>
              <a:t>      - name: Push Docker Image to Docker Hub</a:t>
            </a:r>
          </a:p>
          <a:p>
            <a:pPr algn="l">
              <a:lnSpc>
                <a:spcPts val="2297"/>
              </a:lnSpc>
            </a:pPr>
            <a:r>
              <a:rPr lang="en-US" sz="1640">
                <a:solidFill>
                  <a:srgbClr val="368CD1"/>
                </a:solidFill>
                <a:latin typeface="Poppins"/>
                <a:ea typeface="Poppins"/>
                <a:cs typeface="Poppins"/>
                <a:sym typeface="Poppins"/>
              </a:rPr>
              <a:t>        run: |</a:t>
            </a:r>
          </a:p>
          <a:p>
            <a:pPr algn="l">
              <a:lnSpc>
                <a:spcPts val="2297"/>
              </a:lnSpc>
            </a:pPr>
            <a:r>
              <a:rPr lang="en-US" sz="1640">
                <a:solidFill>
                  <a:srgbClr val="368CD1"/>
                </a:solidFill>
                <a:latin typeface="Poppins"/>
                <a:ea typeface="Poppins"/>
                <a:cs typeface="Poppins"/>
                <a:sym typeface="Poppins"/>
              </a:rPr>
              <a:t>          docker push &lt;nama-image&gt;/testing:latest</a:t>
            </a:r>
          </a:p>
          <a:p>
            <a:pPr algn="l">
              <a:lnSpc>
                <a:spcPts val="2297"/>
              </a:lnSpc>
              <a:spcBef>
                <a:spcPct val="0"/>
              </a:spcBef>
            </a:pPr>
          </a:p>
        </p:txBody>
      </p:sp>
      <p:sp>
        <p:nvSpPr>
          <p:cNvPr name="TextBox 12" id="12"/>
          <p:cNvSpPr txBox="true"/>
          <p:nvPr/>
        </p:nvSpPr>
        <p:spPr>
          <a:xfrm rot="0">
            <a:off x="9284143" y="1750632"/>
            <a:ext cx="8615058" cy="398421"/>
          </a:xfrm>
          <a:prstGeom prst="rect">
            <a:avLst/>
          </a:prstGeom>
        </p:spPr>
        <p:txBody>
          <a:bodyPr anchor="t" rtlCol="false" tIns="0" lIns="0" bIns="0" rIns="0">
            <a:spAutoFit/>
          </a:bodyPr>
          <a:lstStyle/>
          <a:p>
            <a:pPr algn="l">
              <a:lnSpc>
                <a:spcPts val="3202"/>
              </a:lnSpc>
              <a:spcBef>
                <a:spcPct val="0"/>
              </a:spcBef>
            </a:pPr>
            <a:r>
              <a:rPr lang="en-US" b="true" sz="2287">
                <a:solidFill>
                  <a:srgbClr val="368CD1"/>
                </a:solidFill>
                <a:latin typeface="Poppins Bold"/>
                <a:ea typeface="Poppins Bold"/>
                <a:cs typeface="Poppins Bold"/>
                <a:sym typeface="Poppins Bold"/>
              </a:rPr>
              <a:t>3. Pull Docker Image and restart docker-compose (CICD)</a:t>
            </a:r>
          </a:p>
        </p:txBody>
      </p:sp>
      <p:sp>
        <p:nvSpPr>
          <p:cNvPr name="TextBox 13" id="13"/>
          <p:cNvSpPr txBox="true"/>
          <p:nvPr/>
        </p:nvSpPr>
        <p:spPr>
          <a:xfrm rot="0">
            <a:off x="9284143" y="2265082"/>
            <a:ext cx="6596122" cy="5028770"/>
          </a:xfrm>
          <a:prstGeom prst="rect">
            <a:avLst/>
          </a:prstGeom>
        </p:spPr>
        <p:txBody>
          <a:bodyPr anchor="t" rtlCol="false" tIns="0" lIns="0" bIns="0" rIns="0">
            <a:spAutoFit/>
          </a:bodyPr>
          <a:lstStyle/>
          <a:p>
            <a:pPr algn="l">
              <a:lnSpc>
                <a:spcPts val="2521"/>
              </a:lnSpc>
            </a:pPr>
            <a:r>
              <a:rPr lang="en-US" sz="1800">
                <a:solidFill>
                  <a:srgbClr val="368CD1"/>
                </a:solidFill>
                <a:latin typeface="Poppins"/>
                <a:ea typeface="Poppins"/>
                <a:cs typeface="Poppins"/>
                <a:sym typeface="Poppins"/>
              </a:rPr>
              <a:t>deploy:</a:t>
            </a:r>
          </a:p>
          <a:p>
            <a:pPr algn="l">
              <a:lnSpc>
                <a:spcPts val="2521"/>
              </a:lnSpc>
            </a:pPr>
            <a:r>
              <a:rPr lang="en-US" sz="1800">
                <a:solidFill>
                  <a:srgbClr val="368CD1"/>
                </a:solidFill>
                <a:latin typeface="Poppins"/>
                <a:ea typeface="Poppins"/>
                <a:cs typeface="Poppins"/>
                <a:sym typeface="Poppins"/>
              </a:rPr>
              <a:t>    runs-on: ubuntu-latest</a:t>
            </a:r>
          </a:p>
          <a:p>
            <a:pPr algn="l">
              <a:lnSpc>
                <a:spcPts val="2521"/>
              </a:lnSpc>
            </a:pPr>
            <a:r>
              <a:rPr lang="en-US" sz="1800">
                <a:solidFill>
                  <a:srgbClr val="368CD1"/>
                </a:solidFill>
                <a:latin typeface="Poppins"/>
                <a:ea typeface="Poppins"/>
                <a:cs typeface="Poppins"/>
                <a:sym typeface="Poppins"/>
              </a:rPr>
              <a:t>    needs: build</a:t>
            </a:r>
          </a:p>
          <a:p>
            <a:pPr algn="l">
              <a:lnSpc>
                <a:spcPts val="2521"/>
              </a:lnSpc>
            </a:pPr>
            <a:r>
              <a:rPr lang="en-US" sz="1800">
                <a:solidFill>
                  <a:srgbClr val="368CD1"/>
                </a:solidFill>
                <a:latin typeface="Poppins"/>
                <a:ea typeface="Poppins"/>
                <a:cs typeface="Poppins"/>
                <a:sym typeface="Poppins"/>
              </a:rPr>
              <a:t>    steps:</a:t>
            </a:r>
          </a:p>
          <a:p>
            <a:pPr algn="l">
              <a:lnSpc>
                <a:spcPts val="2521"/>
              </a:lnSpc>
            </a:pPr>
            <a:r>
              <a:rPr lang="en-US" sz="1800">
                <a:solidFill>
                  <a:srgbClr val="368CD1"/>
                </a:solidFill>
                <a:latin typeface="Poppins"/>
                <a:ea typeface="Poppins"/>
                <a:cs typeface="Poppins"/>
                <a:sym typeface="Poppins"/>
              </a:rPr>
              <a:t>      - name: Deploy using ssh</a:t>
            </a:r>
          </a:p>
          <a:p>
            <a:pPr algn="l">
              <a:lnSpc>
                <a:spcPts val="2521"/>
              </a:lnSpc>
            </a:pPr>
            <a:r>
              <a:rPr lang="en-US" sz="1800">
                <a:solidFill>
                  <a:srgbClr val="368CD1"/>
                </a:solidFill>
                <a:latin typeface="Poppins"/>
                <a:ea typeface="Poppins"/>
                <a:cs typeface="Poppins"/>
                <a:sym typeface="Poppins"/>
              </a:rPr>
              <a:t>        uses: appleboy/ssh-action@master</a:t>
            </a:r>
          </a:p>
          <a:p>
            <a:pPr algn="l">
              <a:lnSpc>
                <a:spcPts val="2521"/>
              </a:lnSpc>
            </a:pPr>
            <a:r>
              <a:rPr lang="en-US" sz="1800">
                <a:solidFill>
                  <a:srgbClr val="368CD1"/>
                </a:solidFill>
                <a:latin typeface="Poppins"/>
                <a:ea typeface="Poppins"/>
                <a:cs typeface="Poppins"/>
                <a:sym typeface="Poppins"/>
              </a:rPr>
              <a:t>        with:</a:t>
            </a:r>
          </a:p>
          <a:p>
            <a:pPr algn="l">
              <a:lnSpc>
                <a:spcPts val="2521"/>
              </a:lnSpc>
            </a:pPr>
            <a:r>
              <a:rPr lang="en-US" sz="1800">
                <a:solidFill>
                  <a:srgbClr val="368CD1"/>
                </a:solidFill>
                <a:latin typeface="Poppins"/>
                <a:ea typeface="Poppins"/>
                <a:cs typeface="Poppins"/>
                <a:sym typeface="Poppins"/>
              </a:rPr>
              <a:t>          host: ${{ secrets.HOST }}</a:t>
            </a:r>
          </a:p>
          <a:p>
            <a:pPr algn="l">
              <a:lnSpc>
                <a:spcPts val="2521"/>
              </a:lnSpc>
            </a:pPr>
            <a:r>
              <a:rPr lang="en-US" sz="1800">
                <a:solidFill>
                  <a:srgbClr val="368CD1"/>
                </a:solidFill>
                <a:latin typeface="Poppins"/>
                <a:ea typeface="Poppins"/>
                <a:cs typeface="Poppins"/>
                <a:sym typeface="Poppins"/>
              </a:rPr>
              <a:t>          username: ${{ secrets.USERNAME }}</a:t>
            </a:r>
          </a:p>
          <a:p>
            <a:pPr algn="l">
              <a:lnSpc>
                <a:spcPts val="2521"/>
              </a:lnSpc>
            </a:pPr>
            <a:r>
              <a:rPr lang="en-US" sz="1800">
                <a:solidFill>
                  <a:srgbClr val="368CD1"/>
                </a:solidFill>
                <a:latin typeface="Poppins"/>
                <a:ea typeface="Poppins"/>
                <a:cs typeface="Poppins"/>
                <a:sym typeface="Poppins"/>
              </a:rPr>
              <a:t>          password: ${{ secrets.PASSWORD }}</a:t>
            </a:r>
          </a:p>
          <a:p>
            <a:pPr algn="l">
              <a:lnSpc>
                <a:spcPts val="2521"/>
              </a:lnSpc>
            </a:pPr>
            <a:r>
              <a:rPr lang="en-US" sz="1800">
                <a:solidFill>
                  <a:srgbClr val="368CD1"/>
                </a:solidFill>
                <a:latin typeface="Poppins"/>
                <a:ea typeface="Poppins"/>
                <a:cs typeface="Poppins"/>
                <a:sym typeface="Poppins"/>
              </a:rPr>
              <a:t>          port: ${{ secrets.PORT }}</a:t>
            </a:r>
          </a:p>
          <a:p>
            <a:pPr algn="l">
              <a:lnSpc>
                <a:spcPts val="2521"/>
              </a:lnSpc>
            </a:pPr>
            <a:r>
              <a:rPr lang="en-US" sz="1800">
                <a:solidFill>
                  <a:srgbClr val="368CD1"/>
                </a:solidFill>
                <a:latin typeface="Poppins"/>
                <a:ea typeface="Poppins"/>
                <a:cs typeface="Poppins"/>
                <a:sym typeface="Poppins"/>
              </a:rPr>
              <a:t>          script: |</a:t>
            </a:r>
          </a:p>
          <a:p>
            <a:pPr algn="l">
              <a:lnSpc>
                <a:spcPts val="2521"/>
              </a:lnSpc>
            </a:pPr>
            <a:r>
              <a:rPr lang="en-US" sz="1800">
                <a:solidFill>
                  <a:srgbClr val="368CD1"/>
                </a:solidFill>
                <a:latin typeface="Poppins"/>
                <a:ea typeface="Poppins"/>
                <a:cs typeface="Poppins"/>
                <a:sym typeface="Poppins"/>
              </a:rPr>
              <a:t>            cd /var/www/frontend</a:t>
            </a:r>
          </a:p>
          <a:p>
            <a:pPr algn="l">
              <a:lnSpc>
                <a:spcPts val="2521"/>
              </a:lnSpc>
            </a:pPr>
            <a:r>
              <a:rPr lang="en-US" sz="1800">
                <a:solidFill>
                  <a:srgbClr val="368CD1"/>
                </a:solidFill>
                <a:latin typeface="Poppins"/>
                <a:ea typeface="Poppins"/>
                <a:cs typeface="Poppins"/>
                <a:sym typeface="Poppins"/>
              </a:rPr>
              <a:t>            sudo docker pull &lt;nama-image&gt;/testing:latest</a:t>
            </a:r>
          </a:p>
          <a:p>
            <a:pPr algn="l">
              <a:lnSpc>
                <a:spcPts val="2521"/>
              </a:lnSpc>
            </a:pPr>
            <a:r>
              <a:rPr lang="en-US" sz="1800">
                <a:solidFill>
                  <a:srgbClr val="368CD1"/>
                </a:solidFill>
                <a:latin typeface="Poppins"/>
                <a:ea typeface="Poppins"/>
                <a:cs typeface="Poppins"/>
                <a:sym typeface="Poppins"/>
              </a:rPr>
              <a:t>            sudo docker-compose down </a:t>
            </a:r>
          </a:p>
          <a:p>
            <a:pPr algn="l">
              <a:lnSpc>
                <a:spcPts val="2521"/>
              </a:lnSpc>
              <a:spcBef>
                <a:spcPct val="0"/>
              </a:spcBef>
            </a:pPr>
            <a:r>
              <a:rPr lang="en-US" sz="1800">
                <a:solidFill>
                  <a:srgbClr val="368CD1"/>
                </a:solidFill>
                <a:latin typeface="Poppins"/>
                <a:ea typeface="Poppins"/>
                <a:cs typeface="Poppins"/>
                <a:sym typeface="Poppins"/>
              </a:rPr>
              <a:t>            sudo docker-compose up -d</a:t>
            </a:r>
          </a:p>
        </p:txBody>
      </p:sp>
      <p:sp>
        <p:nvSpPr>
          <p:cNvPr name="TextBox 14" id="14"/>
          <p:cNvSpPr txBox="true"/>
          <p:nvPr/>
        </p:nvSpPr>
        <p:spPr>
          <a:xfrm rot="0">
            <a:off x="9284143" y="7408152"/>
            <a:ext cx="8622676" cy="1995883"/>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6. Setup nginx</a:t>
            </a:r>
          </a:p>
          <a:p>
            <a:pPr algn="l">
              <a:lnSpc>
                <a:spcPts val="3202"/>
              </a:lnSpc>
            </a:pPr>
            <a:r>
              <a:rPr lang="en-US" sz="2287">
                <a:solidFill>
                  <a:srgbClr val="368CD1"/>
                </a:solidFill>
                <a:latin typeface="Poppins"/>
                <a:ea typeface="Poppins"/>
                <a:cs typeface="Poppins"/>
                <a:sym typeface="Poppins"/>
              </a:rPr>
              <a:t>sudo nano /etc/nginx/sites-available/&lt;nama-domain&gt;</a:t>
            </a:r>
          </a:p>
          <a:p>
            <a:pPr algn="l">
              <a:lnSpc>
                <a:spcPts val="3202"/>
              </a:lnSpc>
            </a:pPr>
            <a:r>
              <a:rPr lang="en-US" sz="2287">
                <a:solidFill>
                  <a:srgbClr val="368CD1"/>
                </a:solidFill>
                <a:latin typeface="Poppins"/>
                <a:ea typeface="Poppins"/>
                <a:cs typeface="Poppins"/>
                <a:sym typeface="Poppins"/>
              </a:rPr>
              <a:t>sudo ln -s /etc/nginx/sites-available/&lt;nama-domain&gt; /etc/nginx/sites-enabled/</a:t>
            </a:r>
          </a:p>
          <a:p>
            <a:pPr algn="l">
              <a:lnSpc>
                <a:spcPts val="3202"/>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4388813" y="657555"/>
            <a:ext cx="9510374" cy="78991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Backend</a:t>
            </a:r>
          </a:p>
        </p:txBody>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026</a:t>
            </a:r>
          </a:p>
        </p:txBody>
      </p:sp>
      <p:sp>
        <p:nvSpPr>
          <p:cNvPr name="TextBox 9" id="9"/>
          <p:cNvSpPr txBox="true"/>
          <p:nvPr/>
        </p:nvSpPr>
        <p:spPr>
          <a:xfrm rot="0">
            <a:off x="659969" y="2091903"/>
            <a:ext cx="8483282" cy="1197152"/>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1. Konfigurasi Database</a:t>
            </a:r>
          </a:p>
          <a:p>
            <a:pPr algn="l">
              <a:lnSpc>
                <a:spcPts val="3202"/>
              </a:lnSpc>
              <a:spcBef>
                <a:spcPct val="0"/>
              </a:spcBef>
            </a:pPr>
            <a:r>
              <a:rPr lang="en-US" sz="2287">
                <a:solidFill>
                  <a:srgbClr val="368CD1"/>
                </a:solidFill>
                <a:latin typeface="Poppins"/>
                <a:ea typeface="Poppins"/>
                <a:cs typeface="Poppins"/>
                <a:sym typeface="Poppins"/>
              </a:rPr>
              <a:t>Apakah berada di dalam VPS yang sama atau berbeda atau di run terpisah di supabase atau service lain</a:t>
            </a:r>
          </a:p>
        </p:txBody>
      </p:sp>
      <p:sp>
        <p:nvSpPr>
          <p:cNvPr name="TextBox 10" id="10"/>
          <p:cNvSpPr txBox="true"/>
          <p:nvPr/>
        </p:nvSpPr>
        <p:spPr>
          <a:xfrm rot="0">
            <a:off x="520575" y="3667691"/>
            <a:ext cx="8622676" cy="1197152"/>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2. Clone Repository Github</a:t>
            </a:r>
          </a:p>
          <a:p>
            <a:pPr algn="l">
              <a:lnSpc>
                <a:spcPts val="3202"/>
              </a:lnSpc>
            </a:pPr>
            <a:r>
              <a:rPr lang="en-US" sz="2287">
                <a:solidFill>
                  <a:srgbClr val="368CD1"/>
                </a:solidFill>
                <a:latin typeface="Poppins"/>
                <a:ea typeface="Poppins"/>
                <a:cs typeface="Poppins"/>
                <a:sym typeface="Poppins"/>
              </a:rPr>
              <a:t>cd /var/www/&lt;nama-website&gt;</a:t>
            </a:r>
          </a:p>
          <a:p>
            <a:pPr algn="l">
              <a:lnSpc>
                <a:spcPts val="3202"/>
              </a:lnSpc>
              <a:spcBef>
                <a:spcPct val="0"/>
              </a:spcBef>
            </a:pPr>
            <a:r>
              <a:rPr lang="en-US" sz="2287">
                <a:solidFill>
                  <a:srgbClr val="368CD1"/>
                </a:solidFill>
                <a:latin typeface="Poppins"/>
                <a:ea typeface="Poppins"/>
                <a:cs typeface="Poppins"/>
                <a:sym typeface="Poppins"/>
              </a:rPr>
              <a:t>git clone &lt;url&gt;</a:t>
            </a:r>
          </a:p>
        </p:txBody>
      </p:sp>
      <p:sp>
        <p:nvSpPr>
          <p:cNvPr name="TextBox 11" id="11"/>
          <p:cNvSpPr txBox="true"/>
          <p:nvPr/>
        </p:nvSpPr>
        <p:spPr>
          <a:xfrm rot="0">
            <a:off x="520575" y="5243390"/>
            <a:ext cx="8483282" cy="1197152"/>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3. Setup .env file</a:t>
            </a:r>
          </a:p>
          <a:p>
            <a:pPr algn="l">
              <a:lnSpc>
                <a:spcPts val="3202"/>
              </a:lnSpc>
            </a:pPr>
            <a:r>
              <a:rPr lang="en-US" sz="2287">
                <a:solidFill>
                  <a:srgbClr val="368CD1"/>
                </a:solidFill>
                <a:latin typeface="Poppins"/>
                <a:ea typeface="Poppins"/>
                <a:cs typeface="Poppins"/>
                <a:sym typeface="Poppins"/>
              </a:rPr>
              <a:t>touch .env</a:t>
            </a:r>
          </a:p>
          <a:p>
            <a:pPr algn="l">
              <a:lnSpc>
                <a:spcPts val="3202"/>
              </a:lnSpc>
              <a:spcBef>
                <a:spcPct val="0"/>
              </a:spcBef>
            </a:pPr>
            <a:r>
              <a:rPr lang="en-US" sz="2287">
                <a:solidFill>
                  <a:srgbClr val="368CD1"/>
                </a:solidFill>
                <a:latin typeface="Poppins"/>
                <a:ea typeface="Poppins"/>
                <a:cs typeface="Poppins"/>
                <a:sym typeface="Poppins"/>
              </a:rPr>
              <a:t>chmod 644 .env</a:t>
            </a:r>
          </a:p>
        </p:txBody>
      </p:sp>
      <p:sp>
        <p:nvSpPr>
          <p:cNvPr name="TextBox 12" id="12"/>
          <p:cNvSpPr txBox="true"/>
          <p:nvPr/>
        </p:nvSpPr>
        <p:spPr>
          <a:xfrm rot="0">
            <a:off x="520575" y="6819089"/>
            <a:ext cx="8483282" cy="1197152"/>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4. Build and Test</a:t>
            </a:r>
          </a:p>
          <a:p>
            <a:pPr algn="l">
              <a:lnSpc>
                <a:spcPts val="3202"/>
              </a:lnSpc>
            </a:pPr>
            <a:r>
              <a:rPr lang="en-US" sz="2287">
                <a:solidFill>
                  <a:srgbClr val="368CD1"/>
                </a:solidFill>
                <a:latin typeface="Poppins"/>
                <a:ea typeface="Poppins"/>
                <a:cs typeface="Poppins"/>
                <a:sym typeface="Poppins"/>
              </a:rPr>
              <a:t>go build -o main .</a:t>
            </a:r>
          </a:p>
          <a:p>
            <a:pPr algn="l">
              <a:lnSpc>
                <a:spcPts val="3202"/>
              </a:lnSpc>
              <a:spcBef>
                <a:spcPct val="0"/>
              </a:spcBef>
            </a:pPr>
            <a:r>
              <a:rPr lang="en-US" sz="2287">
                <a:solidFill>
                  <a:srgbClr val="368CD1"/>
                </a:solidFill>
                <a:latin typeface="Poppins"/>
                <a:ea typeface="Poppins"/>
                <a:cs typeface="Poppins"/>
                <a:sym typeface="Poppins"/>
              </a:rPr>
              <a:t>./main</a:t>
            </a:r>
          </a:p>
        </p:txBody>
      </p:sp>
      <p:sp>
        <p:nvSpPr>
          <p:cNvPr name="TextBox 13" id="13"/>
          <p:cNvSpPr txBox="true"/>
          <p:nvPr/>
        </p:nvSpPr>
        <p:spPr>
          <a:xfrm rot="0">
            <a:off x="9284143" y="2091903"/>
            <a:ext cx="8483282" cy="1995883"/>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5. Setup Service dengan systemctl</a:t>
            </a:r>
          </a:p>
          <a:p>
            <a:pPr algn="l">
              <a:lnSpc>
                <a:spcPts val="3202"/>
              </a:lnSpc>
            </a:pPr>
            <a:r>
              <a:rPr lang="en-US" sz="2287">
                <a:solidFill>
                  <a:srgbClr val="368CD1"/>
                </a:solidFill>
                <a:latin typeface="Poppins"/>
                <a:ea typeface="Poppins"/>
                <a:cs typeface="Poppins"/>
                <a:sym typeface="Poppins"/>
              </a:rPr>
              <a:t>cd /etc/systemd/system</a:t>
            </a:r>
          </a:p>
          <a:p>
            <a:pPr algn="l">
              <a:lnSpc>
                <a:spcPts val="3202"/>
              </a:lnSpc>
            </a:pPr>
            <a:r>
              <a:rPr lang="en-US" sz="2287">
                <a:solidFill>
                  <a:srgbClr val="368CD1"/>
                </a:solidFill>
                <a:latin typeface="Poppins"/>
                <a:ea typeface="Poppins"/>
                <a:cs typeface="Poppins"/>
                <a:sym typeface="Poppins"/>
              </a:rPr>
              <a:t>nano &lt;service_name&gt;.service</a:t>
            </a:r>
          </a:p>
          <a:p>
            <a:pPr algn="l">
              <a:lnSpc>
                <a:spcPts val="3202"/>
              </a:lnSpc>
            </a:pPr>
            <a:r>
              <a:rPr lang="en-US" sz="2287">
                <a:solidFill>
                  <a:srgbClr val="368CD1"/>
                </a:solidFill>
                <a:latin typeface="Poppins"/>
                <a:ea typeface="Poppins"/>
                <a:cs typeface="Poppins"/>
                <a:sym typeface="Poppins"/>
              </a:rPr>
              <a:t>systemctl &lt;start/restart/status&gt; &lt;service_name&gt;.service</a:t>
            </a:r>
          </a:p>
          <a:p>
            <a:pPr algn="l">
              <a:lnSpc>
                <a:spcPts val="3202"/>
              </a:lnSpc>
              <a:spcBef>
                <a:spcPct val="0"/>
              </a:spcBef>
            </a:pPr>
            <a:r>
              <a:rPr lang="en-US" sz="2287">
                <a:solidFill>
                  <a:srgbClr val="368CD1"/>
                </a:solidFill>
                <a:latin typeface="Poppins"/>
                <a:ea typeface="Poppins"/>
                <a:cs typeface="Poppins"/>
                <a:sym typeface="Poppins"/>
              </a:rPr>
              <a:t>journalctl -u &lt;service_name&gt;.service (-n X)</a:t>
            </a:r>
          </a:p>
        </p:txBody>
      </p:sp>
      <p:sp>
        <p:nvSpPr>
          <p:cNvPr name="TextBox 14" id="14"/>
          <p:cNvSpPr txBox="true"/>
          <p:nvPr/>
        </p:nvSpPr>
        <p:spPr>
          <a:xfrm rot="0">
            <a:off x="9284143" y="4516349"/>
            <a:ext cx="8622676" cy="1995883"/>
          </a:xfrm>
          <a:prstGeom prst="rect">
            <a:avLst/>
          </a:prstGeom>
        </p:spPr>
        <p:txBody>
          <a:bodyPr anchor="t" rtlCol="false" tIns="0" lIns="0" bIns="0" rIns="0">
            <a:spAutoFit/>
          </a:bodyPr>
          <a:lstStyle/>
          <a:p>
            <a:pPr algn="l">
              <a:lnSpc>
                <a:spcPts val="3202"/>
              </a:lnSpc>
            </a:pPr>
            <a:r>
              <a:rPr lang="en-US" sz="2287" b="true">
                <a:solidFill>
                  <a:srgbClr val="368CD1"/>
                </a:solidFill>
                <a:latin typeface="Poppins Bold"/>
                <a:ea typeface="Poppins Bold"/>
                <a:cs typeface="Poppins Bold"/>
                <a:sym typeface="Poppins Bold"/>
              </a:rPr>
              <a:t>6. Setup nginx</a:t>
            </a:r>
          </a:p>
          <a:p>
            <a:pPr algn="l">
              <a:lnSpc>
                <a:spcPts val="3202"/>
              </a:lnSpc>
            </a:pPr>
            <a:r>
              <a:rPr lang="en-US" sz="2287">
                <a:solidFill>
                  <a:srgbClr val="368CD1"/>
                </a:solidFill>
                <a:latin typeface="Poppins"/>
                <a:ea typeface="Poppins"/>
                <a:cs typeface="Poppins"/>
                <a:sym typeface="Poppins"/>
              </a:rPr>
              <a:t>sudo nano /etc/nginx/sites-available/&lt;nama-domain&gt;</a:t>
            </a:r>
          </a:p>
          <a:p>
            <a:pPr algn="l">
              <a:lnSpc>
                <a:spcPts val="3202"/>
              </a:lnSpc>
            </a:pPr>
            <a:r>
              <a:rPr lang="en-US" sz="2287">
                <a:solidFill>
                  <a:srgbClr val="368CD1"/>
                </a:solidFill>
                <a:latin typeface="Poppins"/>
                <a:ea typeface="Poppins"/>
                <a:cs typeface="Poppins"/>
                <a:sym typeface="Poppins"/>
              </a:rPr>
              <a:t>sudo ln -s /etc/nginx/sites-available/&lt;nama-domain&gt; /etc/nginx/sites-enabled/</a:t>
            </a:r>
          </a:p>
          <a:p>
            <a:pPr algn="l">
              <a:lnSpc>
                <a:spcPts val="3202"/>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4388813" y="657555"/>
            <a:ext cx="9510374" cy="78991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Backend (CI CD)</a:t>
            </a:r>
          </a:p>
        </p:txBody>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0127</a:t>
            </a:r>
          </a:p>
        </p:txBody>
      </p:sp>
      <p:sp>
        <p:nvSpPr>
          <p:cNvPr name="TextBox 9" id="9"/>
          <p:cNvSpPr txBox="true"/>
          <p:nvPr/>
        </p:nvSpPr>
        <p:spPr>
          <a:xfrm rot="0">
            <a:off x="5191638" y="1693961"/>
            <a:ext cx="7904723" cy="7505714"/>
          </a:xfrm>
          <a:prstGeom prst="rect">
            <a:avLst/>
          </a:prstGeom>
        </p:spPr>
        <p:txBody>
          <a:bodyPr anchor="t" rtlCol="false" tIns="0" lIns="0" bIns="0" rIns="0">
            <a:spAutoFit/>
          </a:bodyPr>
          <a:lstStyle/>
          <a:p>
            <a:pPr algn="l">
              <a:lnSpc>
                <a:spcPts val="2613"/>
              </a:lnSpc>
            </a:pPr>
            <a:r>
              <a:rPr lang="en-US" sz="1866">
                <a:solidFill>
                  <a:srgbClr val="368CD1"/>
                </a:solidFill>
                <a:latin typeface="Poppins"/>
                <a:ea typeface="Poppins"/>
                <a:cs typeface="Poppins"/>
                <a:sym typeface="Poppins"/>
              </a:rPr>
              <a:t>build:</a:t>
            </a:r>
          </a:p>
          <a:p>
            <a:pPr algn="l">
              <a:lnSpc>
                <a:spcPts val="2613"/>
              </a:lnSpc>
            </a:pPr>
            <a:r>
              <a:rPr lang="en-US" sz="1866">
                <a:solidFill>
                  <a:srgbClr val="368CD1"/>
                </a:solidFill>
                <a:latin typeface="Poppins"/>
                <a:ea typeface="Poppins"/>
                <a:cs typeface="Poppins"/>
                <a:sym typeface="Poppins"/>
              </a:rPr>
              <a:t>    runs-on: ubuntu-latest</a:t>
            </a:r>
          </a:p>
          <a:p>
            <a:pPr algn="l">
              <a:lnSpc>
                <a:spcPts val="2613"/>
              </a:lnSpc>
            </a:pPr>
          </a:p>
          <a:p>
            <a:pPr algn="l">
              <a:lnSpc>
                <a:spcPts val="2613"/>
              </a:lnSpc>
            </a:pPr>
            <a:r>
              <a:rPr lang="en-US" sz="1866">
                <a:solidFill>
                  <a:srgbClr val="368CD1"/>
                </a:solidFill>
                <a:latin typeface="Poppins"/>
                <a:ea typeface="Poppins"/>
                <a:cs typeface="Poppins"/>
                <a:sym typeface="Poppins"/>
              </a:rPr>
              <a:t>    steps:</a:t>
            </a:r>
          </a:p>
          <a:p>
            <a:pPr algn="l">
              <a:lnSpc>
                <a:spcPts val="2613"/>
              </a:lnSpc>
            </a:pPr>
            <a:r>
              <a:rPr lang="en-US" sz="1866">
                <a:solidFill>
                  <a:srgbClr val="368CD1"/>
                </a:solidFill>
                <a:latin typeface="Poppins"/>
                <a:ea typeface="Poppins"/>
                <a:cs typeface="Poppins"/>
                <a:sym typeface="Poppins"/>
              </a:rPr>
              <a:t>      - name: Deploy using ssh</a:t>
            </a:r>
          </a:p>
          <a:p>
            <a:pPr algn="l">
              <a:lnSpc>
                <a:spcPts val="2613"/>
              </a:lnSpc>
            </a:pPr>
            <a:r>
              <a:rPr lang="en-US" sz="1866">
                <a:solidFill>
                  <a:srgbClr val="368CD1"/>
                </a:solidFill>
                <a:latin typeface="Poppins"/>
                <a:ea typeface="Poppins"/>
                <a:cs typeface="Poppins"/>
                <a:sym typeface="Poppins"/>
              </a:rPr>
              <a:t>        uses: appleboy/ssh-action@master</a:t>
            </a:r>
          </a:p>
          <a:p>
            <a:pPr algn="l">
              <a:lnSpc>
                <a:spcPts val="2613"/>
              </a:lnSpc>
            </a:pPr>
            <a:r>
              <a:rPr lang="en-US" sz="1866">
                <a:solidFill>
                  <a:srgbClr val="368CD1"/>
                </a:solidFill>
                <a:latin typeface="Poppins"/>
                <a:ea typeface="Poppins"/>
                <a:cs typeface="Poppins"/>
                <a:sym typeface="Poppins"/>
              </a:rPr>
              <a:t>        with:</a:t>
            </a:r>
          </a:p>
          <a:p>
            <a:pPr algn="l">
              <a:lnSpc>
                <a:spcPts val="2613"/>
              </a:lnSpc>
            </a:pPr>
            <a:r>
              <a:rPr lang="en-US" sz="1866">
                <a:solidFill>
                  <a:srgbClr val="368CD1"/>
                </a:solidFill>
                <a:latin typeface="Poppins"/>
                <a:ea typeface="Poppins"/>
                <a:cs typeface="Poppins"/>
                <a:sym typeface="Poppins"/>
              </a:rPr>
              <a:t>          host: ${{ secrets.HOST }}</a:t>
            </a:r>
          </a:p>
          <a:p>
            <a:pPr algn="l">
              <a:lnSpc>
                <a:spcPts val="2613"/>
              </a:lnSpc>
            </a:pPr>
            <a:r>
              <a:rPr lang="en-US" sz="1866">
                <a:solidFill>
                  <a:srgbClr val="368CD1"/>
                </a:solidFill>
                <a:latin typeface="Poppins"/>
                <a:ea typeface="Poppins"/>
                <a:cs typeface="Poppins"/>
                <a:sym typeface="Poppins"/>
              </a:rPr>
              <a:t>          username: ${{ secrets.USERNAME }}</a:t>
            </a:r>
          </a:p>
          <a:p>
            <a:pPr algn="l">
              <a:lnSpc>
                <a:spcPts val="2613"/>
              </a:lnSpc>
            </a:pPr>
            <a:r>
              <a:rPr lang="en-US" sz="1866">
                <a:solidFill>
                  <a:srgbClr val="368CD1"/>
                </a:solidFill>
                <a:latin typeface="Poppins"/>
                <a:ea typeface="Poppins"/>
                <a:cs typeface="Poppins"/>
                <a:sym typeface="Poppins"/>
              </a:rPr>
              <a:t>          password: ${{ secrets.PASSWORD }}</a:t>
            </a:r>
          </a:p>
          <a:p>
            <a:pPr algn="l">
              <a:lnSpc>
                <a:spcPts val="2613"/>
              </a:lnSpc>
            </a:pPr>
            <a:r>
              <a:rPr lang="en-US" sz="1866">
                <a:solidFill>
                  <a:srgbClr val="368CD1"/>
                </a:solidFill>
                <a:latin typeface="Poppins"/>
                <a:ea typeface="Poppins"/>
                <a:cs typeface="Poppins"/>
                <a:sym typeface="Poppins"/>
              </a:rPr>
              <a:t>          port: ${{ secrets.PORT }}</a:t>
            </a:r>
          </a:p>
          <a:p>
            <a:pPr algn="l">
              <a:lnSpc>
                <a:spcPts val="2613"/>
              </a:lnSpc>
            </a:pPr>
            <a:r>
              <a:rPr lang="en-US" sz="1866">
                <a:solidFill>
                  <a:srgbClr val="368CD1"/>
                </a:solidFill>
                <a:latin typeface="Poppins"/>
                <a:ea typeface="Poppins"/>
                <a:cs typeface="Poppins"/>
                <a:sym typeface="Poppins"/>
              </a:rPr>
              <a:t>          script: |</a:t>
            </a:r>
          </a:p>
          <a:p>
            <a:pPr algn="l">
              <a:lnSpc>
                <a:spcPts val="2613"/>
              </a:lnSpc>
            </a:pPr>
            <a:r>
              <a:rPr lang="en-US" sz="1866">
                <a:solidFill>
                  <a:srgbClr val="368CD1"/>
                </a:solidFill>
                <a:latin typeface="Poppins"/>
                <a:ea typeface="Poppins"/>
                <a:cs typeface="Poppins"/>
                <a:sym typeface="Poppins"/>
              </a:rPr>
              <a:t>            # Ensure Go binary is in the PATh</a:t>
            </a:r>
          </a:p>
          <a:p>
            <a:pPr algn="l">
              <a:lnSpc>
                <a:spcPts val="2613"/>
              </a:lnSpc>
            </a:pPr>
            <a:r>
              <a:rPr lang="en-US" sz="1866">
                <a:solidFill>
                  <a:srgbClr val="368CD1"/>
                </a:solidFill>
                <a:latin typeface="Poppins"/>
                <a:ea typeface="Poppins"/>
                <a:cs typeface="Poppins"/>
                <a:sym typeface="Poppins"/>
              </a:rPr>
              <a:t>            export PATH=$PATH:/usr/bin/go</a:t>
            </a:r>
          </a:p>
          <a:p>
            <a:pPr algn="l">
              <a:lnSpc>
                <a:spcPts val="2613"/>
              </a:lnSpc>
            </a:pPr>
          </a:p>
          <a:p>
            <a:pPr algn="l">
              <a:lnSpc>
                <a:spcPts val="2613"/>
              </a:lnSpc>
            </a:pPr>
            <a:r>
              <a:rPr lang="en-US" sz="1866">
                <a:solidFill>
                  <a:srgbClr val="368CD1"/>
                </a:solidFill>
                <a:latin typeface="Poppins"/>
                <a:ea typeface="Poppins"/>
                <a:cs typeface="Poppins"/>
                <a:sym typeface="Poppins"/>
              </a:rPr>
              <a:t>            cd /var/www/backend</a:t>
            </a:r>
          </a:p>
          <a:p>
            <a:pPr algn="l">
              <a:lnSpc>
                <a:spcPts val="2613"/>
              </a:lnSpc>
            </a:pPr>
            <a:r>
              <a:rPr lang="en-US" sz="1866">
                <a:solidFill>
                  <a:srgbClr val="368CD1"/>
                </a:solidFill>
                <a:latin typeface="Poppins"/>
                <a:ea typeface="Poppins"/>
                <a:cs typeface="Poppins"/>
                <a:sym typeface="Poppins"/>
              </a:rPr>
              <a:t>            sudo git stash</a:t>
            </a:r>
          </a:p>
          <a:p>
            <a:pPr algn="l">
              <a:lnSpc>
                <a:spcPts val="2613"/>
              </a:lnSpc>
            </a:pPr>
            <a:r>
              <a:rPr lang="en-US" sz="1866">
                <a:solidFill>
                  <a:srgbClr val="368CD1"/>
                </a:solidFill>
                <a:latin typeface="Poppins"/>
                <a:ea typeface="Poppins"/>
                <a:cs typeface="Poppins"/>
                <a:sym typeface="Poppins"/>
              </a:rPr>
              <a:t>            sudo git checkout prod</a:t>
            </a:r>
          </a:p>
          <a:p>
            <a:pPr algn="l">
              <a:lnSpc>
                <a:spcPts val="2613"/>
              </a:lnSpc>
            </a:pPr>
            <a:r>
              <a:rPr lang="en-US" sz="1866">
                <a:solidFill>
                  <a:srgbClr val="368CD1"/>
                </a:solidFill>
                <a:latin typeface="Poppins"/>
                <a:ea typeface="Poppins"/>
                <a:cs typeface="Poppins"/>
                <a:sym typeface="Poppins"/>
              </a:rPr>
              <a:t>            sudo git pull --rebase origin prod</a:t>
            </a:r>
          </a:p>
          <a:p>
            <a:pPr algn="l">
              <a:lnSpc>
                <a:spcPts val="2613"/>
              </a:lnSpc>
            </a:pPr>
            <a:r>
              <a:rPr lang="en-US" sz="1866">
                <a:solidFill>
                  <a:srgbClr val="368CD1"/>
                </a:solidFill>
                <a:latin typeface="Poppins"/>
                <a:ea typeface="Poppins"/>
                <a:cs typeface="Poppins"/>
                <a:sym typeface="Poppins"/>
              </a:rPr>
              <a:t>            sudo git status</a:t>
            </a:r>
          </a:p>
          <a:p>
            <a:pPr algn="l">
              <a:lnSpc>
                <a:spcPts val="2613"/>
              </a:lnSpc>
            </a:pPr>
            <a:r>
              <a:rPr lang="en-US" sz="1866">
                <a:solidFill>
                  <a:srgbClr val="368CD1"/>
                </a:solidFill>
                <a:latin typeface="Poppins"/>
                <a:ea typeface="Poppins"/>
                <a:cs typeface="Poppins"/>
                <a:sym typeface="Poppins"/>
              </a:rPr>
              <a:t>            sudo go build -o main .</a:t>
            </a:r>
          </a:p>
          <a:p>
            <a:pPr algn="l">
              <a:lnSpc>
                <a:spcPts val="2613"/>
              </a:lnSpc>
            </a:pPr>
            <a:r>
              <a:rPr lang="en-US" sz="1866">
                <a:solidFill>
                  <a:srgbClr val="368CD1"/>
                </a:solidFill>
                <a:latin typeface="Poppins"/>
                <a:ea typeface="Poppins"/>
                <a:cs typeface="Poppins"/>
                <a:sym typeface="Poppins"/>
              </a:rPr>
              <a:t>            sudo systemctl restart &lt;service_name&gt;.service</a:t>
            </a:r>
          </a:p>
          <a:p>
            <a:pPr algn="l">
              <a:lnSpc>
                <a:spcPts val="2613"/>
              </a:lnSpc>
              <a:spcBef>
                <a:spcPct val="0"/>
              </a:spcBef>
            </a:pPr>
            <a:r>
              <a:rPr lang="en-US" sz="1866">
                <a:solidFill>
                  <a:srgbClr val="368CD1"/>
                </a:solidFill>
                <a:latin typeface="Poppins"/>
                <a:ea typeface="Poppins"/>
                <a:cs typeface="Poppins"/>
                <a:sym typeface="Poppins"/>
              </a:rPr>
              <a:t>            sudo systemctl status &lt;service_name&gt;.service --no-pager</a:t>
            </a:r>
          </a:p>
        </p:txBody>
      </p:sp>
      <p:grpSp>
        <p:nvGrpSpPr>
          <p:cNvPr name="Group 10" id="10"/>
          <p:cNvGrpSpPr/>
          <p:nvPr/>
        </p:nvGrpSpPr>
        <p:grpSpPr>
          <a:xfrm rot="0">
            <a:off x="14154321" y="333061"/>
            <a:ext cx="3712147" cy="5347009"/>
            <a:chOff x="0" y="0"/>
            <a:chExt cx="4949530" cy="7129345"/>
          </a:xfrm>
        </p:grpSpPr>
        <p:sp>
          <p:nvSpPr>
            <p:cNvPr name="Freeform 11" id="11"/>
            <p:cNvSpPr/>
            <p:nvPr/>
          </p:nvSpPr>
          <p:spPr>
            <a:xfrm flipH="false" flipV="false" rot="0">
              <a:off x="2445478" y="0"/>
              <a:ext cx="2504052" cy="4277107"/>
            </a:xfrm>
            <a:custGeom>
              <a:avLst/>
              <a:gdLst/>
              <a:ahLst/>
              <a:cxnLst/>
              <a:rect r="r" b="b" t="t" l="l"/>
              <a:pathLst>
                <a:path h="4277107" w="2504052">
                  <a:moveTo>
                    <a:pt x="0" y="0"/>
                  </a:moveTo>
                  <a:lnTo>
                    <a:pt x="2504052" y="0"/>
                  </a:lnTo>
                  <a:lnTo>
                    <a:pt x="2504052" y="4277107"/>
                  </a:lnTo>
                  <a:lnTo>
                    <a:pt x="0" y="42771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0" y="813240"/>
              <a:ext cx="4949530" cy="6316105"/>
            </a:xfrm>
            <a:custGeom>
              <a:avLst/>
              <a:gdLst/>
              <a:ahLst/>
              <a:cxnLst/>
              <a:rect r="r" b="b" t="t" l="l"/>
              <a:pathLst>
                <a:path h="6316105" w="4949530">
                  <a:moveTo>
                    <a:pt x="0" y="0"/>
                  </a:moveTo>
                  <a:lnTo>
                    <a:pt x="4949530" y="0"/>
                  </a:lnTo>
                  <a:lnTo>
                    <a:pt x="4949530" y="6316105"/>
                  </a:lnTo>
                  <a:lnTo>
                    <a:pt x="0" y="63161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3" id="13"/>
          <p:cNvSpPr/>
          <p:nvPr/>
        </p:nvSpPr>
        <p:spPr>
          <a:xfrm flipH="false" flipV="false" rot="0">
            <a:off x="690946" y="5143500"/>
            <a:ext cx="3360113" cy="3687367"/>
          </a:xfrm>
          <a:custGeom>
            <a:avLst/>
            <a:gdLst/>
            <a:ahLst/>
            <a:cxnLst/>
            <a:rect r="r" b="b" t="t" l="l"/>
            <a:pathLst>
              <a:path h="3687367" w="3360113">
                <a:moveTo>
                  <a:pt x="0" y="0"/>
                </a:moveTo>
                <a:lnTo>
                  <a:pt x="3360113" y="0"/>
                </a:lnTo>
                <a:lnTo>
                  <a:pt x="3360113" y="3687367"/>
                </a:lnTo>
                <a:lnTo>
                  <a:pt x="0" y="3687367"/>
                </a:lnTo>
                <a:lnTo>
                  <a:pt x="0" y="0"/>
                </a:lnTo>
                <a:close/>
              </a:path>
            </a:pathLst>
          </a:custGeom>
          <a:blipFill>
            <a:blip r:embed="rId9"/>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028</a:t>
            </a:r>
          </a:p>
        </p:txBody>
      </p:sp>
      <p:sp>
        <p:nvSpPr>
          <p:cNvPr name="TextBox 8" id="8"/>
          <p:cNvSpPr txBox="true"/>
          <p:nvPr/>
        </p:nvSpPr>
        <p:spPr>
          <a:xfrm rot="0">
            <a:off x="8586855" y="4619898"/>
            <a:ext cx="7962900" cy="240427"/>
          </a:xfrm>
          <a:prstGeom prst="rect">
            <a:avLst/>
          </a:prstGeom>
        </p:spPr>
        <p:txBody>
          <a:bodyPr anchor="t" rtlCol="false" tIns="0" lIns="0" bIns="0" rIns="0">
            <a:spAutoFit/>
          </a:bodyPr>
          <a:lstStyle/>
          <a:p>
            <a:pPr algn="l">
              <a:lnSpc>
                <a:spcPts val="1689"/>
              </a:lnSpc>
            </a:pPr>
          </a:p>
        </p:txBody>
      </p:sp>
      <p:grpSp>
        <p:nvGrpSpPr>
          <p:cNvPr name="Group 9" id="9"/>
          <p:cNvGrpSpPr/>
          <p:nvPr/>
        </p:nvGrpSpPr>
        <p:grpSpPr>
          <a:xfrm rot="0">
            <a:off x="4051059" y="1767330"/>
            <a:ext cx="9510374" cy="6752340"/>
            <a:chOff x="0" y="0"/>
            <a:chExt cx="12680498" cy="9003120"/>
          </a:xfrm>
        </p:grpSpPr>
        <p:sp>
          <p:nvSpPr>
            <p:cNvPr name="TextBox 10" id="10"/>
            <p:cNvSpPr txBox="true"/>
            <p:nvPr/>
          </p:nvSpPr>
          <p:spPr>
            <a:xfrm rot="0">
              <a:off x="0" y="47625"/>
              <a:ext cx="12680498" cy="106909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Setup SSL &amp; Restart nginx</a:t>
              </a:r>
            </a:p>
          </p:txBody>
        </p:sp>
        <p:sp>
          <p:nvSpPr>
            <p:cNvPr name="TextBox 11" id="11"/>
            <p:cNvSpPr txBox="true"/>
            <p:nvPr/>
          </p:nvSpPr>
          <p:spPr>
            <a:xfrm rot="0">
              <a:off x="3976824" y="1442121"/>
              <a:ext cx="4726851" cy="1661693"/>
            </a:xfrm>
            <a:prstGeom prst="rect">
              <a:avLst/>
            </a:prstGeom>
          </p:spPr>
          <p:txBody>
            <a:bodyPr anchor="t" rtlCol="false" tIns="0" lIns="0" bIns="0" rIns="0">
              <a:spAutoFit/>
            </a:bodyPr>
            <a:lstStyle/>
            <a:p>
              <a:pPr algn="l">
                <a:lnSpc>
                  <a:spcPts val="3360"/>
                </a:lnSpc>
              </a:pPr>
              <a:r>
                <a:rPr lang="en-US" sz="2400">
                  <a:solidFill>
                    <a:srgbClr val="368CD1"/>
                  </a:solidFill>
                  <a:latin typeface="Poppins"/>
                  <a:ea typeface="Poppins"/>
                  <a:cs typeface="Poppins"/>
                  <a:sym typeface="Poppins"/>
                </a:rPr>
                <a:t>sudo certbot --nginx</a:t>
              </a:r>
            </a:p>
            <a:p>
              <a:pPr algn="l">
                <a:lnSpc>
                  <a:spcPts val="3360"/>
                </a:lnSpc>
              </a:pPr>
              <a:r>
                <a:rPr lang="en-US" sz="2400">
                  <a:solidFill>
                    <a:srgbClr val="368CD1"/>
                  </a:solidFill>
                  <a:latin typeface="Poppins"/>
                  <a:ea typeface="Poppins"/>
                  <a:cs typeface="Poppins"/>
                  <a:sym typeface="Poppins"/>
                </a:rPr>
                <a:t>sudo nginx -t</a:t>
              </a:r>
            </a:p>
            <a:p>
              <a:pPr algn="l">
                <a:lnSpc>
                  <a:spcPts val="3360"/>
                </a:lnSpc>
                <a:spcBef>
                  <a:spcPct val="0"/>
                </a:spcBef>
              </a:pPr>
              <a:r>
                <a:rPr lang="en-US" sz="2400">
                  <a:solidFill>
                    <a:srgbClr val="368CD1"/>
                  </a:solidFill>
                  <a:latin typeface="Poppins"/>
                  <a:ea typeface="Poppins"/>
                  <a:cs typeface="Poppins"/>
                  <a:sym typeface="Poppins"/>
                </a:rPr>
                <a:t>service nginx restart</a:t>
              </a:r>
            </a:p>
          </p:txBody>
        </p:sp>
        <p:sp>
          <p:nvSpPr>
            <p:cNvPr name="TextBox 12" id="12"/>
            <p:cNvSpPr txBox="true"/>
            <p:nvPr/>
          </p:nvSpPr>
          <p:spPr>
            <a:xfrm rot="0">
              <a:off x="0" y="3710239"/>
              <a:ext cx="12680498" cy="1069095"/>
            </a:xfrm>
            <a:prstGeom prst="rect">
              <a:avLst/>
            </a:prstGeom>
          </p:spPr>
          <p:txBody>
            <a:bodyPr anchor="t" rtlCol="false" tIns="0" lIns="0" bIns="0" rIns="0">
              <a:spAutoFit/>
            </a:bodyPr>
            <a:lstStyle/>
            <a:p>
              <a:pPr algn="ctr">
                <a:lnSpc>
                  <a:spcPts val="5554"/>
                </a:lnSpc>
              </a:pPr>
              <a:r>
                <a:rPr lang="en-US" sz="5499" b="true">
                  <a:solidFill>
                    <a:srgbClr val="16456A"/>
                  </a:solidFill>
                  <a:latin typeface="Poppins Bold"/>
                  <a:ea typeface="Poppins Bold"/>
                  <a:cs typeface="Poppins Bold"/>
                  <a:sym typeface="Poppins Bold"/>
                </a:rPr>
                <a:t>Setup Domain</a:t>
              </a:r>
            </a:p>
          </p:txBody>
        </p:sp>
        <p:sp>
          <p:nvSpPr>
            <p:cNvPr name="TextBox 13" id="13"/>
            <p:cNvSpPr txBox="true"/>
            <p:nvPr/>
          </p:nvSpPr>
          <p:spPr>
            <a:xfrm rot="0">
              <a:off x="3302740" y="5106360"/>
              <a:ext cx="6075019" cy="3896761"/>
            </a:xfrm>
            <a:prstGeom prst="rect">
              <a:avLst/>
            </a:prstGeom>
          </p:spPr>
          <p:txBody>
            <a:bodyPr anchor="t" rtlCol="false" tIns="0" lIns="0" bIns="0" rIns="0">
              <a:spAutoFit/>
            </a:bodyPr>
            <a:lstStyle/>
            <a:p>
              <a:pPr algn="l" marL="518175" indent="-259087" lvl="1">
                <a:lnSpc>
                  <a:spcPts val="3360"/>
                </a:lnSpc>
                <a:buFont typeface="Arial"/>
                <a:buChar char="•"/>
              </a:pPr>
              <a:r>
                <a:rPr lang="en-US" sz="2400">
                  <a:solidFill>
                    <a:srgbClr val="368CD1"/>
                  </a:solidFill>
                  <a:latin typeface="Poppins"/>
                  <a:ea typeface="Poppins"/>
                  <a:cs typeface="Poppins"/>
                  <a:sym typeface="Poppins"/>
                </a:rPr>
                <a:t>A entries:</a:t>
              </a:r>
            </a:p>
            <a:p>
              <a:pPr algn="l" marL="518175" indent="-259087" lvl="1">
                <a:lnSpc>
                  <a:spcPts val="3360"/>
                </a:lnSpc>
                <a:buAutoNum type="arabicPeriod" startAt="1"/>
              </a:pPr>
              <a:r>
                <a:rPr lang="en-US" sz="2400">
                  <a:solidFill>
                    <a:srgbClr val="368CD1"/>
                  </a:solidFill>
                  <a:latin typeface="Poppins"/>
                  <a:ea typeface="Poppins"/>
                  <a:cs typeface="Poppins"/>
                  <a:sym typeface="Poppins"/>
                </a:rPr>
                <a:t>@ -&gt; IP VPS</a:t>
              </a:r>
            </a:p>
            <a:p>
              <a:pPr algn="l" marL="518175" indent="-259087" lvl="1">
                <a:lnSpc>
                  <a:spcPts val="3360"/>
                </a:lnSpc>
                <a:buAutoNum type="arabicPeriod" startAt="1"/>
              </a:pPr>
              <a:r>
                <a:rPr lang="en-US" sz="2400">
                  <a:solidFill>
                    <a:srgbClr val="368CD1"/>
                  </a:solidFill>
                  <a:latin typeface="Poppins"/>
                  <a:ea typeface="Poppins"/>
                  <a:cs typeface="Poppins"/>
                  <a:sym typeface="Poppins"/>
                </a:rPr>
                <a:t>api -&gt; IP VPS</a:t>
              </a:r>
            </a:p>
            <a:p>
              <a:pPr algn="l">
                <a:lnSpc>
                  <a:spcPts val="3360"/>
                </a:lnSpc>
              </a:pPr>
            </a:p>
            <a:p>
              <a:pPr algn="l" marL="518175" indent="-259087" lvl="1">
                <a:lnSpc>
                  <a:spcPts val="3360"/>
                </a:lnSpc>
                <a:buFont typeface="Arial"/>
                <a:buChar char="•"/>
              </a:pPr>
              <a:r>
                <a:rPr lang="en-US" sz="2400">
                  <a:solidFill>
                    <a:srgbClr val="368CD1"/>
                  </a:solidFill>
                  <a:latin typeface="Poppins"/>
                  <a:ea typeface="Poppins"/>
                  <a:cs typeface="Poppins"/>
                  <a:sym typeface="Poppins"/>
                </a:rPr>
                <a:t>CNAME entries:</a:t>
              </a:r>
            </a:p>
            <a:p>
              <a:pPr algn="l" marL="518175" indent="-259087" lvl="1">
                <a:lnSpc>
                  <a:spcPts val="3360"/>
                </a:lnSpc>
                <a:buAutoNum type="arabicPeriod" startAt="1"/>
              </a:pPr>
              <a:r>
                <a:rPr lang="en-US" sz="2400">
                  <a:solidFill>
                    <a:srgbClr val="368CD1"/>
                  </a:solidFill>
                  <a:latin typeface="Poppins"/>
                  <a:ea typeface="Poppins"/>
                  <a:cs typeface="Poppins"/>
                  <a:sym typeface="Poppins"/>
                </a:rPr>
                <a:t>www → &lt;nama-domain&gt;</a:t>
              </a:r>
            </a:p>
            <a:p>
              <a:pPr algn="l">
                <a:lnSpc>
                  <a:spcPts val="3360"/>
                </a:lnSpc>
                <a:spcBef>
                  <a:spcPct val="0"/>
                </a:spcBef>
              </a:pPr>
            </a:p>
          </p:txBody>
        </p:sp>
      </p:grpSp>
      <p:grpSp>
        <p:nvGrpSpPr>
          <p:cNvPr name="Group 14" id="14"/>
          <p:cNvGrpSpPr/>
          <p:nvPr/>
        </p:nvGrpSpPr>
        <p:grpSpPr>
          <a:xfrm rot="0">
            <a:off x="14154321" y="333061"/>
            <a:ext cx="3712147" cy="5347009"/>
            <a:chOff x="0" y="0"/>
            <a:chExt cx="4949530" cy="7129345"/>
          </a:xfrm>
        </p:grpSpPr>
        <p:sp>
          <p:nvSpPr>
            <p:cNvPr name="Freeform 15" id="15"/>
            <p:cNvSpPr/>
            <p:nvPr/>
          </p:nvSpPr>
          <p:spPr>
            <a:xfrm flipH="false" flipV="false" rot="0">
              <a:off x="2445478" y="0"/>
              <a:ext cx="2504052" cy="4277107"/>
            </a:xfrm>
            <a:custGeom>
              <a:avLst/>
              <a:gdLst/>
              <a:ahLst/>
              <a:cxnLst/>
              <a:rect r="r" b="b" t="t" l="l"/>
              <a:pathLst>
                <a:path h="4277107" w="2504052">
                  <a:moveTo>
                    <a:pt x="0" y="0"/>
                  </a:moveTo>
                  <a:lnTo>
                    <a:pt x="2504052" y="0"/>
                  </a:lnTo>
                  <a:lnTo>
                    <a:pt x="2504052" y="4277107"/>
                  </a:lnTo>
                  <a:lnTo>
                    <a:pt x="0" y="42771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0" y="813240"/>
              <a:ext cx="4949530" cy="6316105"/>
            </a:xfrm>
            <a:custGeom>
              <a:avLst/>
              <a:gdLst/>
              <a:ahLst/>
              <a:cxnLst/>
              <a:rect r="r" b="b" t="t" l="l"/>
              <a:pathLst>
                <a:path h="6316105" w="4949530">
                  <a:moveTo>
                    <a:pt x="0" y="0"/>
                  </a:moveTo>
                  <a:lnTo>
                    <a:pt x="4949530" y="0"/>
                  </a:lnTo>
                  <a:lnTo>
                    <a:pt x="4949530" y="6316105"/>
                  </a:lnTo>
                  <a:lnTo>
                    <a:pt x="0" y="63161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7" id="17"/>
          <p:cNvSpPr/>
          <p:nvPr/>
        </p:nvSpPr>
        <p:spPr>
          <a:xfrm flipH="false" flipV="false" rot="0">
            <a:off x="690946" y="5143500"/>
            <a:ext cx="3360113" cy="3687367"/>
          </a:xfrm>
          <a:custGeom>
            <a:avLst/>
            <a:gdLst/>
            <a:ahLst/>
            <a:cxnLst/>
            <a:rect r="r" b="b" t="t" l="l"/>
            <a:pathLst>
              <a:path h="3687367" w="3360113">
                <a:moveTo>
                  <a:pt x="0" y="0"/>
                </a:moveTo>
                <a:lnTo>
                  <a:pt x="3360113" y="0"/>
                </a:lnTo>
                <a:lnTo>
                  <a:pt x="3360113" y="3687367"/>
                </a:lnTo>
                <a:lnTo>
                  <a:pt x="0" y="3687367"/>
                </a:lnTo>
                <a:lnTo>
                  <a:pt x="0" y="0"/>
                </a:lnTo>
                <a:close/>
              </a:path>
            </a:pathLst>
          </a:custGeom>
          <a:blipFill>
            <a:blip r:embed="rId9"/>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765108" y="563245"/>
            <a:ext cx="8056987" cy="997585"/>
          </a:xfrm>
          <a:prstGeom prst="rect">
            <a:avLst/>
          </a:prstGeom>
        </p:spPr>
        <p:txBody>
          <a:bodyPr anchor="t" rtlCol="false" tIns="0" lIns="0" bIns="0" rIns="0">
            <a:spAutoFit/>
          </a:bodyPr>
          <a:lstStyle/>
          <a:p>
            <a:pPr algn="ctr">
              <a:lnSpc>
                <a:spcPts val="7069"/>
              </a:lnSpc>
            </a:pPr>
            <a:r>
              <a:rPr lang="en-US" sz="6999" b="true">
                <a:solidFill>
                  <a:srgbClr val="16456A"/>
                </a:solidFill>
                <a:latin typeface="Poppins Bold"/>
                <a:ea typeface="Poppins Bold"/>
                <a:cs typeface="Poppins Bold"/>
                <a:sym typeface="Poppins Bold"/>
              </a:rPr>
              <a:t>Reference</a:t>
            </a:r>
          </a:p>
        </p:txBody>
      </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029</a:t>
            </a:r>
          </a:p>
        </p:txBody>
      </p:sp>
      <p:sp>
        <p:nvSpPr>
          <p:cNvPr name="TextBox 8" id="8"/>
          <p:cNvSpPr txBox="true"/>
          <p:nvPr/>
        </p:nvSpPr>
        <p:spPr>
          <a:xfrm rot="0">
            <a:off x="1174973" y="1912509"/>
            <a:ext cx="17113027" cy="5034913"/>
          </a:xfrm>
          <a:prstGeom prst="rect">
            <a:avLst/>
          </a:prstGeom>
        </p:spPr>
        <p:txBody>
          <a:bodyPr anchor="t" rtlCol="false" tIns="0" lIns="0" bIns="0" rIns="0">
            <a:spAutoFit/>
          </a:bodyPr>
          <a:lstStyle/>
          <a:p>
            <a:pPr algn="l" marL="518175" indent="-259087" lvl="1">
              <a:lnSpc>
                <a:spcPts val="3360"/>
              </a:lnSpc>
              <a:buFont typeface="Arial"/>
              <a:buChar char="•"/>
            </a:pPr>
            <a:r>
              <a:rPr lang="en-US" b="true" sz="2400" u="sng">
                <a:solidFill>
                  <a:srgbClr val="368CD1"/>
                </a:solidFill>
                <a:latin typeface="Poppins Bold"/>
                <a:ea typeface="Poppins Bold"/>
                <a:cs typeface="Poppins Bold"/>
                <a:sym typeface="Poppins Bold"/>
                <a:hlinkClick r:id="rId4" tooltip="https://www.atlassian.com/agile/software-development/software-deployment"/>
              </a:rPr>
              <a:t>https://www.atlassian.com/agile/software-development/software-deployment</a:t>
            </a:r>
          </a:p>
          <a:p>
            <a:pPr algn="l" marL="518175" indent="-259087" lvl="1">
              <a:lnSpc>
                <a:spcPts val="3360"/>
              </a:lnSpc>
              <a:buFont typeface="Arial"/>
              <a:buChar char="•"/>
            </a:pPr>
            <a:r>
              <a:rPr lang="en-US" b="true" sz="2400" u="sng">
                <a:solidFill>
                  <a:srgbClr val="368CD1"/>
                </a:solidFill>
                <a:latin typeface="Poppins Bold"/>
                <a:ea typeface="Poppins Bold"/>
                <a:cs typeface="Poppins Bold"/>
                <a:sym typeface="Poppins Bold"/>
                <a:hlinkClick r:id="rId5" tooltip="https://www.deployhq.com/blog/the-ultimate-deployment-checklist-ensuring-smooth-and-successful-releases"/>
              </a:rPr>
              <a:t>https://www.deployhq.com/blog/the-ultimate-deployment-checklist-ensuring-smooth-and-successful-releases</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IBM Cloud Docs – “What is Migration?</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AWS Cloud Migration Whitepaper (Amazon Web Services)</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Microsoft Azure Documentation: Application Migration</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https://en.wikipedia.org/wiki/Installation_(computer_programs)</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https://www.geeksforgeeks.org/web-tech/what-is-a-web-hosting/</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https://dev.to/asad10/vps-server-setup-for-any-application-with-easy-deployment-flow-4dl1</a:t>
            </a:r>
          </a:p>
          <a:p>
            <a:pPr algn="l" marL="518175" indent="-259087" lvl="1">
              <a:lnSpc>
                <a:spcPts val="3360"/>
              </a:lnSpc>
              <a:buFont typeface="Arial"/>
              <a:buChar char="•"/>
            </a:pPr>
            <a:r>
              <a:rPr lang="en-US" b="true" sz="2400">
                <a:solidFill>
                  <a:srgbClr val="368CD1"/>
                </a:solidFill>
                <a:latin typeface="Poppins Bold"/>
                <a:ea typeface="Poppins Bold"/>
                <a:cs typeface="Poppins Bold"/>
                <a:sym typeface="Poppins Bold"/>
              </a:rPr>
              <a:t>https://dev.to/knowbee/how-to-setup-continuous-deployment-of-a-website-on-a-vps-using-github-actions-54im</a:t>
            </a:r>
          </a:p>
          <a:p>
            <a:pPr algn="l" marL="518175" indent="-259087" lvl="1">
              <a:lnSpc>
                <a:spcPts val="3360"/>
              </a:lnSpc>
              <a:spcBef>
                <a:spcPct val="0"/>
              </a:spcBef>
              <a:buFont typeface="Arial"/>
              <a:buChar char="•"/>
            </a:pPr>
            <a:r>
              <a:rPr lang="en-US" b="true" sz="2400">
                <a:solidFill>
                  <a:srgbClr val="368CD1"/>
                </a:solidFill>
                <a:latin typeface="Poppins Bold"/>
                <a:ea typeface="Poppins Bold"/>
                <a:cs typeface="Poppins Bold"/>
                <a:sym typeface="Poppins Bold"/>
              </a:rPr>
              <a:t>https://dev.to/mahmud-r-farhan/beginners-guide-to-deploying-projects-on-a-vps-server-26a7</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grpSp>
        <p:nvGrpSpPr>
          <p:cNvPr name="Group 3" id="3"/>
          <p:cNvGrpSpPr/>
          <p:nvPr/>
        </p:nvGrpSpPr>
        <p:grpSpPr>
          <a:xfrm rot="0">
            <a:off x="-970336" y="9503317"/>
            <a:ext cx="19527875" cy="3086100"/>
            <a:chOff x="0" y="0"/>
            <a:chExt cx="5143144" cy="812800"/>
          </a:xfrm>
        </p:grpSpPr>
        <p:sp>
          <p:nvSpPr>
            <p:cNvPr name="Freeform 4" id="4"/>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5" id="5"/>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6" id="6"/>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603788" y="1521924"/>
            <a:ext cx="13260423" cy="6533772"/>
          </a:xfrm>
          <a:custGeom>
            <a:avLst/>
            <a:gdLst/>
            <a:ahLst/>
            <a:cxnLst/>
            <a:rect r="r" b="b" t="t" l="l"/>
            <a:pathLst>
              <a:path h="6533772" w="13260423">
                <a:moveTo>
                  <a:pt x="0" y="0"/>
                </a:moveTo>
                <a:lnTo>
                  <a:pt x="13260423" y="0"/>
                </a:lnTo>
                <a:lnTo>
                  <a:pt x="13260423" y="6533772"/>
                </a:lnTo>
                <a:lnTo>
                  <a:pt x="0" y="6533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5592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030</a:t>
            </a:r>
          </a:p>
        </p:txBody>
      </p:sp>
      <p:sp>
        <p:nvSpPr>
          <p:cNvPr name="TextBox 9" id="9"/>
          <p:cNvSpPr txBox="true"/>
          <p:nvPr/>
        </p:nvSpPr>
        <p:spPr>
          <a:xfrm rot="0">
            <a:off x="4347491" y="4376821"/>
            <a:ext cx="9341757" cy="1569053"/>
          </a:xfrm>
          <a:prstGeom prst="rect">
            <a:avLst/>
          </a:prstGeom>
        </p:spPr>
        <p:txBody>
          <a:bodyPr anchor="t" rtlCol="false" tIns="0" lIns="0" bIns="0" rIns="0">
            <a:spAutoFit/>
          </a:bodyPr>
          <a:lstStyle/>
          <a:p>
            <a:pPr algn="ctr">
              <a:lnSpc>
                <a:spcPts val="11054"/>
              </a:lnSpc>
            </a:pPr>
            <a:r>
              <a:rPr lang="en-US" sz="10945" b="true">
                <a:solidFill>
                  <a:srgbClr val="16456A"/>
                </a:solidFill>
                <a:latin typeface="Poppins Bold"/>
                <a:ea typeface="Poppins Bold"/>
                <a:cs typeface="Poppins Bold"/>
                <a:sym typeface="Poppins Bold"/>
              </a:rPr>
              <a:t>Thank You!</a:t>
            </a:r>
          </a:p>
        </p:txBody>
      </p:sp>
      <p:sp>
        <p:nvSpPr>
          <p:cNvPr name="TextBox 10" id="10"/>
          <p:cNvSpPr txBox="true"/>
          <p:nvPr/>
        </p:nvSpPr>
        <p:spPr>
          <a:xfrm rot="0">
            <a:off x="4858356" y="5888724"/>
            <a:ext cx="8140028" cy="700071"/>
          </a:xfrm>
          <a:prstGeom prst="rect">
            <a:avLst/>
          </a:prstGeom>
        </p:spPr>
        <p:txBody>
          <a:bodyPr anchor="t" rtlCol="false" tIns="0" lIns="0" bIns="0" rIns="0">
            <a:spAutoFit/>
          </a:bodyPr>
          <a:lstStyle/>
          <a:p>
            <a:pPr algn="ctr">
              <a:lnSpc>
                <a:spcPts val="2747"/>
              </a:lnSpc>
            </a:pPr>
            <a:r>
              <a:rPr lang="en-US" sz="1962">
                <a:solidFill>
                  <a:srgbClr val="16456A"/>
                </a:solidFill>
                <a:latin typeface="Poppins"/>
                <a:ea typeface="Poppins"/>
                <a:cs typeface="Poppins"/>
                <a:sym typeface="Poppins"/>
              </a:rPr>
              <a:t>Thank you for your attention. We hope this presentation enhanced your understanding of computer software essentials.</a:t>
            </a:r>
          </a:p>
        </p:txBody>
      </p:sp>
      <p:sp>
        <p:nvSpPr>
          <p:cNvPr name="Freeform 11" id="11"/>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DAG4M-ye_T8</dc:identifier>
  <dcterms:modified xsi:type="dcterms:W3CDTF">2011-08-01T06:04:30Z</dcterms:modified>
  <cp:revision>1</cp:revision>
  <dc:title>deployment</dc:title>
</cp:coreProperties>
</file>