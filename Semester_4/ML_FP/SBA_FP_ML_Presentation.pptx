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SBA LOAN DEFAULT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Clustering-Augmented Predictive Modeling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3200400"/>
            <a:ext cx="2743200" cy="18288"/>
          </a:xfrm>
          <a:prstGeom prst="rect">
            <a:avLst/>
          </a:prstGeom>
          <a:solidFill>
            <a:srgbClr val="5B86A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Pembelajaran Mesin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" y="3886200"/>
            <a:ext cx="1645920" cy="822960"/>
          </a:xfrm>
          <a:prstGeom prst="roundedRect">
            <a:avLst>
              <a:gd name="adj" fmla="val 6667"/>
            </a:avLst>
          </a:prstGeom>
          <a:solidFill>
            <a:srgbClr val="2C4A7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4297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Clustering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834640" y="3886200"/>
            <a:ext cx="1645920" cy="822960"/>
          </a:xfrm>
          <a:prstGeom prst="roundedRect">
            <a:avLst>
              <a:gd name="adj" fmla="val 6667"/>
            </a:avLst>
          </a:prstGeom>
          <a:solidFill>
            <a:srgbClr val="2C4A70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Thariq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4297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3886200"/>
            <a:ext cx="1645920" cy="822960"/>
          </a:xfrm>
          <a:prstGeom prst="roundedRect">
            <a:avLst>
              <a:gd name="adj" fmla="val 6667"/>
            </a:avLst>
          </a:prstGeom>
          <a:solidFill>
            <a:srgbClr val="2C4A70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4297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92240" y="3886200"/>
            <a:ext cx="1645920" cy="822960"/>
          </a:xfrm>
          <a:prstGeom prst="roundedRect">
            <a:avLst>
              <a:gd name="adj" fmla="val 6667"/>
            </a:avLst>
          </a:prstGeom>
          <a:solidFill>
            <a:srgbClr val="2C4A70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4297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TabPFN-3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0" y="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predict SBA loan defaults?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1E2D5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Analysis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8745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7033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5321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Solution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3609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731520"/>
            <a:ext cx="8412480" cy="640080"/>
          </a:xfrm>
          <a:prstGeom prst="rounde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731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777240"/>
            <a:ext cx="1280160" cy="502920"/>
          </a:xfrm>
          <a:prstGeom prst="roundedRect">
            <a:avLst>
              <a:gd name="adj" fmla="val 9091"/>
            </a:avLst>
          </a:prstGeom>
          <a:solidFill>
            <a:srgbClr val="1E2D5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777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74980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U.S. Small Business Administration (SBA) guarantees small business loans since 1953. Banks face a critical tradeoff: high default rates cause financial losses, but excessive rejections hinder economic growth. No systematic, data-driven scoring exists for approved loan portfolios.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1554480"/>
            <a:ext cx="2651760" cy="777240"/>
          </a:xfrm>
          <a:prstGeom prst="roundedRect">
            <a:avLst>
              <a:gd name="adj" fmla="val 9412"/>
            </a:avLst>
          </a:prstGeom>
          <a:solidFill>
            <a:srgbClr val="D6DFE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Risk Scoring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19019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approval relies on manual review without quantitative default probability estimation.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00400" y="1554480"/>
            <a:ext cx="2651760" cy="777240"/>
          </a:xfrm>
          <a:prstGeom prst="roundedRect">
            <a:avLst>
              <a:gd name="adj" fmla="val 9412"/>
            </a:avLst>
          </a:prstGeom>
          <a:solidFill>
            <a:srgbClr val="D6DFE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3756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Borrower Segments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19019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systematic segmentation of borrower profiles to identify latent risk clusters.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035040" y="1554480"/>
            <a:ext cx="2651760" cy="777240"/>
          </a:xfrm>
          <a:prstGeom prst="roundedRect">
            <a:avLst>
              <a:gd name="adj" fmla="val 9412"/>
            </a:avLst>
          </a:prstGeom>
          <a:solidFill>
            <a:srgbClr val="D6DFE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7220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 Default Rate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19019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1 in 5 approved loans ends in charge-off, representing significant capital loss.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65760" y="2514600"/>
            <a:ext cx="8412480" cy="457200"/>
          </a:xfrm>
          <a:prstGeom prst="roundedRect">
            <a:avLst>
              <a:gd name="adj" fmla="val 10000"/>
            </a:avLst>
          </a:prstGeom>
          <a:solidFill>
            <a:srgbClr val="2C4A70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2514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QUESTION: Can we predict small business loan default probability using borrower, loan, and geographic features augmented by unsupervised clustering?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154680"/>
            <a:ext cx="8412480" cy="292608"/>
          </a:xfrm>
          <a:prstGeom prst="roundedRect">
            <a:avLst>
              <a:gd name="adj" fmla="val 12500"/>
            </a:avLst>
          </a:prstGeom>
          <a:solidFill>
            <a:srgbClr val="B8C7D9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154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algorithms: K-Means (unsupervised) + LogReg + LightGBM + TabPFN-3 (supervised)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3502152"/>
            <a:ext cx="8412480" cy="292608"/>
          </a:xfrm>
          <a:prstGeom prst="roundedRect">
            <a:avLst>
              <a:gd name="adj" fmla="val 12500"/>
            </a:avLst>
          </a:prstGeom>
          <a:solidFill>
            <a:srgbClr val="B8C7D9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5021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as feature engineering: segment borrowers first, then feed cluster features to predictive models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3849624"/>
            <a:ext cx="8412480" cy="292608"/>
          </a:xfrm>
          <a:prstGeom prst="roundedRect">
            <a:avLst>
              <a:gd name="adj" fmla="val 12500"/>
            </a:avLst>
          </a:prstGeom>
          <a:solidFill>
            <a:srgbClr val="B8C7D9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8496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test scenarios per model: ablation (with/without clusters) + hyperparameter tuning (default vs Optuna)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31520" y="4206240"/>
            <a:ext cx="1463040" cy="640080"/>
          </a:xfrm>
          <a:prstGeom prst="rounde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" y="4206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899K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31520" y="4553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Rows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286000" y="4206240"/>
            <a:ext cx="1463040" cy="640080"/>
          </a:xfrm>
          <a:prstGeom prst="rounde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286000" y="4206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250K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2286000" y="4553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Subsample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840480" y="4206240"/>
            <a:ext cx="1463040" cy="640080"/>
          </a:xfrm>
          <a:prstGeom prst="rounde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840480" y="4206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17.56%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3840480" y="4553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Rate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394960" y="4206240"/>
            <a:ext cx="1463040" cy="640080"/>
          </a:xfrm>
          <a:prstGeom prst="rounde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394960" y="4206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394960" y="4553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949440" y="4206240"/>
            <a:ext cx="1463040" cy="640080"/>
          </a:xfrm>
          <a:prstGeom prst="rounde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949440" y="4206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949440" y="4553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0" y="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characteristics and feature engineering.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Analysis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8745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1E2D50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7033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5321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Solution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3609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731520"/>
            <a:ext cx="4023360" cy="2011680"/>
          </a:xfrm>
          <a:prstGeom prst="rounde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109728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Li, Mickel &amp; Taylor (2018), J. Statistics Education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Period: </a:t>
            </a:r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1987-2014, all 50 US states + DC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(1=Charged Off, 0=Paid In Full)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Split: </a:t>
            </a:r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70/15/15 train/val/test, stratified by Default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Imbalance: </a:t>
            </a:r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17.56% default (class_weight='balanced' applied)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Metric: </a:t>
            </a:r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 (accuracy misleading at 82% majority class)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731520"/>
            <a:ext cx="4114800" cy="2011680"/>
          </a:xfrm>
          <a:prstGeom prst="rounde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FEATURES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97280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if new business, 0 if existing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RealEstate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if Term &gt;= 240 months (collateral proxy)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Recession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if loan active Dec 2007 - Jun 2009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SBA_Appv / GrAppv (guarantee ratio)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NAICS 2-digit code (one-hot encoded)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LoanSize_log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log1p(DisbursementGross)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JobsPerLoan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(CreateJob+RetainedJob) / log1p(Disbursement)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365760" y="2926080"/>
            <a:ext cx="8412480" cy="868680"/>
          </a:xfrm>
          <a:prstGeom prst="rounde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0292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VALIDATION / TEST SPLIT</a:t>
            </a:r>
            <a:endParaRPr lang="en-US" sz="10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46120"/>
          <a:ext cx="81381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828800"/>
                <a:gridCol w="2286000"/>
                <a:gridCol w="14630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Features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Enhanced Features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Rate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174,993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 (+9 cluster)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17.56%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37,507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 (+9 cluster)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17.56%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37,500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 (+9 cluster)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17.56%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365760" y="3931920"/>
            <a:ext cx="8412480" cy="365760"/>
          </a:xfrm>
          <a:prstGeom prst="roundedRect">
            <a:avLst>
              <a:gd name="adj" fmla="val 10000"/>
            </a:avLst>
          </a:prstGeom>
          <a:solidFill>
            <a:srgbClr val="FFF3CD"/>
          </a:solidFill>
          <a:ln/>
        </p:spPr>
      </p:sp>
      <p:sp>
        <p:nvSpPr>
          <p:cNvPr id="25" name="Text 21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Bias: Dataset only contains approved &amp; disbursed loans. Rejected applications are not represented. Model only valid for scoring applications similar to historically approved loans.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0" y="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Five-phase clustering-augmented pipeline.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Analysis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8745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7033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1E2D50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5321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Solution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3609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777240"/>
            <a:ext cx="1572768" cy="2103120"/>
          </a:xfrm>
          <a:prstGeom prst="roundedRect">
            <a:avLst>
              <a:gd name="adj" fmla="val 4651"/>
            </a:avLst>
          </a:prstGeom>
          <a:solidFill>
            <a:srgbClr val="1E2D5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8229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105156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16002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192024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encode, split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6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250K subsample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911096" y="1463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048256" y="777240"/>
            <a:ext cx="1572768" cy="2103120"/>
          </a:xfrm>
          <a:prstGeom prst="roundedRect">
            <a:avLst>
              <a:gd name="adj" fmla="val 4651"/>
            </a:avLst>
          </a:prstGeom>
          <a:solidFill>
            <a:srgbClr val="2C4A7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048256" y="8229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048256" y="105156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48256" y="16002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39696" y="192024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clusters, 9 new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6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generated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730752" y="777240"/>
            <a:ext cx="1572768" cy="2103120"/>
          </a:xfrm>
          <a:prstGeom prst="roundedRect">
            <a:avLst>
              <a:gd name="adj" fmla="val 4651"/>
            </a:avLst>
          </a:prstGeom>
          <a:solidFill>
            <a:srgbClr val="3B699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30752" y="8229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30752" y="105156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30752" y="16002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Thariq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22192" y="192024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baseline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6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odds ratios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276088" y="1463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13248" y="777240"/>
            <a:ext cx="1572768" cy="2103120"/>
          </a:xfrm>
          <a:prstGeom prst="roundedRect">
            <a:avLst>
              <a:gd name="adj" fmla="val 4651"/>
            </a:avLst>
          </a:prstGeom>
          <a:solidFill>
            <a:srgbClr val="3B699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13248" y="8229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13248" y="105156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13248" y="16002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Mahda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04688" y="192024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Tree-based model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6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SHAP analysis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958584" y="1463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095744" y="777240"/>
            <a:ext cx="1572768" cy="2103120"/>
          </a:xfrm>
          <a:prstGeom prst="roundedRect">
            <a:avLst>
              <a:gd name="adj" fmla="val 4651"/>
            </a:avLst>
          </a:prstGeom>
          <a:solidFill>
            <a:srgbClr val="3B699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095744" y="8229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095744" y="105156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TabPFN-3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95744" y="16002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187184" y="192024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6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in-context learning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593592" y="1463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822192" y="2926080"/>
            <a:ext cx="4754880" cy="256032"/>
          </a:xfrm>
          <a:prstGeom prst="roundedRect">
            <a:avLst>
              <a:gd name="adj" fmla="val 14286"/>
            </a:avLst>
          </a:prstGeom>
          <a:solidFill>
            <a:srgbClr val="1E2D50"/>
          </a:solidFill>
          <a:ln/>
        </p:spPr>
      </p:sp>
      <p:sp>
        <p:nvSpPr>
          <p:cNvPr id="45" name="Text 43"/>
          <p:cNvSpPr/>
          <p:nvPr/>
        </p:nvSpPr>
        <p:spPr>
          <a:xfrm>
            <a:off x="3822192" y="29260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EXECUTION  (Phase 2, 3, 4 run independently on same dataset)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65760" y="3337560"/>
            <a:ext cx="4023360" cy="1234440"/>
          </a:xfrm>
          <a:prstGeom prst="rounde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02920" y="3383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SKENARIO UJI COBA (per model)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2920" y="36758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Skenario 1 - Ablation:</a:t>
            </a:r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Baseline (46 features) vs Enhanced (55 features w/ cluster)</a:t>
            </a:r>
            <a:endParaRPr lang="en-US" sz="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Skenario 2 - Tuning:</a:t>
            </a:r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Default params vs Optuna-tuned (50 trials, optimize F1 on val set)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663440" y="3337560"/>
            <a:ext cx="4114800" cy="1234440"/>
          </a:xfrm>
          <a:prstGeom prst="rounde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800600" y="3383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ANTI-LEAKAGE PROTOCOL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00600" y="36758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Scaler &amp; encoder fit ONLY on train set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fit ONLY on train; val/test via .predict()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'Default' excluded from clustering features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used ONCE for final evaluation only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seed = 42 across all models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0" y="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Clustering (Jason) - Borrower Segmentation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Analysis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8745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7033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5321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1E2D50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Solution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3609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926080"/>
                <a:gridCol w="1097280"/>
                <a:gridCol w="1097280"/>
                <a:gridCol w="73152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Rate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Loan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admin/support services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23.8%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$53,797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 mid-size businesses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$251,701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retail trade ventures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23.3%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$88,964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High-risk unsecured small services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$58,395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Recession-hit construction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$55,491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businesses w/ strong SBA backing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$60,657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Franchise restaurants/hospitality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22.2%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$118,183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real-estate-backed loans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$396,725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65760" y="2926080"/>
            <a:ext cx="4023360" cy="1463040"/>
          </a:xfrm>
          <a:prstGeom prst="rounde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0292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CLUSTER FEATURES GENERATED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" y="32918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cluster_id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(int 0-7): hard cluster assignment from K-Means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cluster_dist_0 to cluster_dist_7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(float): Euclidean distance to each centroid. Smaller = more similar to that cluster's profile.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9 columns are appended to the 46 base features to create the 55-column enhanced dataset used in Skenario 1b.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663440" y="2926080"/>
            <a:ext cx="4114800" cy="1463040"/>
          </a:xfrm>
          <a:prstGeom prst="rounde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006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METRICS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291840"/>
          <a:ext cx="3931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64592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FE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MiniBatchKMeans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Scalable to 175K rows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(clusters)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Selected via elbow + silhouette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Silhouette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[from notebook]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 [-1,1], higher = better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Davies-Bouldin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[from notebook]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= better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0" y="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(Thariq) - Interpretable Baseline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Analysis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8745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7033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5321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1E2D50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Solution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3609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731520"/>
            <a:ext cx="5029200" cy="2011680"/>
          </a:xfrm>
          <a:prstGeom prst="rounde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777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(2 SKENARIO)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48463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0080"/>
                <a:gridCol w="640080"/>
                <a:gridCol w="640080"/>
                <a:gridCol w="640080"/>
                <a:gridCol w="64008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Skenario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PR-AUC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S1a: Baseline (no cluster)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S1b: Enhanced (w/ cluster)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S2a: Default params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S1b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S1b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S1b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S1b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S1b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S2b: Tuned params (Optuna)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02920" y="2286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X.XXXX with actual values from notebook output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5669280" y="731520"/>
            <a:ext cx="3108960" cy="2011680"/>
          </a:xfrm>
          <a:prstGeom prst="rounde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806440" y="7772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LOGISTIC REGRESSION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06440" y="1078992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baseline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Coefficients = log-odds. Exponentiate to get Odds Ratios that bank risk officers can directly act on.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to literature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et al. (2018) also used LogReg on this dataset, enabling direct comparison with published results.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 tuned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(regularization), penalty (L1/L2), solver: liblinear. 50 Optuna trials.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65760" y="2926080"/>
            <a:ext cx="8412480" cy="1463040"/>
          </a:xfrm>
          <a:prstGeom prst="rounde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02920" y="2971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ODDS RATIOS (top features from tuned model)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2920" y="3291840"/>
            <a:ext cx="1554480" cy="1005840"/>
          </a:xfrm>
          <a:prstGeom prst="roundedRect">
            <a:avLst>
              <a:gd name="adj" fmla="val 5455"/>
            </a:avLst>
          </a:prstGeom>
          <a:solidFill>
            <a:srgbClr val="F0F4F8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Recession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02920" y="3566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&gt; 1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0292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risk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2167128" y="3291840"/>
            <a:ext cx="1554480" cy="1005840"/>
          </a:xfrm>
          <a:prstGeom prst="roundedRect">
            <a:avLst>
              <a:gd name="adj" fmla="val 5455"/>
            </a:avLst>
          </a:prstGeom>
          <a:solidFill>
            <a:srgbClr val="F0F4F8"/>
          </a:solidFill>
          <a:ln/>
        </p:spPr>
      </p:sp>
      <p:sp>
        <p:nvSpPr>
          <p:cNvPr id="29" name="Text 26"/>
          <p:cNvSpPr/>
          <p:nvPr/>
        </p:nvSpPr>
        <p:spPr>
          <a:xfrm>
            <a:off x="2167128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RealEstate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167128" y="3566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&lt; 1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2167128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risk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3831336" y="3291840"/>
            <a:ext cx="1554480" cy="1005840"/>
          </a:xfrm>
          <a:prstGeom prst="roundedRect">
            <a:avLst>
              <a:gd name="adj" fmla="val 5455"/>
            </a:avLst>
          </a:prstGeom>
          <a:solidFill>
            <a:srgbClr val="F0F4F8"/>
          </a:solidFill>
          <a:ln/>
        </p:spPr>
      </p:sp>
      <p:sp>
        <p:nvSpPr>
          <p:cNvPr id="33" name="Text 30"/>
          <p:cNvSpPr/>
          <p:nvPr/>
        </p:nvSpPr>
        <p:spPr>
          <a:xfrm>
            <a:off x="3831336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Portion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831336" y="3566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&lt; 1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3831336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risk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5495544" y="3291840"/>
            <a:ext cx="1554480" cy="1005840"/>
          </a:xfrm>
          <a:prstGeom prst="roundedRect">
            <a:avLst>
              <a:gd name="adj" fmla="val 5455"/>
            </a:avLst>
          </a:prstGeom>
          <a:solidFill>
            <a:srgbClr val="F0F4F8"/>
          </a:solidFill>
          <a:ln/>
        </p:spPr>
      </p:sp>
      <p:sp>
        <p:nvSpPr>
          <p:cNvPr id="37" name="Text 34"/>
          <p:cNvSpPr/>
          <p:nvPr/>
        </p:nvSpPr>
        <p:spPr>
          <a:xfrm>
            <a:off x="5495544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495544" y="3566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&gt; 1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495544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risk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7159752" y="3291840"/>
            <a:ext cx="1554480" cy="1005840"/>
          </a:xfrm>
          <a:prstGeom prst="roundedRect">
            <a:avLst>
              <a:gd name="adj" fmla="val 5455"/>
            </a:avLst>
          </a:prstGeom>
          <a:solidFill>
            <a:srgbClr val="F0F4F8"/>
          </a:solidFill>
          <a:ln/>
        </p:spPr>
      </p:sp>
      <p:sp>
        <p:nvSpPr>
          <p:cNvPr id="41" name="Text 38"/>
          <p:cNvSpPr/>
          <p:nvPr/>
        </p:nvSpPr>
        <p:spPr>
          <a:xfrm>
            <a:off x="7159752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[Top cluster feat]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59752" y="3566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notebook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7159752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coef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0" y="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(Mahda) - Gradient Boosting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Analysis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8745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7033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5321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1E2D50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Solution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3609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731520"/>
            <a:ext cx="5029200" cy="2011680"/>
          </a:xfrm>
          <a:prstGeom prst="rounde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777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(2 SKENARIO)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48463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0080"/>
                <a:gridCol w="640080"/>
                <a:gridCol w="640080"/>
                <a:gridCol w="640080"/>
                <a:gridCol w="64008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Skenario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PR-AUC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S1a: Baseline (no cluster)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S1b: Enhanced (w/ cluster)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S2a: Default params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S1b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S1b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S1b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S1b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S1b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S2b: Tuned params (Optuna)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02920" y="2286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X.XXXX with actual values from notebook output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5669280" y="731520"/>
            <a:ext cx="3108960" cy="2011680"/>
          </a:xfrm>
          <a:prstGeom prst="rounde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806440" y="7772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LIGHTGBM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06440" y="1078992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Industry-standard tabular model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Decision Trees capture non-linear feature interactions that LogReg cannot model.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SHAP-based interpretability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TreeExplainer provides feature importance via SHAP values. Key question: do cluster features appear in top-10?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 tuned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learning_rate, num_leaves, max_depth, subsample, colsample, reg_alpha/lambda. 50 Optuna trials + early stopping.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65760" y="2926080"/>
            <a:ext cx="8412480" cy="1463040"/>
          </a:xfrm>
          <a:prstGeom prst="rounde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02920" y="2971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FEATURE IMPORTANCE (from notebook SHAP summary plot)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2920" y="333756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SHAP summary plot screenshot from phase3_lightgbm.ipynb here.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question: Do cluster features (cluster_id, cluster_dist_*) appear in top-10 SHAP importance?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0" y="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TabPFN-3 (Axel) - Foundation 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Analysis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8745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7033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5321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1E2D50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Solution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3609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731520"/>
            <a:ext cx="5029200" cy="2011680"/>
          </a:xfrm>
          <a:prstGeom prst="rounde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777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(2 SKENARIO)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48463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0080"/>
                <a:gridCol w="640080"/>
                <a:gridCol w="640080"/>
                <a:gridCol w="640080"/>
                <a:gridCol w="64008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Skenario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PR-AUC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S1a: Baseline (no cluster)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S1b: Enhanced (w/ cluster)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S2a: Default n_estimators=4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S1b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S1b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S1b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S1b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S1b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S2b: Tuned n_estimators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02920" y="2286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X.XXXX with actual values from notebook output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5669280" y="731520"/>
            <a:ext cx="3108960" cy="2011680"/>
          </a:xfrm>
          <a:prstGeom prst="rounde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806440" y="7772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TABPFN-3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06440" y="1078992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 for tabular data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on synthetic datasets (Prior Labs, May 2026). No gradient training needed. Fit = store context for in-context learning.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hyperparameters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n_estimators (ensemble size). No learning_rate, max_depth, etc. Simpler to tune than LightGBM.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is a key metric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Wall-clock fit &amp; predict times logged for cross-model comparison.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65760" y="2926080"/>
            <a:ext cx="8412480" cy="1463040"/>
          </a:xfrm>
          <a:prstGeom prst="rounde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02920" y="2971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&amp; PRACTICAL CONSIDERATIONS</a:t>
            </a:r>
            <a:endParaRPr lang="en-US" sz="10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291840"/>
          <a:ext cx="6400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645920"/>
                <a:gridCol w="16459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LogReg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LightGBM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TabPFN-3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FE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time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[Xs]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[Xs]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[Xs]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 time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[Xs]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[Xs]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[Xs]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Interpretability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(OR)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(SHAP)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(black-box)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Tuning complexity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(2 params)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(8 params)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Low (1 param)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D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0" y="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Cross-Model Comparison &amp; Evaluation Matrix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Analysis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8745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7033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5321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B8C7D9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Solution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360920" y="4796028"/>
            <a:ext cx="1737360" cy="292608"/>
          </a:xfrm>
          <a:prstGeom prst="roundedRect">
            <a:avLst>
              <a:gd name="adj" fmla="val 15625"/>
            </a:avLst>
          </a:prstGeom>
          <a:solidFill>
            <a:srgbClr val="1E2D50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47960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731520"/>
            <a:ext cx="8412480" cy="2286000"/>
          </a:xfrm>
          <a:prstGeom prst="rounde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777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RESULTS TABLE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822960"/>
                <a:gridCol w="822960"/>
                <a:gridCol w="822960"/>
                <a:gridCol w="1280160"/>
                <a:gridCol w="128016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Skenario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PR-AUC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Delta F1 (cluster)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Delta F1 (tuning)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LogReg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config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+X.XXXX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+X.XXXX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LightGBM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config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+X.XXXX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+X.XXXX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TabPFN-3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config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X.XXXX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+X.XXXX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+X.XXXX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02920" y="21488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best F1 per column in green. Delta = improvement from that scenario.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365760" y="3154680"/>
            <a:ext cx="1993392" cy="1463040"/>
          </a:xfrm>
          <a:prstGeom prst="roundedRect">
            <a:avLst>
              <a:gd name="adj" fmla="val 5000"/>
            </a:avLst>
          </a:prstGeom>
          <a:solidFill>
            <a:srgbClr val="3B699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65760" y="32004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(S1)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34747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cluster features help?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57200" y="37490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is Delta F1 (cluster) consistently positive across all 3 models?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2468880" y="3154680"/>
            <a:ext cx="1993392" cy="1463040"/>
          </a:xfrm>
          <a:prstGeom prst="roundedRect">
            <a:avLst>
              <a:gd name="adj" fmla="val 5000"/>
            </a:avLst>
          </a:prstGeom>
          <a:solidFill>
            <a:srgbClr val="3B699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468880" y="32004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(S2)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560320" y="34747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tuning matter?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560320" y="37490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which model is most sensitive to hyperparameter tuning? (largest Delta F1)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572000" y="3154680"/>
            <a:ext cx="1993392" cy="1463040"/>
          </a:xfrm>
          <a:prstGeom prst="roundedRect">
            <a:avLst>
              <a:gd name="adj" fmla="val 5000"/>
            </a:avLst>
          </a:prstGeom>
          <a:solidFill>
            <a:srgbClr val="1E2D5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572000" y="32004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663440" y="34747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model wins?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663440" y="37490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highest F1 overall. Consider tradeoff between interpretability and performance.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6675120" y="3154680"/>
            <a:ext cx="1993392" cy="1463040"/>
          </a:xfrm>
          <a:prstGeom prst="roundedRect">
            <a:avLst>
              <a:gd name="adj" fmla="val 5000"/>
            </a:avLst>
          </a:prstGeom>
          <a:solidFill>
            <a:srgbClr val="1E2D5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675120" y="32004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766560" y="34747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bank risk officers?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766560" y="37490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F1 gap is small: LogReg (interpretable OR). If gap is large: LightGBM (best performance + SHAP).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D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SBA Loan Default Prediction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8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Clustering-Augmented Predictive Modeling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 (K-Means)  |  Thariq (LogReg)  |  Mahda (LightGBM)  |  Axel (TabPFN-3)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SBA Loan Default Prediction</dc:title>
  <dc:subject>PptxGenJS Presentation</dc:subject>
  <dc:creator>Kelompok SBA</dc:creator>
  <cp:lastModifiedBy>Kelompok SBA</cp:lastModifiedBy>
  <cp:revision>1</cp:revision>
  <dcterms:created xsi:type="dcterms:W3CDTF">2026-06-17T10:20:51Z</dcterms:created>
  <dcterms:modified xsi:type="dcterms:W3CDTF">2026-06-17T10:20:51Z</dcterms:modified>
</cp:coreProperties>
</file>